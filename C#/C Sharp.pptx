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7" r:id="rId3"/>
    <p:sldId id="258" r:id="rId4"/>
    <p:sldId id="261" r:id="rId5"/>
    <p:sldId id="262" r:id="rId6"/>
    <p:sldId id="263" r:id="rId7"/>
    <p:sldId id="265" r:id="rId8"/>
    <p:sldId id="264" r:id="rId9"/>
    <p:sldId id="337" r:id="rId10"/>
    <p:sldId id="266" r:id="rId11"/>
    <p:sldId id="267" r:id="rId12"/>
    <p:sldId id="268" r:id="rId13"/>
    <p:sldId id="271" r:id="rId14"/>
    <p:sldId id="270" r:id="rId15"/>
    <p:sldId id="333" r:id="rId16"/>
    <p:sldId id="260" r:id="rId17"/>
    <p:sldId id="352" r:id="rId18"/>
    <p:sldId id="259" r:id="rId19"/>
    <p:sldId id="272" r:id="rId20"/>
    <p:sldId id="269" r:id="rId21"/>
    <p:sldId id="274" r:id="rId22"/>
    <p:sldId id="280" r:id="rId23"/>
    <p:sldId id="281" r:id="rId24"/>
    <p:sldId id="282" r:id="rId25"/>
    <p:sldId id="283" r:id="rId26"/>
    <p:sldId id="279" r:id="rId27"/>
    <p:sldId id="336" r:id="rId28"/>
    <p:sldId id="275" r:id="rId29"/>
    <p:sldId id="276" r:id="rId30"/>
    <p:sldId id="277" r:id="rId31"/>
    <p:sldId id="334" r:id="rId32"/>
    <p:sldId id="338" r:id="rId33"/>
    <p:sldId id="339" r:id="rId34"/>
    <p:sldId id="340" r:id="rId35"/>
    <p:sldId id="341" r:id="rId36"/>
    <p:sldId id="278" r:id="rId37"/>
    <p:sldId id="290" r:id="rId38"/>
    <p:sldId id="335" r:id="rId39"/>
    <p:sldId id="324" r:id="rId40"/>
    <p:sldId id="286" r:id="rId41"/>
    <p:sldId id="287" r:id="rId42"/>
    <p:sldId id="288" r:id="rId43"/>
    <p:sldId id="289" r:id="rId44"/>
    <p:sldId id="284" r:id="rId45"/>
    <p:sldId id="317" r:id="rId46"/>
    <p:sldId id="318" r:id="rId47"/>
    <p:sldId id="319" r:id="rId48"/>
    <p:sldId id="273" r:id="rId49"/>
    <p:sldId id="321" r:id="rId50"/>
    <p:sldId id="322" r:id="rId51"/>
    <p:sldId id="285" r:id="rId52"/>
    <p:sldId id="351" r:id="rId53"/>
    <p:sldId id="291" r:id="rId54"/>
    <p:sldId id="292" r:id="rId55"/>
    <p:sldId id="295" r:id="rId56"/>
    <p:sldId id="294" r:id="rId57"/>
    <p:sldId id="297" r:id="rId58"/>
    <p:sldId id="300" r:id="rId59"/>
    <p:sldId id="323" r:id="rId60"/>
    <p:sldId id="308" r:id="rId61"/>
    <p:sldId id="309" r:id="rId62"/>
    <p:sldId id="310" r:id="rId63"/>
    <p:sldId id="342" r:id="rId64"/>
    <p:sldId id="343" r:id="rId65"/>
    <p:sldId id="325" r:id="rId66"/>
    <p:sldId id="326" r:id="rId67"/>
    <p:sldId id="327" r:id="rId68"/>
    <p:sldId id="328" r:id="rId69"/>
    <p:sldId id="329" r:id="rId70"/>
    <p:sldId id="315" r:id="rId71"/>
    <p:sldId id="316" r:id="rId72"/>
    <p:sldId id="350" r:id="rId73"/>
    <p:sldId id="330" r:id="rId74"/>
    <p:sldId id="331" r:id="rId75"/>
    <p:sldId id="332" r:id="rId76"/>
    <p:sldId id="344" r:id="rId77"/>
    <p:sldId id="345" r:id="rId78"/>
    <p:sldId id="346" r:id="rId79"/>
    <p:sldId id="347" r:id="rId80"/>
    <p:sldId id="348" r:id="rId81"/>
    <p:sldId id="34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764EE4-F2B9-46BA-BBA8-1B532A3E68B9}">
          <p14:sldIdLst>
            <p14:sldId id="256"/>
            <p14:sldId id="257"/>
            <p14:sldId id="258"/>
          </p14:sldIdLst>
        </p14:section>
        <p14:section name="C# Design" id="{10069002-9597-481F-9C8F-A67EBCA7A4C4}">
          <p14:sldIdLst>
            <p14:sldId id="261"/>
            <p14:sldId id="262"/>
            <p14:sldId id="263"/>
            <p14:sldId id="265"/>
            <p14:sldId id="264"/>
            <p14:sldId id="337"/>
            <p14:sldId id="266"/>
            <p14:sldId id="267"/>
            <p14:sldId id="268"/>
            <p14:sldId id="271"/>
            <p14:sldId id="270"/>
          </p14:sldIdLst>
        </p14:section>
        <p14:section name=".NET / Virtual Machine" id="{7BC6952A-24F0-4E72-BDB0-E81342CB2E8E}">
          <p14:sldIdLst>
            <p14:sldId id="333"/>
            <p14:sldId id="260"/>
            <p14:sldId id="352"/>
          </p14:sldIdLst>
        </p14:section>
        <p14:section name="C# Compiler" id="{01D54FFE-5274-4CBD-A39D-1AD98B970F58}">
          <p14:sldIdLst>
            <p14:sldId id="259"/>
          </p14:sldIdLst>
        </p14:section>
        <p14:section name="Writing C#" id="{4150C20E-2A2C-40D3-86E7-DF0DDBE35719}">
          <p14:sldIdLst>
            <p14:sldId id="272"/>
            <p14:sldId id="269"/>
            <p14:sldId id="274"/>
            <p14:sldId id="280"/>
            <p14:sldId id="281"/>
            <p14:sldId id="282"/>
            <p14:sldId id="283"/>
            <p14:sldId id="279"/>
          </p14:sldIdLst>
        </p14:section>
        <p14:section name="Conversion and Casting" id="{4C0724AB-AF33-49B9-81D8-2E9F026AD918}">
          <p14:sldIdLst>
            <p14:sldId id="336"/>
          </p14:sldIdLst>
        </p14:section>
        <p14:section name="Strings" id="{09B015B4-8EA7-4DE2-804B-EB65B68BE989}">
          <p14:sldIdLst>
            <p14:sldId id="275"/>
            <p14:sldId id="276"/>
            <p14:sldId id="277"/>
            <p14:sldId id="334"/>
            <p14:sldId id="338"/>
            <p14:sldId id="339"/>
            <p14:sldId id="340"/>
            <p14:sldId id="341"/>
          </p14:sldIdLst>
        </p14:section>
        <p14:section name="I/O" id="{E799C50B-9CA9-48D0-B84C-1F5D996DB9C1}">
          <p14:sldIdLst>
            <p14:sldId id="278"/>
            <p14:sldId id="290"/>
            <p14:sldId id="335"/>
            <p14:sldId id="324"/>
          </p14:sldIdLst>
        </p14:section>
        <p14:section name="Loops" id="{36BE04F1-4386-4680-86F8-64A26098B41C}">
          <p14:sldIdLst>
            <p14:sldId id="286"/>
            <p14:sldId id="287"/>
            <p14:sldId id="288"/>
            <p14:sldId id="289"/>
          </p14:sldIdLst>
        </p14:section>
        <p14:section name="Object-Oriented" id="{0649877E-8401-48A8-8A7E-E967FF1D8ABE}">
          <p14:sldIdLst>
            <p14:sldId id="284"/>
            <p14:sldId id="317"/>
            <p14:sldId id="318"/>
            <p14:sldId id="319"/>
            <p14:sldId id="273"/>
            <p14:sldId id="321"/>
            <p14:sldId id="322"/>
            <p14:sldId id="285"/>
            <p14:sldId id="351"/>
          </p14:sldIdLst>
        </p14:section>
        <p14:section name="Collections" id="{52F77BBF-F4BC-49B7-829B-1C6822A7E9E9}">
          <p14:sldIdLst>
            <p14:sldId id="291"/>
            <p14:sldId id="292"/>
          </p14:sldIdLst>
        </p14:section>
        <p14:section name="Inheritance" id="{34488515-B22A-48BD-9DEA-91D15D725FAB}">
          <p14:sldIdLst>
            <p14:sldId id="295"/>
            <p14:sldId id="294"/>
            <p14:sldId id="297"/>
            <p14:sldId id="300"/>
            <p14:sldId id="323"/>
          </p14:sldIdLst>
        </p14:section>
        <p14:section name="Events" id="{80AED678-317A-4385-8857-CC5C4CEF4407}">
          <p14:sldIdLst>
            <p14:sldId id="308"/>
            <p14:sldId id="309"/>
            <p14:sldId id="310"/>
            <p14:sldId id="342"/>
            <p14:sldId id="343"/>
          </p14:sldIdLst>
        </p14:section>
        <p14:section name="Parallel Programming / Threading" id="{7AC7054C-6656-4484-8A70-08A0F28F6CF1}">
          <p14:sldIdLst>
            <p14:sldId id="325"/>
            <p14:sldId id="326"/>
            <p14:sldId id="327"/>
            <p14:sldId id="328"/>
            <p14:sldId id="329"/>
            <p14:sldId id="315"/>
            <p14:sldId id="316"/>
            <p14:sldId id="350"/>
            <p14:sldId id="330"/>
            <p14:sldId id="331"/>
            <p14:sldId id="332"/>
          </p14:sldIdLst>
        </p14:section>
        <p14:section name="Files" id="{F6E6B0C3-EC49-4427-98EB-EF04A99F42C4}">
          <p14:sldIdLst>
            <p14:sldId id="344"/>
            <p14:sldId id="345"/>
            <p14:sldId id="346"/>
            <p14:sldId id="347"/>
            <p14:sldId id="348"/>
            <p14:sldId id="3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200"/>
    <a:srgbClr val="DCDC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24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131103-12D6-40AB-96B9-08B1EC8C6045}" type="datetimeFigureOut">
              <a:rPr lang="en-US" smtClean="0"/>
              <a:t>29-Jan-26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3F251-032E-4059-BD14-E9AE7962806C}" type="slidenum">
              <a:rPr lang="en-US" smtClean="0"/>
              <a:t>‹#›</a:t>
            </a:fld>
            <a:endParaRPr lang="en-US"/>
          </a:p>
        </p:txBody>
      </p:sp>
    </p:spTree>
    <p:extLst>
      <p:ext uri="{BB962C8B-B14F-4D97-AF65-F5344CB8AC3E}">
        <p14:creationId xmlns:p14="http://schemas.microsoft.com/office/powerpoint/2010/main" val="2986757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82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398-8226-7652-B462-227087243F02}"/>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1EA75BE9-2AFC-EFE2-EA05-13B0C2A8F6B8}"/>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B7AAA5-1544-61A0-C397-B0B2F1340E19}"/>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931AA682-8A3D-630F-FEE8-AD5F6D812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653889-1D69-F3CF-D938-B49CA69D425A}"/>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679959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661A-8C88-7C55-2558-4347B176ED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8DEFF-E16F-4CBE-D4ED-F4CCDEF8B7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73F66-17B0-ECC9-65F5-8A4B03CE2AEF}"/>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A779CF4A-B9FC-A8EA-89C6-FB9A26C18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49DF5-717A-5494-7446-5B9BC9359CF2}"/>
              </a:ext>
            </a:extLst>
          </p:cNvPr>
          <p:cNvSpPr>
            <a:spLocks noGrp="1"/>
          </p:cNvSpPr>
          <p:nvPr>
            <p:ph type="sldNum" sz="quarter" idx="12"/>
          </p:nvPr>
        </p:nvSpPr>
        <p:spPr/>
        <p:txBody>
          <a:bodyPr/>
          <a:lstStyle/>
          <a:p>
            <a:fld id="{2E176A0D-D0A9-4DE7-825A-45C86F96B60F}" type="slidenum">
              <a:rPr lang="en-US" smtClean="0"/>
              <a:t>‹#›</a:t>
            </a:fld>
            <a:endParaRPr lang="en-US"/>
          </a:p>
        </p:txBody>
      </p:sp>
      <p:sp>
        <p:nvSpPr>
          <p:cNvPr id="7" name="Rectangle 6">
            <a:extLst>
              <a:ext uri="{FF2B5EF4-FFF2-40B4-BE49-F238E27FC236}">
                <a16:creationId xmlns:a16="http://schemas.microsoft.com/office/drawing/2014/main" id="{C070931C-F98E-AE6A-1273-A5D330EFDA34}"/>
              </a:ext>
            </a:extLst>
          </p:cNvPr>
          <p:cNvSpPr/>
          <p:nvPr userDrawn="1"/>
        </p:nvSpPr>
        <p:spPr>
          <a:xfrm>
            <a:off x="0" y="0"/>
            <a:ext cx="12192000" cy="6858000"/>
          </a:xfrm>
          <a:prstGeom prst="rect">
            <a:avLst/>
          </a:prstGeom>
          <a:noFill/>
          <a:ln w="60325">
            <a:solidFill>
              <a:srgbClr val="FF8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9427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5198-8B65-797A-A72D-7D6C95187F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B6B8BF-5D20-D27A-0647-E9D25E6C8C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AC7915-3F9C-B5F7-C4AA-5D659BFEDF08}"/>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DAFCE59F-1E4C-8C4E-F556-ED1AE2E1F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C424-0A55-629E-79B4-21B8DF1D3291}"/>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2140885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641AF-37B0-0178-A7AB-15A292B90D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01F83E-0228-E47E-052F-B68C3E1B6C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7679F0-1331-6690-6AB4-2714CB2C6C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F5CEDA-6105-34CA-A8D3-9D600C5612DC}"/>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6" name="Footer Placeholder 5">
            <a:extLst>
              <a:ext uri="{FF2B5EF4-FFF2-40B4-BE49-F238E27FC236}">
                <a16:creationId xmlns:a16="http://schemas.microsoft.com/office/drawing/2014/main" id="{6A82330A-810D-2365-F36B-8F7BD89AEC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253BFE-9642-954B-C9F8-C2274C1CEE16}"/>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30237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11DC-7DCC-B9E2-1804-7FA4CE5E7F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2A6B6F-0C1D-159A-151D-7221627D27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62615-AE90-9603-3749-E19F698AAE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1C87CA-EA10-85C0-97BC-55C67C388C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FDF3DE-14EB-0B86-2F9D-28F158219E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52FB30-B691-FD73-35EA-B9472F25E469}"/>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8" name="Footer Placeholder 7">
            <a:extLst>
              <a:ext uri="{FF2B5EF4-FFF2-40B4-BE49-F238E27FC236}">
                <a16:creationId xmlns:a16="http://schemas.microsoft.com/office/drawing/2014/main" id="{1291132A-6656-B47D-BA89-33223F8497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719F7F-125B-102D-86EB-C85BBFE4D7C0}"/>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1645341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F9C5C-652F-8501-91A7-5D580F5D4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569C16-4872-A28A-2C7D-881EDEE81284}"/>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4" name="Footer Placeholder 3">
            <a:extLst>
              <a:ext uri="{FF2B5EF4-FFF2-40B4-BE49-F238E27FC236}">
                <a16:creationId xmlns:a16="http://schemas.microsoft.com/office/drawing/2014/main" id="{3AAF0DE3-388B-1912-64B9-49E8E45A1D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014750-DE0B-568B-093D-7E8624620955}"/>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312668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B18612-D072-700A-E6B4-0586C57F483B}"/>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3" name="Footer Placeholder 2">
            <a:extLst>
              <a:ext uri="{FF2B5EF4-FFF2-40B4-BE49-F238E27FC236}">
                <a16:creationId xmlns:a16="http://schemas.microsoft.com/office/drawing/2014/main" id="{4F02498E-02BF-163B-8311-49FED6943C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BAFBA6-D8F2-09E4-4422-2811610F6C8B}"/>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2796947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1B05-9B68-509C-3A57-4983DD74EF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37945F-7E44-FEF5-F15D-41D282256A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DE14F6-964C-F426-03B4-E16D153E7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CB253F-158A-4C9F-8766-E1AA29960360}"/>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6" name="Footer Placeholder 5">
            <a:extLst>
              <a:ext uri="{FF2B5EF4-FFF2-40B4-BE49-F238E27FC236}">
                <a16:creationId xmlns:a16="http://schemas.microsoft.com/office/drawing/2014/main" id="{8FCB90E6-5DCA-EEC8-B615-589EA76AE0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0F6DD-C273-7482-E8B9-F38B7A0A573A}"/>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65302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275A-5C2F-5A2D-772F-0C031A3755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F417CA-7873-34DF-4620-4D22A77880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337974-DAA1-B12A-D94B-F9634FE85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8F6630-184A-334C-921E-F0A690482031}"/>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6" name="Footer Placeholder 5">
            <a:extLst>
              <a:ext uri="{FF2B5EF4-FFF2-40B4-BE49-F238E27FC236}">
                <a16:creationId xmlns:a16="http://schemas.microsoft.com/office/drawing/2014/main" id="{FDB1030D-280C-DD9C-7DBD-0ED1F614E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FB7FC8-BC78-558F-35F2-D260D38B3B60}"/>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4253667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A7E2-BE91-72ED-F7DA-906A2024AD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DEA7BE-E1FA-E570-4623-38919C6CA2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C3572-D1E0-A740-2594-D137552AE7B1}"/>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99AC0639-E592-CEAB-2274-9B4BD9EE84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D2EF4-4990-99B4-0B8A-714A9B3315A5}"/>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166959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27653-B1A5-01D0-C64C-9096077FBC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B47816-8993-12E2-37AC-CEE8E1F167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D6AF8-14B5-4468-EAB2-5C5F8E6B0D8A}"/>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6DC8E799-A4F0-AD80-2B60-89C7B36214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9F280-1434-8F11-BE03-6D37F80C47E9}"/>
              </a:ext>
            </a:extLst>
          </p:cNvPr>
          <p:cNvSpPr>
            <a:spLocks noGrp="1"/>
          </p:cNvSpPr>
          <p:nvPr>
            <p:ph type="sldNum" sz="quarter" idx="12"/>
          </p:nvPr>
        </p:nvSpPr>
        <p:spPr/>
        <p:txBody>
          <a:bodyPr/>
          <a:lstStyle/>
          <a:p>
            <a:fld id="{2E176A0D-D0A9-4DE7-825A-45C86F96B60F}" type="slidenum">
              <a:rPr lang="en-US" smtClean="0"/>
              <a:t>‹#›</a:t>
            </a:fld>
            <a:endParaRPr lang="en-US"/>
          </a:p>
        </p:txBody>
      </p:sp>
    </p:spTree>
    <p:extLst>
      <p:ext uri="{BB962C8B-B14F-4D97-AF65-F5344CB8AC3E}">
        <p14:creationId xmlns:p14="http://schemas.microsoft.com/office/powerpoint/2010/main" val="807198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8035-F3B3-304D-98D6-957D0A3F88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216351-90F6-F119-8E78-6308D7B2AF3F}"/>
              </a:ext>
            </a:extLst>
          </p:cNvPr>
          <p:cNvSpPr>
            <a:spLocks noGrp="1"/>
          </p:cNvSpPr>
          <p:nvPr>
            <p:ph type="dt" sz="half" idx="10"/>
          </p:nvPr>
        </p:nvSpPr>
        <p:spPr/>
        <p:txBody>
          <a:bodyPr/>
          <a:lstStyle/>
          <a:p>
            <a:fld id="{4657D736-A7D9-4559-A5AC-FDF578A84456}" type="datetimeFigureOut">
              <a:rPr lang="en-US" smtClean="0"/>
              <a:t>29-Jan-26</a:t>
            </a:fld>
            <a:endParaRPr lang="en-US"/>
          </a:p>
        </p:txBody>
      </p:sp>
      <p:sp>
        <p:nvSpPr>
          <p:cNvPr id="4" name="Footer Placeholder 3">
            <a:extLst>
              <a:ext uri="{FF2B5EF4-FFF2-40B4-BE49-F238E27FC236}">
                <a16:creationId xmlns:a16="http://schemas.microsoft.com/office/drawing/2014/main" id="{04B47062-8D03-9091-F01F-74AEBB98FA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B4C31E-FA91-8DC3-D288-87A8B8A291BD}"/>
              </a:ext>
            </a:extLst>
          </p:cNvPr>
          <p:cNvSpPr>
            <a:spLocks noGrp="1"/>
          </p:cNvSpPr>
          <p:nvPr>
            <p:ph type="sldNum" sz="quarter" idx="12"/>
          </p:nvPr>
        </p:nvSpPr>
        <p:spPr/>
        <p:txBody>
          <a:bodyPr/>
          <a:lstStyle/>
          <a:p>
            <a:fld id="{2E176A0D-D0A9-4DE7-825A-45C86F96B60F}" type="slidenum">
              <a:rPr lang="en-US" smtClean="0"/>
              <a:t>‹#›</a:t>
            </a:fld>
            <a:endParaRPr lang="en-US"/>
          </a:p>
        </p:txBody>
      </p:sp>
      <p:sp>
        <p:nvSpPr>
          <p:cNvPr id="6" name="Rectangle 5">
            <a:extLst>
              <a:ext uri="{FF2B5EF4-FFF2-40B4-BE49-F238E27FC236}">
                <a16:creationId xmlns:a16="http://schemas.microsoft.com/office/drawing/2014/main" id="{332F50B5-89BA-948F-CC30-E14E02EB6CAF}"/>
              </a:ext>
            </a:extLst>
          </p:cNvPr>
          <p:cNvSpPr/>
          <p:nvPr userDrawn="1"/>
        </p:nvSpPr>
        <p:spPr>
          <a:xfrm>
            <a:off x="0" y="0"/>
            <a:ext cx="12192000" cy="6858000"/>
          </a:xfrm>
          <a:prstGeom prst="rect">
            <a:avLst/>
          </a:prstGeom>
          <a:noFill/>
          <a:ln w="114300">
            <a:solidFill>
              <a:srgbClr val="FF8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35C0523-F29A-0EE8-33B1-2CB9E983283B}"/>
              </a:ext>
            </a:extLst>
          </p:cNvPr>
          <p:cNvSpPr/>
          <p:nvPr userDrawn="1"/>
        </p:nvSpPr>
        <p:spPr>
          <a:xfrm>
            <a:off x="11353800" y="0"/>
            <a:ext cx="838200" cy="661803"/>
          </a:xfrm>
          <a:prstGeom prst="rect">
            <a:avLst/>
          </a:prstGeom>
          <a:solidFill>
            <a:schemeClr val="accent2"/>
          </a:solidFill>
          <a:ln>
            <a:solidFill>
              <a:srgbClr val="FF8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180C513C-8D3D-22B6-CC2F-0A6C4EB17A5E}"/>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744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3BFB2-95FF-9007-1D5F-F6781BA09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52FD7A-620B-8D3F-D56E-6A90FD089B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36CAE6-853B-8CD4-08AE-C1837DC6C9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7D736-A7D9-4559-A5AC-FDF578A84456}" type="datetimeFigureOut">
              <a:rPr lang="en-US" smtClean="0"/>
              <a:t>29-Jan-26</a:t>
            </a:fld>
            <a:endParaRPr lang="en-US"/>
          </a:p>
        </p:txBody>
      </p:sp>
      <p:sp>
        <p:nvSpPr>
          <p:cNvPr id="5" name="Footer Placeholder 4">
            <a:extLst>
              <a:ext uri="{FF2B5EF4-FFF2-40B4-BE49-F238E27FC236}">
                <a16:creationId xmlns:a16="http://schemas.microsoft.com/office/drawing/2014/main" id="{66ECA426-6C57-D34D-1789-1E459BB0F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0C8DB3-7F51-16A6-2DA1-FD0E9E63A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76A0D-D0A9-4DE7-825A-45C86F96B60F}" type="slidenum">
              <a:rPr lang="en-US" smtClean="0"/>
              <a:t>‹#›</a:t>
            </a:fld>
            <a:endParaRPr lang="en-US"/>
          </a:p>
        </p:txBody>
      </p:sp>
    </p:spTree>
    <p:extLst>
      <p:ext uri="{BB962C8B-B14F-4D97-AF65-F5344CB8AC3E}">
        <p14:creationId xmlns:p14="http://schemas.microsoft.com/office/powerpoint/2010/main" val="628375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dotnet/csharp/language-reference/" TargetMode="External"/><Relationship Id="rId2" Type="http://schemas.openxmlformats.org/officeDocument/2006/relationships/hyperlink" Target="https://learn.microsoft.com/en-us/dotnet/csharp/" TargetMode="External"/><Relationship Id="rId1" Type="http://schemas.openxmlformats.org/officeDocument/2006/relationships/slideLayout" Target="../slideLayouts/slideLayout2.xml"/><Relationship Id="rId6" Type="http://schemas.openxmlformats.org/officeDocument/2006/relationships/hyperlink" Target="https://dotnet.microsoft.com/en-us/platform/try-dotnet" TargetMode="External"/><Relationship Id="rId5" Type="http://schemas.openxmlformats.org/officeDocument/2006/relationships/hyperlink" Target="https://dotnet.microsoft.com/download" TargetMode="External"/><Relationship Id="rId4" Type="http://schemas.openxmlformats.org/officeDocument/2006/relationships/hyperlink" Target="https://learn.microsoft.com/en-us/dotnet/csharp/asynchronous-programmin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learn.microsoft.com/en-us/dotnet/api/system.convert?view=net-9.0"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learn.microsoft.com/en-us/dotnet/api/system.strin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learn.microsoft.com/en-us/dotnet/csharp/language-reference/operators/member-access-operators#null-conditional-operators--and-"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learn.microsoft.com/en-us/dotnet/csharp/language-reference/builtin-types/nullable-value-type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learn.microsoft.com/en-us/dotnet/api/system.convert?view=net-8.0"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learn.microsoft.com/en-us/dotnet/api/system.string?view=net-8.0"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learn.microsoft.com/en-us/dotnet/csharp/fundamentals/exceptions/creating-and-throwing-exceptions" TargetMode="External"/><Relationship Id="rId2" Type="http://schemas.openxmlformats.org/officeDocument/2006/relationships/hyperlink" Target="https://learn.microsoft.com/en-us/dotnet/csharp/fundamentals/exceptions/exception-handlin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learn.microsoft.com/en-us/dotnet/api/system.collections.generic"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learn.microsoft.com/en-us/dotnet/csharp/language-reference/operators/lambda-expressions"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learn.microsoft.com/en-us/dotnet/api/system.threading.tasks.parallel"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s://learn.microsoft.com/en-us/dotnet/api/system.threading"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learn.microsoft.com/en-us/dotnet/api/system.io?view=net-9.0"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hyperlink" Target="https://learn.microsoft.com/en-us/dotnet/api/system.idisposable?view=net-9.0"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learn.microsoft.com/en-us/dotnet/api/system.io.binarywriter.write?view=net-9.0"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A0BB-205E-3843-46E4-6970520D4C1B}"/>
              </a:ext>
            </a:extLst>
          </p:cNvPr>
          <p:cNvSpPr>
            <a:spLocks noGrp="1"/>
          </p:cNvSpPr>
          <p:nvPr>
            <p:ph type="ctrTitle"/>
          </p:nvPr>
        </p:nvSpPr>
        <p:spPr>
          <a:xfrm>
            <a:off x="1524000" y="2361340"/>
            <a:ext cx="9144000" cy="2387600"/>
          </a:xfrm>
        </p:spPr>
        <p:txBody>
          <a:bodyPr/>
          <a:lstStyle/>
          <a:p>
            <a:r>
              <a:rPr lang="en-US"/>
              <a:t>C#</a:t>
            </a:r>
            <a:br>
              <a:rPr lang="en-US">
                <a:ea typeface="Calibri Light"/>
                <a:cs typeface="Calibri Light"/>
              </a:rPr>
            </a:br>
            <a:r>
              <a:rPr lang="en-US">
                <a:ea typeface="Calibri Light"/>
                <a:cs typeface="Calibri Light"/>
              </a:rPr>
              <a:t>Programming Language</a:t>
            </a:r>
          </a:p>
        </p:txBody>
      </p:sp>
      <p:sp>
        <p:nvSpPr>
          <p:cNvPr id="3" name="Subtitle 2">
            <a:extLst>
              <a:ext uri="{FF2B5EF4-FFF2-40B4-BE49-F238E27FC236}">
                <a16:creationId xmlns:a16="http://schemas.microsoft.com/office/drawing/2014/main" id="{3B7B09B7-E6A0-6713-CDC1-CFA0463096BE}"/>
              </a:ext>
            </a:extLst>
          </p:cNvPr>
          <p:cNvSpPr>
            <a:spLocks noGrp="1"/>
          </p:cNvSpPr>
          <p:nvPr>
            <p:ph type="subTitle" idx="1"/>
          </p:nvPr>
        </p:nvSpPr>
        <p:spPr>
          <a:xfrm>
            <a:off x="1681053" y="5200382"/>
            <a:ext cx="9144000" cy="1655762"/>
          </a:xfrm>
        </p:spPr>
        <p:txBody>
          <a:bodyPr/>
          <a:lstStyle/>
          <a:p>
            <a:r>
              <a:rPr lang="en-US"/>
              <a:t>Stephen Marz</a:t>
            </a:r>
          </a:p>
          <a:p>
            <a:r>
              <a:rPr lang="en-US"/>
              <a:t>COSC365</a:t>
            </a:r>
          </a:p>
        </p:txBody>
      </p:sp>
      <p:pic>
        <p:nvPicPr>
          <p:cNvPr id="4" name="Picture 3" descr="C Sharp Logo 2023">
            <a:extLst>
              <a:ext uri="{FF2B5EF4-FFF2-40B4-BE49-F238E27FC236}">
                <a16:creationId xmlns:a16="http://schemas.microsoft.com/office/drawing/2014/main" id="{EB364885-8123-1DD3-2F20-A5B9952C74F0}"/>
              </a:ext>
            </a:extLst>
          </p:cNvPr>
          <p:cNvPicPr>
            <a:picLocks noChangeAspect="1"/>
          </p:cNvPicPr>
          <p:nvPr/>
        </p:nvPicPr>
        <p:blipFill>
          <a:blip r:embed="rId2"/>
          <a:stretch>
            <a:fillRect/>
          </a:stretch>
        </p:blipFill>
        <p:spPr>
          <a:xfrm>
            <a:off x="4881454" y="-1745"/>
            <a:ext cx="2743200" cy="2743200"/>
          </a:xfrm>
          <a:prstGeom prst="rect">
            <a:avLst/>
          </a:prstGeom>
        </p:spPr>
      </p:pic>
    </p:spTree>
    <p:extLst>
      <p:ext uri="{BB962C8B-B14F-4D97-AF65-F5344CB8AC3E}">
        <p14:creationId xmlns:p14="http://schemas.microsoft.com/office/powerpoint/2010/main" val="219256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A522C-EB94-7DD6-801E-6513A4E19D22}"/>
              </a:ext>
            </a:extLst>
          </p:cNvPr>
          <p:cNvSpPr>
            <a:spLocks noGrp="1"/>
          </p:cNvSpPr>
          <p:nvPr>
            <p:ph type="title"/>
          </p:nvPr>
        </p:nvSpPr>
        <p:spPr/>
        <p:txBody>
          <a:bodyPr/>
          <a:lstStyle/>
          <a:p>
            <a:r>
              <a:rPr lang="en-US"/>
              <a:t>Quick Actions</a:t>
            </a:r>
          </a:p>
        </p:txBody>
      </p:sp>
      <p:sp>
        <p:nvSpPr>
          <p:cNvPr id="3" name="Content Placeholder 2">
            <a:extLst>
              <a:ext uri="{FF2B5EF4-FFF2-40B4-BE49-F238E27FC236}">
                <a16:creationId xmlns:a16="http://schemas.microsoft.com/office/drawing/2014/main" id="{15A65D9A-5AE8-7FC9-F37F-3CF07385C39D}"/>
              </a:ext>
            </a:extLst>
          </p:cNvPr>
          <p:cNvSpPr>
            <a:spLocks noGrp="1"/>
          </p:cNvSpPr>
          <p:nvPr>
            <p:ph idx="1"/>
          </p:nvPr>
        </p:nvSpPr>
        <p:spPr/>
        <p:txBody>
          <a:bodyPr vert="horz" lIns="91440" tIns="45720" rIns="91440" bIns="45720" rtlCol="0" anchor="t">
            <a:normAutofit lnSpcReduction="10000"/>
          </a:bodyPr>
          <a:lstStyle/>
          <a:p>
            <a:r>
              <a:rPr lang="en-US" sz="2000">
                <a:hlinkClick r:id="rId2"/>
              </a:rPr>
              <a:t>https://learn.microsoft.com/en-us/dotnet/csharp/</a:t>
            </a:r>
            <a:endParaRPr lang="en-US" sz="2000"/>
          </a:p>
          <a:p>
            <a:endParaRPr lang="en-US" sz="2000"/>
          </a:p>
          <a:p>
            <a:r>
              <a:rPr lang="en-US" sz="2000"/>
              <a:t>Language: </a:t>
            </a:r>
            <a:r>
              <a:rPr lang="en-US" sz="2000">
                <a:hlinkClick r:id="rId3"/>
              </a:rPr>
              <a:t>https://learn.microsoft.com/en-us/dotnet/csharp/language-reference/</a:t>
            </a:r>
            <a:endParaRPr lang="en-US" sz="2000"/>
          </a:p>
          <a:p>
            <a:endParaRPr lang="en-US" sz="2000"/>
          </a:p>
          <a:p>
            <a:r>
              <a:rPr lang="en-US" sz="2000"/>
              <a:t>API: </a:t>
            </a:r>
            <a:r>
              <a:rPr lang="en-US" sz="2000">
                <a:hlinkClick r:id="rId3"/>
              </a:rPr>
              <a:t>https://learn.microsoft.com/en-us/dotnet/api/</a:t>
            </a:r>
            <a:endParaRPr lang="en-US" sz="2000"/>
          </a:p>
          <a:p>
            <a:endParaRPr lang="en-US" sz="2000"/>
          </a:p>
          <a:p>
            <a:r>
              <a:rPr lang="en-US" sz="2000"/>
              <a:t>Async/await: </a:t>
            </a:r>
            <a:r>
              <a:rPr lang="en-US" sz="2000">
                <a:hlinkClick r:id="rId4"/>
              </a:rPr>
              <a:t>https://learn.microsoft.com/en-us/dotnet/csharp/asynchronous-programming/</a:t>
            </a:r>
            <a:endParaRPr lang="en-US" sz="2000"/>
          </a:p>
          <a:p>
            <a:endParaRPr lang="en-US" sz="2000"/>
          </a:p>
          <a:p>
            <a:r>
              <a:rPr lang="en-US" sz="2000"/>
              <a:t>Download: </a:t>
            </a:r>
            <a:r>
              <a:rPr lang="en-US" sz="2000">
                <a:hlinkClick r:id="rId5"/>
              </a:rPr>
              <a:t>https://dotnet.microsoft.com/download</a:t>
            </a:r>
          </a:p>
          <a:p>
            <a:endParaRPr lang="en-US" sz="2000">
              <a:ea typeface="Calibri" panose="020F0502020204030204"/>
              <a:cs typeface="Calibri" panose="020F0502020204030204"/>
            </a:endParaRPr>
          </a:p>
          <a:p>
            <a:r>
              <a:rPr lang="en-US" sz="2000">
                <a:ea typeface="Calibri" panose="020F0502020204030204"/>
                <a:cs typeface="Calibri" panose="020F0502020204030204"/>
              </a:rPr>
              <a:t>Playground: </a:t>
            </a:r>
            <a:r>
              <a:rPr lang="en-US" sz="2000">
                <a:ea typeface="+mn-lt"/>
                <a:cs typeface="+mn-lt"/>
                <a:hlinkClick r:id="rId6"/>
              </a:rPr>
              <a:t>https://dotnet.microsoft.com/en-us/platform/try-dotnet</a:t>
            </a:r>
            <a:endParaRPr lang="en-US" sz="2000">
              <a:ea typeface="+mn-lt"/>
              <a:cs typeface="+mn-lt"/>
            </a:endParaRPr>
          </a:p>
          <a:p>
            <a:endParaRPr lang="en-US" sz="2000">
              <a:ea typeface="Calibri" panose="020F0502020204030204"/>
              <a:cs typeface="Calibri" panose="020F0502020204030204"/>
            </a:endParaRPr>
          </a:p>
        </p:txBody>
      </p:sp>
    </p:spTree>
    <p:extLst>
      <p:ext uri="{BB962C8B-B14F-4D97-AF65-F5344CB8AC3E}">
        <p14:creationId xmlns:p14="http://schemas.microsoft.com/office/powerpoint/2010/main" val="1671580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BCDE-B9AC-CD8F-09C4-2C01BE34DD8F}"/>
              </a:ext>
            </a:extLst>
          </p:cNvPr>
          <p:cNvSpPr>
            <a:spLocks noGrp="1"/>
          </p:cNvSpPr>
          <p:nvPr>
            <p:ph type="title"/>
          </p:nvPr>
        </p:nvSpPr>
        <p:spPr/>
        <p:txBody>
          <a:bodyPr/>
          <a:lstStyle/>
          <a:p>
            <a:r>
              <a:rPr lang="en-US"/>
              <a:t>Development Plugin (</a:t>
            </a:r>
            <a:r>
              <a:rPr lang="en-US" err="1"/>
              <a:t>VSCode</a:t>
            </a:r>
            <a:r>
              <a:rPr lang="en-US"/>
              <a:t>)</a:t>
            </a:r>
          </a:p>
        </p:txBody>
      </p:sp>
      <p:pic>
        <p:nvPicPr>
          <p:cNvPr id="5" name="Content Placeholder 4">
            <a:extLst>
              <a:ext uri="{FF2B5EF4-FFF2-40B4-BE49-F238E27FC236}">
                <a16:creationId xmlns:a16="http://schemas.microsoft.com/office/drawing/2014/main" id="{998C431F-2AA0-6CB8-6B79-92DCE2B7596B}"/>
              </a:ext>
            </a:extLst>
          </p:cNvPr>
          <p:cNvPicPr>
            <a:picLocks noGrp="1" noChangeAspect="1"/>
          </p:cNvPicPr>
          <p:nvPr>
            <p:ph idx="1"/>
          </p:nvPr>
        </p:nvPicPr>
        <p:blipFill>
          <a:blip r:embed="rId2"/>
          <a:stretch>
            <a:fillRect/>
          </a:stretch>
        </p:blipFill>
        <p:spPr>
          <a:xfrm>
            <a:off x="838200" y="2558456"/>
            <a:ext cx="10515600" cy="2885676"/>
          </a:xfrm>
        </p:spPr>
      </p:pic>
    </p:spTree>
    <p:extLst>
      <p:ext uri="{BB962C8B-B14F-4D97-AF65-F5344CB8AC3E}">
        <p14:creationId xmlns:p14="http://schemas.microsoft.com/office/powerpoint/2010/main" val="192741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F65D-A57F-D3F9-043F-509C7D6D8761}"/>
              </a:ext>
            </a:extLst>
          </p:cNvPr>
          <p:cNvSpPr>
            <a:spLocks noGrp="1"/>
          </p:cNvSpPr>
          <p:nvPr>
            <p:ph type="title"/>
          </p:nvPr>
        </p:nvSpPr>
        <p:spPr/>
        <p:txBody>
          <a:bodyPr/>
          <a:lstStyle/>
          <a:p>
            <a:r>
              <a:rPr lang="en-US">
                <a:ea typeface="Calibri Light"/>
                <a:cs typeface="Calibri Light"/>
              </a:rPr>
              <a:t>C#</a:t>
            </a:r>
            <a:endParaRPr lang="en-US"/>
          </a:p>
        </p:txBody>
      </p:sp>
      <p:sp>
        <p:nvSpPr>
          <p:cNvPr id="3" name="Content Placeholder 2">
            <a:extLst>
              <a:ext uri="{FF2B5EF4-FFF2-40B4-BE49-F238E27FC236}">
                <a16:creationId xmlns:a16="http://schemas.microsoft.com/office/drawing/2014/main" id="{8DFE9A46-3E56-ED12-D110-BAA29A5363A0}"/>
              </a:ext>
            </a:extLst>
          </p:cNvPr>
          <p:cNvSpPr>
            <a:spLocks noGrp="1"/>
          </p:cNvSpPr>
          <p:nvPr>
            <p:ph idx="1"/>
          </p:nvPr>
        </p:nvSpPr>
        <p:spPr/>
        <p:txBody>
          <a:bodyPr vert="horz" lIns="91440" tIns="45720" rIns="91440" bIns="45720" rtlCol="0" anchor="t">
            <a:normAutofit/>
          </a:bodyPr>
          <a:lstStyle/>
          <a:p>
            <a:r>
              <a:rPr lang="en-US" sz="2800" dirty="0">
                <a:ea typeface="Calibri"/>
                <a:cs typeface="Calibri"/>
              </a:rPr>
              <a:t>C# is:</a:t>
            </a:r>
          </a:p>
          <a:p>
            <a:pPr lvl="1">
              <a:buFont typeface="Courier New" panose="020B0604020202020204" pitchFamily="34" charset="0"/>
              <a:buChar char="o"/>
            </a:pPr>
            <a:r>
              <a:rPr lang="en-US" sz="2400" dirty="0">
                <a:ea typeface="Calibri"/>
                <a:cs typeface="Calibri"/>
              </a:rPr>
              <a:t>imperative</a:t>
            </a:r>
          </a:p>
          <a:p>
            <a:pPr lvl="1">
              <a:buFont typeface="Courier New" panose="020B0604020202020204" pitchFamily="34" charset="0"/>
              <a:buChar char="o"/>
            </a:pPr>
            <a:r>
              <a:rPr lang="en-US" sz="2400" dirty="0">
                <a:ea typeface="Calibri"/>
                <a:cs typeface="Calibri"/>
              </a:rPr>
              <a:t>procedural</a:t>
            </a:r>
          </a:p>
          <a:p>
            <a:pPr lvl="1">
              <a:buFont typeface="Courier New" panose="020B0604020202020204" pitchFamily="34" charset="0"/>
              <a:buChar char="o"/>
            </a:pPr>
            <a:r>
              <a:rPr lang="en-US" sz="2400" dirty="0">
                <a:ea typeface="Calibri"/>
                <a:cs typeface="Calibri"/>
              </a:rPr>
              <a:t>compiled</a:t>
            </a:r>
          </a:p>
          <a:p>
            <a:pPr lvl="1">
              <a:buFont typeface="Courier New" panose="020B0604020202020204" pitchFamily="34" charset="0"/>
              <a:buChar char="o"/>
            </a:pPr>
            <a:r>
              <a:rPr lang="en-US" sz="2400" dirty="0">
                <a:ea typeface="Calibri"/>
                <a:cs typeface="Calibri"/>
              </a:rPr>
              <a:t>object oriented</a:t>
            </a:r>
          </a:p>
          <a:p>
            <a:pPr lvl="1">
              <a:buFont typeface="Courier New" panose="020B0604020202020204" pitchFamily="34" charset="0"/>
              <a:buChar char="o"/>
            </a:pPr>
            <a:r>
              <a:rPr lang="en-US" sz="2400" dirty="0">
                <a:ea typeface="Calibri"/>
                <a:cs typeface="Calibri"/>
              </a:rPr>
              <a:t>polymorphic</a:t>
            </a:r>
            <a:endParaRPr lang="en-US" sz="2400" dirty="0"/>
          </a:p>
          <a:p>
            <a:pPr lvl="1">
              <a:buFont typeface="Courier New" panose="020B0604020202020204" pitchFamily="34" charset="0"/>
              <a:buChar char="o"/>
            </a:pPr>
            <a:r>
              <a:rPr lang="en-US" sz="2400" dirty="0">
                <a:ea typeface="Calibri"/>
                <a:cs typeface="Calibri"/>
              </a:rPr>
              <a:t>modular</a:t>
            </a:r>
          </a:p>
          <a:p>
            <a:pPr lvl="1">
              <a:buFont typeface="Courier New" panose="020B0604020202020204" pitchFamily="34" charset="0"/>
              <a:buChar char="o"/>
            </a:pPr>
            <a:r>
              <a:rPr lang="en-US" sz="2400" dirty="0">
                <a:ea typeface="Calibri"/>
                <a:cs typeface="Calibri"/>
              </a:rPr>
              <a:t>strongly typed</a:t>
            </a:r>
          </a:p>
          <a:p>
            <a:pPr lvl="1">
              <a:buFont typeface="Courier New" panose="020B0604020202020204" pitchFamily="34" charset="0"/>
              <a:buChar char="o"/>
            </a:pPr>
            <a:r>
              <a:rPr lang="en-US" sz="2400" dirty="0">
                <a:ea typeface="Calibri"/>
                <a:cs typeface="Calibri"/>
              </a:rPr>
              <a:t>statically typed</a:t>
            </a:r>
          </a:p>
          <a:p>
            <a:pPr lvl="1">
              <a:buFont typeface="Courier New" panose="020B0604020202020204" pitchFamily="34" charset="0"/>
              <a:buChar char="o"/>
            </a:pPr>
            <a:r>
              <a:rPr lang="en-US" sz="2400" dirty="0">
                <a:ea typeface="Calibri"/>
                <a:cs typeface="Calibri"/>
              </a:rPr>
              <a:t>garbage collected</a:t>
            </a:r>
          </a:p>
          <a:p>
            <a:pPr lvl="1">
              <a:buFont typeface="Courier New" panose="020B0604020202020204" pitchFamily="34" charset="0"/>
              <a:buChar char="o"/>
            </a:pPr>
            <a:r>
              <a:rPr lang="en-US" sz="2400" dirty="0">
                <a:ea typeface="Calibri"/>
                <a:cs typeface="Calibri"/>
              </a:rPr>
              <a:t>widely used in both government and industry</a:t>
            </a:r>
          </a:p>
        </p:txBody>
      </p:sp>
    </p:spTree>
    <p:extLst>
      <p:ext uri="{BB962C8B-B14F-4D97-AF65-F5344CB8AC3E}">
        <p14:creationId xmlns:p14="http://schemas.microsoft.com/office/powerpoint/2010/main" val="1333678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C1F67-3528-9EC3-9895-263E6827A7BF}"/>
              </a:ext>
            </a:extLst>
          </p:cNvPr>
          <p:cNvSpPr>
            <a:spLocks noGrp="1"/>
          </p:cNvSpPr>
          <p:nvPr>
            <p:ph type="title"/>
          </p:nvPr>
        </p:nvSpPr>
        <p:spPr/>
        <p:txBody>
          <a:bodyPr/>
          <a:lstStyle/>
          <a:p>
            <a:r>
              <a:rPr lang="en-US">
                <a:ea typeface="Calibri Light"/>
                <a:cs typeface="Calibri Light"/>
              </a:rPr>
              <a:t>Imperative Programming</a:t>
            </a:r>
            <a:endParaRPr lang="en-US"/>
          </a:p>
        </p:txBody>
      </p:sp>
      <p:sp>
        <p:nvSpPr>
          <p:cNvPr id="3" name="Content Placeholder 2">
            <a:extLst>
              <a:ext uri="{FF2B5EF4-FFF2-40B4-BE49-F238E27FC236}">
                <a16:creationId xmlns:a16="http://schemas.microsoft.com/office/drawing/2014/main" id="{308F1A72-6E85-783D-06EE-0FA0D6D6A0AE}"/>
              </a:ext>
            </a:extLst>
          </p:cNvPr>
          <p:cNvSpPr>
            <a:spLocks noGrp="1"/>
          </p:cNvSpPr>
          <p:nvPr>
            <p:ph idx="1"/>
          </p:nvPr>
        </p:nvSpPr>
        <p:spPr/>
        <p:txBody>
          <a:bodyPr vert="horz" lIns="91440" tIns="45720" rIns="91440" bIns="45720" rtlCol="0" anchor="t">
            <a:normAutofit/>
          </a:bodyPr>
          <a:lstStyle/>
          <a:p>
            <a:r>
              <a:rPr lang="en-US" dirty="0">
                <a:ea typeface="Calibri"/>
                <a:cs typeface="Calibri"/>
              </a:rPr>
              <a:t>A series of instructions to change the state of the machine (e.g., memory, registers, I/O).</a:t>
            </a:r>
          </a:p>
          <a:p>
            <a:endParaRPr lang="en-US" dirty="0">
              <a:ea typeface="Calibri"/>
              <a:cs typeface="Calibri"/>
            </a:endParaRPr>
          </a:p>
          <a:p>
            <a:r>
              <a:rPr lang="en-US" dirty="0">
                <a:ea typeface="Calibri"/>
                <a:cs typeface="Calibri"/>
              </a:rPr>
              <a:t>Examples: C, C++, C#, Java</a:t>
            </a:r>
          </a:p>
        </p:txBody>
      </p:sp>
    </p:spTree>
    <p:extLst>
      <p:ext uri="{BB962C8B-B14F-4D97-AF65-F5344CB8AC3E}">
        <p14:creationId xmlns:p14="http://schemas.microsoft.com/office/powerpoint/2010/main" val="1815405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FC7E-C5B6-85C1-E0EC-C4994AD26D50}"/>
              </a:ext>
            </a:extLst>
          </p:cNvPr>
          <p:cNvSpPr>
            <a:spLocks noGrp="1"/>
          </p:cNvSpPr>
          <p:nvPr>
            <p:ph type="title"/>
          </p:nvPr>
        </p:nvSpPr>
        <p:spPr/>
        <p:txBody>
          <a:bodyPr/>
          <a:lstStyle/>
          <a:p>
            <a:r>
              <a:rPr lang="en-US">
                <a:ea typeface="Calibri Light"/>
                <a:cs typeface="Calibri Light"/>
              </a:rPr>
              <a:t>Procedural Programming</a:t>
            </a:r>
            <a:endParaRPr lang="en-US"/>
          </a:p>
        </p:txBody>
      </p:sp>
      <p:sp>
        <p:nvSpPr>
          <p:cNvPr id="3" name="Content Placeholder 2">
            <a:extLst>
              <a:ext uri="{FF2B5EF4-FFF2-40B4-BE49-F238E27FC236}">
                <a16:creationId xmlns:a16="http://schemas.microsoft.com/office/drawing/2014/main" id="{07A474EA-9916-DA6A-2FE8-8367895B7EDE}"/>
              </a:ext>
            </a:extLst>
          </p:cNvPr>
          <p:cNvSpPr>
            <a:spLocks noGrp="1"/>
          </p:cNvSpPr>
          <p:nvPr>
            <p:ph idx="1"/>
          </p:nvPr>
        </p:nvSpPr>
        <p:spPr/>
        <p:txBody>
          <a:bodyPr vert="horz" lIns="91440" tIns="45720" rIns="91440" bIns="45720" rtlCol="0" anchor="t">
            <a:normAutofit/>
          </a:bodyPr>
          <a:lstStyle/>
          <a:p>
            <a:r>
              <a:rPr lang="en-US" sz="2400" dirty="0">
                <a:ea typeface="Calibri"/>
                <a:cs typeface="Calibri"/>
              </a:rPr>
              <a:t>A series of </a:t>
            </a:r>
            <a:r>
              <a:rPr lang="en-US" sz="2400" b="1" dirty="0">
                <a:ea typeface="Calibri"/>
                <a:cs typeface="Calibri"/>
              </a:rPr>
              <a:t>procedures </a:t>
            </a:r>
            <a:r>
              <a:rPr lang="en-US" sz="2400" dirty="0">
                <a:ea typeface="Calibri"/>
                <a:cs typeface="Calibri"/>
              </a:rPr>
              <a:t>(e.g., functions, lambdas, </a:t>
            </a:r>
            <a:r>
              <a:rPr lang="en-US" sz="2400" dirty="0" err="1">
                <a:ea typeface="Calibri"/>
                <a:cs typeface="Calibri"/>
              </a:rPr>
              <a:t>etc</a:t>
            </a:r>
            <a:r>
              <a:rPr lang="en-US" sz="2400" dirty="0">
                <a:ea typeface="Calibri"/>
                <a:cs typeface="Calibri"/>
              </a:rPr>
              <a:t>) that change state.</a:t>
            </a:r>
          </a:p>
          <a:p>
            <a:endParaRPr lang="en-US" sz="2400" dirty="0">
              <a:ea typeface="Calibri"/>
              <a:cs typeface="Calibri"/>
            </a:endParaRPr>
          </a:p>
          <a:p>
            <a:r>
              <a:rPr lang="en-US" sz="2400" dirty="0">
                <a:ea typeface="Calibri"/>
                <a:cs typeface="Calibri"/>
              </a:rPr>
              <a:t>Procedural programming is a subset of </a:t>
            </a:r>
            <a:r>
              <a:rPr lang="en-US" sz="2400" b="1" dirty="0">
                <a:ea typeface="Calibri"/>
                <a:cs typeface="Calibri"/>
              </a:rPr>
              <a:t>imperative programming.</a:t>
            </a:r>
          </a:p>
        </p:txBody>
      </p:sp>
    </p:spTree>
    <p:extLst>
      <p:ext uri="{BB962C8B-B14F-4D97-AF65-F5344CB8AC3E}">
        <p14:creationId xmlns:p14="http://schemas.microsoft.com/office/powerpoint/2010/main" val="3835116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C30E9-1633-3BB0-248D-CC8F03EAD112}"/>
              </a:ext>
            </a:extLst>
          </p:cNvPr>
          <p:cNvSpPr>
            <a:spLocks noGrp="1"/>
          </p:cNvSpPr>
          <p:nvPr>
            <p:ph type="title"/>
          </p:nvPr>
        </p:nvSpPr>
        <p:spPr/>
        <p:txBody>
          <a:bodyPr/>
          <a:lstStyle/>
          <a:p>
            <a:r>
              <a:rPr lang="en-US">
                <a:ea typeface="Calibri Light"/>
                <a:cs typeface="Calibri Light"/>
              </a:rPr>
              <a:t>Compiled</a:t>
            </a:r>
            <a:endParaRPr lang="en-US"/>
          </a:p>
        </p:txBody>
      </p:sp>
      <p:sp>
        <p:nvSpPr>
          <p:cNvPr id="3" name="Content Placeholder 2">
            <a:extLst>
              <a:ext uri="{FF2B5EF4-FFF2-40B4-BE49-F238E27FC236}">
                <a16:creationId xmlns:a16="http://schemas.microsoft.com/office/drawing/2014/main" id="{D4E1F907-90DA-4634-BD12-D2DF43934FD0}"/>
              </a:ext>
            </a:extLst>
          </p:cNvPr>
          <p:cNvSpPr>
            <a:spLocks noGrp="1"/>
          </p:cNvSpPr>
          <p:nvPr>
            <p:ph idx="1"/>
          </p:nvPr>
        </p:nvSpPr>
        <p:spPr/>
        <p:txBody>
          <a:bodyPr vert="horz" lIns="91440" tIns="45720" rIns="91440" bIns="45720" rtlCol="0" anchor="t">
            <a:normAutofit lnSpcReduction="10000"/>
          </a:bodyPr>
          <a:lstStyle/>
          <a:p>
            <a:r>
              <a:rPr lang="en-US" sz="2400" dirty="0">
                <a:ea typeface="Calibri"/>
                <a:cs typeface="Calibri"/>
              </a:rPr>
              <a:t>The language is transformed into machine code or intermediate code before running.</a:t>
            </a:r>
          </a:p>
          <a:p>
            <a:endParaRPr lang="en-US" sz="2400" dirty="0">
              <a:ea typeface="Calibri"/>
              <a:cs typeface="Calibri"/>
            </a:endParaRPr>
          </a:p>
          <a:p>
            <a:r>
              <a:rPr lang="en-US" sz="2400" dirty="0">
                <a:ea typeface="Calibri"/>
                <a:cs typeface="Calibri"/>
              </a:rPr>
              <a:t>Ahead-of-time (AoT) compilation – what you're used to with C, C++. The code is compiled to </a:t>
            </a:r>
            <a:r>
              <a:rPr lang="en-US" sz="2400" b="1" dirty="0">
                <a:ea typeface="Calibri"/>
                <a:cs typeface="Calibri"/>
              </a:rPr>
              <a:t>native</a:t>
            </a:r>
            <a:r>
              <a:rPr lang="en-US" sz="2400" dirty="0">
                <a:ea typeface="Calibri"/>
                <a:cs typeface="Calibri"/>
              </a:rPr>
              <a:t> instructions before it is run.</a:t>
            </a:r>
          </a:p>
          <a:p>
            <a:endParaRPr lang="en-US" sz="2400" dirty="0">
              <a:ea typeface="Calibri"/>
              <a:cs typeface="Calibri"/>
            </a:endParaRPr>
          </a:p>
          <a:p>
            <a:r>
              <a:rPr lang="en-US" sz="2400" dirty="0">
                <a:ea typeface="Calibri"/>
                <a:cs typeface="Calibri"/>
              </a:rPr>
              <a:t>Just-in-time (JIT) compilation – translation from a </a:t>
            </a:r>
            <a:r>
              <a:rPr lang="en-US" sz="2400" b="1" dirty="0">
                <a:ea typeface="Calibri"/>
                <a:cs typeface="Calibri"/>
              </a:rPr>
              <a:t>bytecode</a:t>
            </a:r>
            <a:r>
              <a:rPr lang="en-US" sz="2400" dirty="0">
                <a:ea typeface="Calibri"/>
                <a:cs typeface="Calibri"/>
              </a:rPr>
              <a:t> into </a:t>
            </a:r>
            <a:r>
              <a:rPr lang="en-US" sz="2400" b="1" dirty="0">
                <a:ea typeface="Calibri"/>
                <a:cs typeface="Calibri"/>
              </a:rPr>
              <a:t>native instructions.</a:t>
            </a:r>
            <a:endParaRPr lang="en-US" sz="2400" dirty="0">
              <a:ea typeface="Calibri"/>
              <a:cs typeface="Calibri"/>
            </a:endParaRPr>
          </a:p>
          <a:p>
            <a:pPr lvl="1">
              <a:buFont typeface="Courier New" panose="020B0604020202020204" pitchFamily="34" charset="0"/>
              <a:buChar char="o"/>
            </a:pPr>
            <a:r>
              <a:rPr lang="en-US" sz="2000" dirty="0">
                <a:ea typeface="Calibri"/>
                <a:cs typeface="Calibri"/>
              </a:rPr>
              <a:t>Interpreted languages, such as Python, are not JIT.</a:t>
            </a:r>
          </a:p>
          <a:p>
            <a:pPr lvl="1">
              <a:buFont typeface="Courier New" panose="020B0604020202020204" pitchFamily="34" charset="0"/>
              <a:buChar char="o"/>
            </a:pPr>
            <a:r>
              <a:rPr lang="en-US" sz="2000" dirty="0">
                <a:ea typeface="Calibri"/>
                <a:cs typeface="Calibri"/>
              </a:rPr>
              <a:t>C# is JIT when using its intermediate language (MSIL).</a:t>
            </a:r>
          </a:p>
        </p:txBody>
      </p:sp>
    </p:spTree>
    <p:extLst>
      <p:ext uri="{BB962C8B-B14F-4D97-AF65-F5344CB8AC3E}">
        <p14:creationId xmlns:p14="http://schemas.microsoft.com/office/powerpoint/2010/main" val="404934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7AA6-603D-CC67-2AB3-554C209E75CC}"/>
              </a:ext>
            </a:extLst>
          </p:cNvPr>
          <p:cNvSpPr>
            <a:spLocks noGrp="1"/>
          </p:cNvSpPr>
          <p:nvPr>
            <p:ph type="title"/>
          </p:nvPr>
        </p:nvSpPr>
        <p:spPr/>
        <p:txBody>
          <a:bodyPr/>
          <a:lstStyle/>
          <a:p>
            <a:r>
              <a:rPr lang="en-US">
                <a:ea typeface="Calibri Light"/>
                <a:cs typeface="Calibri Light"/>
              </a:rPr>
              <a:t>Object Oriented</a:t>
            </a:r>
            <a:endParaRPr lang="en-US"/>
          </a:p>
        </p:txBody>
      </p:sp>
      <p:sp>
        <p:nvSpPr>
          <p:cNvPr id="3" name="Content Placeholder 2">
            <a:extLst>
              <a:ext uri="{FF2B5EF4-FFF2-40B4-BE49-F238E27FC236}">
                <a16:creationId xmlns:a16="http://schemas.microsoft.com/office/drawing/2014/main" id="{0D906809-0B6F-5363-8B56-E3EB4CFD7060}"/>
              </a:ext>
            </a:extLst>
          </p:cNvPr>
          <p:cNvSpPr>
            <a:spLocks noGrp="1"/>
          </p:cNvSpPr>
          <p:nvPr>
            <p:ph idx="1"/>
          </p:nvPr>
        </p:nvSpPr>
        <p:spPr/>
        <p:txBody>
          <a:bodyPr vert="horz" lIns="91440" tIns="45720" rIns="91440" bIns="45720" rtlCol="0" anchor="t">
            <a:normAutofit/>
          </a:bodyPr>
          <a:lstStyle/>
          <a:p>
            <a:r>
              <a:rPr lang="en-US" dirty="0">
                <a:ea typeface="Calibri"/>
                <a:cs typeface="Calibri"/>
              </a:rPr>
              <a:t>A style of programming that links data (fields) and actions (methods) in a set of memory called </a:t>
            </a:r>
            <a:r>
              <a:rPr lang="en-US" b="1" dirty="0">
                <a:ea typeface="Calibri"/>
                <a:cs typeface="Calibri"/>
              </a:rPr>
              <a:t>objects</a:t>
            </a:r>
            <a:r>
              <a:rPr lang="en-US" dirty="0">
                <a:ea typeface="Calibri"/>
                <a:cs typeface="Calibri"/>
              </a:rPr>
              <a:t>.</a:t>
            </a:r>
          </a:p>
          <a:p>
            <a:endParaRPr lang="en-US" dirty="0">
              <a:ea typeface="Calibri"/>
              <a:cs typeface="Calibri"/>
            </a:endParaRPr>
          </a:p>
          <a:p>
            <a:r>
              <a:rPr lang="en-US" dirty="0">
                <a:ea typeface="Calibri"/>
                <a:cs typeface="Calibri"/>
              </a:rPr>
              <a:t>An object is a </a:t>
            </a:r>
            <a:r>
              <a:rPr lang="en-US" b="1" dirty="0">
                <a:ea typeface="Calibri"/>
                <a:cs typeface="Calibri"/>
              </a:rPr>
              <a:t>blueprint </a:t>
            </a:r>
            <a:r>
              <a:rPr lang="en-US" dirty="0">
                <a:ea typeface="Calibri"/>
                <a:cs typeface="Calibri"/>
              </a:rPr>
              <a:t>until it is </a:t>
            </a:r>
            <a:r>
              <a:rPr lang="en-US" b="1" dirty="0">
                <a:ea typeface="Calibri"/>
                <a:cs typeface="Calibri"/>
              </a:rPr>
              <a:t>instantiated</a:t>
            </a:r>
            <a:r>
              <a:rPr lang="en-US" dirty="0">
                <a:ea typeface="Calibri"/>
                <a:cs typeface="Calibri"/>
              </a:rPr>
              <a:t>.</a:t>
            </a:r>
          </a:p>
          <a:p>
            <a:pPr lvl="1">
              <a:buFont typeface="Courier New" panose="020B0604020202020204" pitchFamily="34" charset="0"/>
              <a:buChar char="o"/>
            </a:pPr>
            <a:r>
              <a:rPr lang="en-US" dirty="0">
                <a:ea typeface="Calibri"/>
                <a:cs typeface="Calibri"/>
              </a:rPr>
              <a:t>Instantiation – allocating memory to store an object.</a:t>
            </a:r>
          </a:p>
        </p:txBody>
      </p:sp>
    </p:spTree>
    <p:extLst>
      <p:ext uri="{BB962C8B-B14F-4D97-AF65-F5344CB8AC3E}">
        <p14:creationId xmlns:p14="http://schemas.microsoft.com/office/powerpoint/2010/main" val="200575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8FAB0-8F8C-762A-58BD-1826E24F7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C8E63-DF02-9866-1578-B89374A0022A}"/>
              </a:ext>
            </a:extLst>
          </p:cNvPr>
          <p:cNvSpPr>
            <a:spLocks noGrp="1"/>
          </p:cNvSpPr>
          <p:nvPr>
            <p:ph type="title"/>
          </p:nvPr>
        </p:nvSpPr>
        <p:spPr/>
        <p:txBody>
          <a:bodyPr/>
          <a:lstStyle/>
          <a:p>
            <a:r>
              <a:rPr lang="en-US" dirty="0">
                <a:ea typeface="Calibri Light"/>
                <a:cs typeface="Calibri Light"/>
              </a:rPr>
              <a:t>Polymorphic</a:t>
            </a:r>
            <a:endParaRPr lang="en-US" dirty="0"/>
          </a:p>
        </p:txBody>
      </p:sp>
      <p:sp>
        <p:nvSpPr>
          <p:cNvPr id="3" name="Content Placeholder 2">
            <a:extLst>
              <a:ext uri="{FF2B5EF4-FFF2-40B4-BE49-F238E27FC236}">
                <a16:creationId xmlns:a16="http://schemas.microsoft.com/office/drawing/2014/main" id="{71273989-3133-C931-BA23-25EB953DD1EA}"/>
              </a:ext>
            </a:extLst>
          </p:cNvPr>
          <p:cNvSpPr>
            <a:spLocks noGrp="1"/>
          </p:cNvSpPr>
          <p:nvPr>
            <p:ph idx="1"/>
          </p:nvPr>
        </p:nvSpPr>
        <p:spPr/>
        <p:txBody>
          <a:bodyPr vert="horz" lIns="91440" tIns="45720" rIns="91440" bIns="45720" rtlCol="0" anchor="t">
            <a:normAutofit/>
          </a:bodyPr>
          <a:lstStyle/>
          <a:p>
            <a:r>
              <a:rPr lang="en-US" dirty="0">
                <a:ea typeface="Calibri"/>
                <a:cs typeface="Calibri"/>
              </a:rPr>
              <a:t>A style of object-oriented programming allowing traits of one object to be derived to another.</a:t>
            </a:r>
          </a:p>
          <a:p>
            <a:endParaRPr lang="en-US" dirty="0">
              <a:ea typeface="Calibri"/>
              <a:cs typeface="Calibri"/>
            </a:endParaRPr>
          </a:p>
          <a:p>
            <a:r>
              <a:rPr lang="en-US" dirty="0">
                <a:ea typeface="Calibri"/>
                <a:cs typeface="Calibri"/>
              </a:rPr>
              <a:t>Example:</a:t>
            </a:r>
          </a:p>
          <a:p>
            <a:pPr lvl="1"/>
            <a:r>
              <a:rPr lang="en-US" dirty="0">
                <a:ea typeface="Calibri"/>
                <a:cs typeface="Calibri"/>
              </a:rPr>
              <a:t>Animal class</a:t>
            </a:r>
          </a:p>
          <a:p>
            <a:pPr lvl="2"/>
            <a:r>
              <a:rPr lang="en-US" dirty="0">
                <a:ea typeface="Calibri"/>
                <a:cs typeface="Calibri"/>
              </a:rPr>
              <a:t>Animals can run, walk, eat</a:t>
            </a:r>
          </a:p>
          <a:p>
            <a:pPr lvl="1"/>
            <a:r>
              <a:rPr lang="en-US" dirty="0">
                <a:ea typeface="Calibri"/>
                <a:cs typeface="Calibri"/>
              </a:rPr>
              <a:t>Tiger is an Animal</a:t>
            </a:r>
          </a:p>
          <a:p>
            <a:pPr lvl="2"/>
            <a:r>
              <a:rPr lang="en-US" dirty="0">
                <a:ea typeface="Calibri"/>
                <a:cs typeface="Calibri"/>
              </a:rPr>
              <a:t>Don't have to reimplement run, walk, eat</a:t>
            </a:r>
          </a:p>
        </p:txBody>
      </p:sp>
    </p:spTree>
    <p:extLst>
      <p:ext uri="{BB962C8B-B14F-4D97-AF65-F5344CB8AC3E}">
        <p14:creationId xmlns:p14="http://schemas.microsoft.com/office/powerpoint/2010/main" val="21220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28FEA-70D2-1719-BE4C-458B18188967}"/>
              </a:ext>
            </a:extLst>
          </p:cNvPr>
          <p:cNvSpPr>
            <a:spLocks noGrp="1"/>
          </p:cNvSpPr>
          <p:nvPr>
            <p:ph type="title"/>
          </p:nvPr>
        </p:nvSpPr>
        <p:spPr/>
        <p:txBody>
          <a:bodyPr/>
          <a:lstStyle/>
          <a:p>
            <a:r>
              <a:rPr lang="en-US">
                <a:ea typeface="Calibri Light"/>
                <a:cs typeface="Calibri Light"/>
              </a:rPr>
              <a:t>Modular</a:t>
            </a:r>
            <a:endParaRPr lang="en-US"/>
          </a:p>
        </p:txBody>
      </p:sp>
      <p:sp>
        <p:nvSpPr>
          <p:cNvPr id="3" name="Content Placeholder 2">
            <a:extLst>
              <a:ext uri="{FF2B5EF4-FFF2-40B4-BE49-F238E27FC236}">
                <a16:creationId xmlns:a16="http://schemas.microsoft.com/office/drawing/2014/main" id="{FFD79A39-A6EC-F576-879B-4CD068A5FDB7}"/>
              </a:ext>
            </a:extLst>
          </p:cNvPr>
          <p:cNvSpPr>
            <a:spLocks noGrp="1"/>
          </p:cNvSpPr>
          <p:nvPr>
            <p:ph idx="1"/>
          </p:nvPr>
        </p:nvSpPr>
        <p:spPr/>
        <p:txBody>
          <a:bodyPr vert="horz" lIns="91440" tIns="45720" rIns="91440" bIns="45720" rtlCol="0" anchor="t">
            <a:normAutofit/>
          </a:bodyPr>
          <a:lstStyle/>
          <a:p>
            <a:r>
              <a:rPr lang="en-US">
                <a:ea typeface="Calibri"/>
                <a:cs typeface="Calibri"/>
              </a:rPr>
              <a:t>Sections of code can be substituted.</a:t>
            </a:r>
          </a:p>
          <a:p>
            <a:endParaRPr lang="en-US">
              <a:ea typeface="Calibri"/>
              <a:cs typeface="Calibri"/>
            </a:endParaRPr>
          </a:p>
          <a:p>
            <a:r>
              <a:rPr lang="en-US">
                <a:ea typeface="Calibri"/>
                <a:cs typeface="Calibri"/>
              </a:rPr>
              <a:t>C/C++ does this with </a:t>
            </a:r>
            <a:r>
              <a:rPr lang="en-US" b="1">
                <a:ea typeface="Calibri"/>
                <a:cs typeface="Calibri"/>
              </a:rPr>
              <a:t>headers </a:t>
            </a:r>
            <a:r>
              <a:rPr lang="en-US">
                <a:ea typeface="Calibri"/>
                <a:cs typeface="Calibri"/>
              </a:rPr>
              <a:t>and</a:t>
            </a:r>
            <a:r>
              <a:rPr lang="en-US" b="1">
                <a:ea typeface="Calibri"/>
                <a:cs typeface="Calibri"/>
              </a:rPr>
              <a:t> libraries.</a:t>
            </a:r>
          </a:p>
          <a:p>
            <a:endParaRPr lang="en-US" b="1">
              <a:ea typeface="Calibri"/>
              <a:cs typeface="Calibri"/>
            </a:endParaRPr>
          </a:p>
          <a:p>
            <a:r>
              <a:rPr lang="en-US">
                <a:ea typeface="Calibri"/>
                <a:cs typeface="Calibri"/>
              </a:rPr>
              <a:t>C# takes this even farther with </a:t>
            </a:r>
            <a:r>
              <a:rPr lang="en-US" b="1">
                <a:ea typeface="Calibri"/>
                <a:cs typeface="Calibri"/>
              </a:rPr>
              <a:t>partial</a:t>
            </a:r>
            <a:r>
              <a:rPr lang="en-US">
                <a:ea typeface="Calibri"/>
                <a:cs typeface="Calibri"/>
              </a:rPr>
              <a:t> class definitions.</a:t>
            </a:r>
          </a:p>
          <a:p>
            <a:pPr lvl="1">
              <a:buFont typeface="Courier New" panose="020B0604020202020204" pitchFamily="34" charset="0"/>
              <a:buChar char="o"/>
            </a:pPr>
            <a:r>
              <a:rPr lang="en-US">
                <a:ea typeface="Calibri"/>
                <a:cs typeface="Calibri"/>
              </a:rPr>
              <a:t>Classes can defined spanning multiple C# source code files.</a:t>
            </a:r>
          </a:p>
        </p:txBody>
      </p:sp>
    </p:spTree>
    <p:extLst>
      <p:ext uri="{BB962C8B-B14F-4D97-AF65-F5344CB8AC3E}">
        <p14:creationId xmlns:p14="http://schemas.microsoft.com/office/powerpoint/2010/main" val="2579539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4207-2B40-9679-8869-5D0BEB2ED0BC}"/>
              </a:ext>
            </a:extLst>
          </p:cNvPr>
          <p:cNvSpPr>
            <a:spLocks noGrp="1"/>
          </p:cNvSpPr>
          <p:nvPr>
            <p:ph type="title"/>
          </p:nvPr>
        </p:nvSpPr>
        <p:spPr/>
        <p:txBody>
          <a:bodyPr/>
          <a:lstStyle/>
          <a:p>
            <a:r>
              <a:rPr lang="en-US">
                <a:ea typeface="Calibri Light"/>
                <a:cs typeface="Calibri Light"/>
              </a:rPr>
              <a:t>Strongly Typed</a:t>
            </a:r>
            <a:endParaRPr lang="en-US"/>
          </a:p>
        </p:txBody>
      </p:sp>
      <p:sp>
        <p:nvSpPr>
          <p:cNvPr id="3" name="Content Placeholder 2">
            <a:extLst>
              <a:ext uri="{FF2B5EF4-FFF2-40B4-BE49-F238E27FC236}">
                <a16:creationId xmlns:a16="http://schemas.microsoft.com/office/drawing/2014/main" id="{83142521-A7CA-5B51-046B-B08DE3B337B7}"/>
              </a:ext>
            </a:extLst>
          </p:cNvPr>
          <p:cNvSpPr>
            <a:spLocks noGrp="1"/>
          </p:cNvSpPr>
          <p:nvPr>
            <p:ph idx="1"/>
          </p:nvPr>
        </p:nvSpPr>
        <p:spPr/>
        <p:txBody>
          <a:bodyPr vert="horz" lIns="91440" tIns="45720" rIns="91440" bIns="45720" rtlCol="0" anchor="t">
            <a:normAutofit/>
          </a:bodyPr>
          <a:lstStyle/>
          <a:p>
            <a:r>
              <a:rPr lang="en-US">
                <a:ea typeface="Calibri"/>
                <a:cs typeface="Calibri"/>
              </a:rPr>
              <a:t>Data must be explicitly converted.</a:t>
            </a:r>
            <a:endParaRPr lang="en-US" sz="2400">
              <a:ea typeface="Calibri"/>
              <a:cs typeface="Calibri"/>
            </a:endParaRPr>
          </a:p>
          <a:p>
            <a:pPr lvl="1">
              <a:buFont typeface="Courier New" panose="020B0604020202020204" pitchFamily="34" charset="0"/>
              <a:buChar char="o"/>
            </a:pPr>
            <a:r>
              <a:rPr lang="en-US">
                <a:ea typeface="Calibri"/>
                <a:cs typeface="Calibri"/>
              </a:rPr>
              <a:t>Except for coercion (i.e., auto-casting)</a:t>
            </a:r>
          </a:p>
          <a:p>
            <a:pPr lvl="2">
              <a:buFont typeface="Wingdings" panose="020B0604020202020204" pitchFamily="34" charset="0"/>
              <a:buChar char="§"/>
            </a:pPr>
            <a:endParaRPr lang="en-US">
              <a:ea typeface="Calibri"/>
              <a:cs typeface="Calibri"/>
            </a:endParaRPr>
          </a:p>
          <a:p>
            <a:r>
              <a:rPr lang="en-US">
                <a:ea typeface="Calibri"/>
                <a:cs typeface="Calibri"/>
              </a:rPr>
              <a:t>C# does allow for </a:t>
            </a:r>
            <a:r>
              <a:rPr lang="en-US" b="1">
                <a:ea typeface="Calibri"/>
                <a:cs typeface="Calibri"/>
              </a:rPr>
              <a:t>unsafe</a:t>
            </a:r>
            <a:r>
              <a:rPr lang="en-US">
                <a:ea typeface="Calibri"/>
                <a:cs typeface="Calibri"/>
              </a:rPr>
              <a:t> typing, but this puts the onus on the programmer.</a:t>
            </a:r>
          </a:p>
        </p:txBody>
      </p:sp>
    </p:spTree>
    <p:extLst>
      <p:ext uri="{BB962C8B-B14F-4D97-AF65-F5344CB8AC3E}">
        <p14:creationId xmlns:p14="http://schemas.microsoft.com/office/powerpoint/2010/main" val="694591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3671A-E022-5757-3511-3D99197C0848}"/>
              </a:ext>
            </a:extLst>
          </p:cNvPr>
          <p:cNvSpPr>
            <a:spLocks noGrp="1"/>
          </p:cNvSpPr>
          <p:nvPr>
            <p:ph type="title"/>
          </p:nvPr>
        </p:nvSpPr>
        <p:spPr/>
        <p:txBody>
          <a:bodyPr/>
          <a:lstStyle/>
          <a:p>
            <a:r>
              <a:rPr lang="en-US">
                <a:ea typeface="Calibri Light"/>
                <a:cs typeface="Calibri Light"/>
              </a:rPr>
              <a:t>Statically Typed</a:t>
            </a:r>
            <a:endParaRPr lang="en-US"/>
          </a:p>
        </p:txBody>
      </p:sp>
      <p:sp>
        <p:nvSpPr>
          <p:cNvPr id="3" name="Content Placeholder 2">
            <a:extLst>
              <a:ext uri="{FF2B5EF4-FFF2-40B4-BE49-F238E27FC236}">
                <a16:creationId xmlns:a16="http://schemas.microsoft.com/office/drawing/2014/main" id="{FEDDC3B4-8F3A-3C94-89D2-4DCF696FECAD}"/>
              </a:ext>
            </a:extLst>
          </p:cNvPr>
          <p:cNvSpPr>
            <a:spLocks noGrp="1"/>
          </p:cNvSpPr>
          <p:nvPr>
            <p:ph idx="1"/>
          </p:nvPr>
        </p:nvSpPr>
        <p:spPr/>
        <p:txBody>
          <a:bodyPr vert="horz" lIns="91440" tIns="45720" rIns="91440" bIns="45720" rtlCol="0" anchor="t">
            <a:normAutofit/>
          </a:bodyPr>
          <a:lstStyle/>
          <a:p>
            <a:r>
              <a:rPr lang="en-US" dirty="0">
                <a:ea typeface="Calibri"/>
                <a:cs typeface="Calibri"/>
              </a:rPr>
              <a:t>C#'s types are checked at run time.</a:t>
            </a:r>
          </a:p>
          <a:p>
            <a:endParaRPr lang="en-US" dirty="0">
              <a:ea typeface="Calibri"/>
              <a:cs typeface="Calibri"/>
            </a:endParaRPr>
          </a:p>
          <a:p>
            <a:r>
              <a:rPr lang="en-US" dirty="0">
                <a:ea typeface="Calibri"/>
                <a:cs typeface="Calibri"/>
              </a:rPr>
              <a:t>This differs from languages, such as Python, where the type is determined at </a:t>
            </a:r>
            <a:r>
              <a:rPr lang="en-US" b="1" dirty="0">
                <a:ea typeface="Calibri"/>
                <a:cs typeface="Calibri"/>
              </a:rPr>
              <a:t>run time.</a:t>
            </a:r>
          </a:p>
          <a:p>
            <a:pPr lvl="1">
              <a:buFont typeface="Courier New" panose="020B0604020202020204" pitchFamily="34" charset="0"/>
              <a:buChar char="o"/>
            </a:pPr>
            <a:r>
              <a:rPr lang="en-US" dirty="0">
                <a:ea typeface="Calibri"/>
                <a:cs typeface="Calibri"/>
              </a:rPr>
              <a:t>Most progressively interpreted languages are dynamically typed.</a:t>
            </a:r>
          </a:p>
        </p:txBody>
      </p:sp>
    </p:spTree>
    <p:extLst>
      <p:ext uri="{BB962C8B-B14F-4D97-AF65-F5344CB8AC3E}">
        <p14:creationId xmlns:p14="http://schemas.microsoft.com/office/powerpoint/2010/main" val="1408744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7253-4E37-6723-2ACE-A67F19AA7117}"/>
              </a:ext>
            </a:extLst>
          </p:cNvPr>
          <p:cNvSpPr>
            <a:spLocks noGrp="1"/>
          </p:cNvSpPr>
          <p:nvPr>
            <p:ph type="title"/>
          </p:nvPr>
        </p:nvSpPr>
        <p:spPr/>
        <p:txBody>
          <a:bodyPr/>
          <a:lstStyle/>
          <a:p>
            <a:r>
              <a:rPr lang="en-US">
                <a:ea typeface="Calibri Light"/>
                <a:cs typeface="Calibri Light"/>
              </a:rPr>
              <a:t>Garbage Collected</a:t>
            </a:r>
            <a:endParaRPr lang="en-US"/>
          </a:p>
        </p:txBody>
      </p:sp>
      <p:sp>
        <p:nvSpPr>
          <p:cNvPr id="3" name="Content Placeholder 2">
            <a:extLst>
              <a:ext uri="{FF2B5EF4-FFF2-40B4-BE49-F238E27FC236}">
                <a16:creationId xmlns:a16="http://schemas.microsoft.com/office/drawing/2014/main" id="{C064C967-790A-4A31-8630-4DF26B83D5E3}"/>
              </a:ext>
            </a:extLst>
          </p:cNvPr>
          <p:cNvSpPr>
            <a:spLocks noGrp="1"/>
          </p:cNvSpPr>
          <p:nvPr>
            <p:ph idx="1"/>
          </p:nvPr>
        </p:nvSpPr>
        <p:spPr/>
        <p:txBody>
          <a:bodyPr vert="horz" lIns="91440" tIns="45720" rIns="91440" bIns="45720" rtlCol="0" anchor="t">
            <a:normAutofit/>
          </a:bodyPr>
          <a:lstStyle/>
          <a:p>
            <a:r>
              <a:rPr lang="en-US" dirty="0">
                <a:ea typeface="Calibri"/>
                <a:cs typeface="Calibri"/>
              </a:rPr>
              <a:t>Heap memory is automatically freed by the C# runtime.</a:t>
            </a:r>
          </a:p>
          <a:p>
            <a:pPr lvl="1">
              <a:buFont typeface="Courier New" panose="020B0604020202020204" pitchFamily="34" charset="0"/>
              <a:buChar char="o"/>
            </a:pPr>
            <a:r>
              <a:rPr lang="en-US" dirty="0">
                <a:ea typeface="Calibri"/>
                <a:cs typeface="Calibri"/>
              </a:rPr>
              <a:t>Therefore, there is no </a:t>
            </a:r>
            <a:r>
              <a:rPr lang="en-US" b="1" dirty="0">
                <a:ea typeface="Calibri"/>
                <a:cs typeface="Calibri"/>
              </a:rPr>
              <a:t>delete</a:t>
            </a:r>
            <a:r>
              <a:rPr lang="en-US" dirty="0">
                <a:ea typeface="Calibri"/>
                <a:cs typeface="Calibri"/>
              </a:rPr>
              <a:t> keyword.</a:t>
            </a:r>
          </a:p>
        </p:txBody>
      </p:sp>
    </p:spTree>
    <p:extLst>
      <p:ext uri="{BB962C8B-B14F-4D97-AF65-F5344CB8AC3E}">
        <p14:creationId xmlns:p14="http://schemas.microsoft.com/office/powerpoint/2010/main" val="3910667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AEAB-EE95-079B-FEF9-E651CDDC50F5}"/>
              </a:ext>
            </a:extLst>
          </p:cNvPr>
          <p:cNvSpPr>
            <a:spLocks noGrp="1"/>
          </p:cNvSpPr>
          <p:nvPr>
            <p:ph type="title"/>
          </p:nvPr>
        </p:nvSpPr>
        <p:spPr/>
        <p:txBody>
          <a:bodyPr/>
          <a:lstStyle/>
          <a:p>
            <a:r>
              <a:rPr lang="en-US">
                <a:ea typeface="Calibri Light"/>
                <a:cs typeface="Calibri Light"/>
              </a:rPr>
              <a:t>Naming Conventions</a:t>
            </a:r>
            <a:endParaRPr lang="en-US"/>
          </a:p>
        </p:txBody>
      </p:sp>
      <p:sp>
        <p:nvSpPr>
          <p:cNvPr id="3" name="Content Placeholder 2">
            <a:extLst>
              <a:ext uri="{FF2B5EF4-FFF2-40B4-BE49-F238E27FC236}">
                <a16:creationId xmlns:a16="http://schemas.microsoft.com/office/drawing/2014/main" id="{17A45A3B-4FEE-7CF5-D6D4-42DEDD882F67}"/>
              </a:ext>
            </a:extLst>
          </p:cNvPr>
          <p:cNvSpPr>
            <a:spLocks noGrp="1"/>
          </p:cNvSpPr>
          <p:nvPr>
            <p:ph idx="1"/>
          </p:nvPr>
        </p:nvSpPr>
        <p:spPr/>
        <p:txBody>
          <a:bodyPr vert="horz" lIns="91440" tIns="45720" rIns="91440" bIns="45720" rtlCol="0" anchor="t">
            <a:noAutofit/>
          </a:bodyPr>
          <a:lstStyle/>
          <a:p>
            <a:pPr>
              <a:lnSpc>
                <a:spcPct val="150000"/>
              </a:lnSpc>
            </a:pPr>
            <a:r>
              <a:rPr lang="en-US" sz="2000" dirty="0">
                <a:ea typeface="Calibri"/>
                <a:cs typeface="Calibri"/>
              </a:rPr>
              <a:t>Interface names start with a capital I.</a:t>
            </a:r>
            <a:endParaRPr lang="en-US" dirty="0"/>
          </a:p>
          <a:p>
            <a:pPr>
              <a:lnSpc>
                <a:spcPct val="150000"/>
              </a:lnSpc>
            </a:pPr>
            <a:r>
              <a:rPr lang="en-US" sz="2000" dirty="0">
                <a:ea typeface="Calibri"/>
                <a:cs typeface="Calibri"/>
              </a:rPr>
              <a:t>Identifiers shouldn't contain two consecutive underscore (_) characters. </a:t>
            </a:r>
          </a:p>
          <a:p>
            <a:pPr lvl="1">
              <a:lnSpc>
                <a:spcPct val="150000"/>
              </a:lnSpc>
              <a:buFont typeface="Courier New" panose="020B0604020202020204" pitchFamily="34" charset="0"/>
              <a:buChar char="o"/>
            </a:pPr>
            <a:r>
              <a:rPr lang="en-US" sz="1600" dirty="0">
                <a:ea typeface="Calibri"/>
                <a:cs typeface="Calibri"/>
              </a:rPr>
              <a:t>Those names are reserved for compiler-generated identifiers.</a:t>
            </a:r>
            <a:endParaRPr lang="en-US" dirty="0">
              <a:ea typeface="Calibri"/>
              <a:cs typeface="Calibri"/>
            </a:endParaRPr>
          </a:p>
          <a:p>
            <a:pPr>
              <a:lnSpc>
                <a:spcPct val="150000"/>
              </a:lnSpc>
            </a:pPr>
            <a:r>
              <a:rPr lang="en-US" sz="2000" dirty="0">
                <a:ea typeface="Calibri"/>
                <a:cs typeface="Calibri"/>
              </a:rPr>
              <a:t>Use </a:t>
            </a:r>
            <a:r>
              <a:rPr lang="en-US" sz="2000" dirty="0" err="1">
                <a:ea typeface="Calibri"/>
                <a:cs typeface="Calibri"/>
              </a:rPr>
              <a:t>PascalCase</a:t>
            </a:r>
            <a:r>
              <a:rPr lang="en-US" sz="2000" dirty="0">
                <a:ea typeface="Calibri"/>
                <a:cs typeface="Calibri"/>
              </a:rPr>
              <a:t> for class names and method names.</a:t>
            </a:r>
          </a:p>
          <a:p>
            <a:pPr>
              <a:lnSpc>
                <a:spcPct val="150000"/>
              </a:lnSpc>
            </a:pPr>
            <a:r>
              <a:rPr lang="en-US" sz="2000" dirty="0">
                <a:ea typeface="Calibri"/>
                <a:cs typeface="Calibri"/>
              </a:rPr>
              <a:t>Use camelCase for method parameters and local variables.</a:t>
            </a:r>
          </a:p>
          <a:p>
            <a:pPr>
              <a:lnSpc>
                <a:spcPct val="150000"/>
              </a:lnSpc>
            </a:pPr>
            <a:r>
              <a:rPr lang="en-US" sz="2000" dirty="0">
                <a:ea typeface="Calibri"/>
                <a:cs typeface="Calibri"/>
              </a:rPr>
              <a:t>Use </a:t>
            </a:r>
            <a:r>
              <a:rPr lang="en-US" sz="2000" dirty="0" err="1">
                <a:ea typeface="Calibri"/>
                <a:cs typeface="Calibri"/>
              </a:rPr>
              <a:t>PascalCase</a:t>
            </a:r>
            <a:r>
              <a:rPr lang="en-US" sz="2000" dirty="0">
                <a:ea typeface="Calibri"/>
                <a:cs typeface="Calibri"/>
              </a:rPr>
              <a:t> for constant names, both fields and local constants.</a:t>
            </a:r>
          </a:p>
          <a:p>
            <a:pPr>
              <a:lnSpc>
                <a:spcPct val="150000"/>
              </a:lnSpc>
            </a:pPr>
            <a:r>
              <a:rPr lang="en-US" sz="2000" dirty="0">
                <a:ea typeface="Calibri"/>
                <a:cs typeface="Calibri"/>
              </a:rPr>
              <a:t>Private instance fields start with an underscore (_) and the remaining text is </a:t>
            </a:r>
            <a:r>
              <a:rPr lang="en-US" sz="2000" dirty="0" err="1">
                <a:ea typeface="Calibri"/>
                <a:cs typeface="Calibri"/>
              </a:rPr>
              <a:t>camelCased</a:t>
            </a:r>
            <a:r>
              <a:rPr lang="en-US" sz="2000" dirty="0">
                <a:ea typeface="Calibri"/>
                <a:cs typeface="Calibri"/>
              </a:rPr>
              <a:t>.</a:t>
            </a:r>
          </a:p>
          <a:p>
            <a:pPr>
              <a:lnSpc>
                <a:spcPct val="150000"/>
              </a:lnSpc>
            </a:pPr>
            <a:endParaRPr lang="en-US" sz="2000" dirty="0">
              <a:ea typeface="Calibri"/>
              <a:cs typeface="Calibri"/>
            </a:endParaRPr>
          </a:p>
        </p:txBody>
      </p:sp>
    </p:spTree>
    <p:extLst>
      <p:ext uri="{BB962C8B-B14F-4D97-AF65-F5344CB8AC3E}">
        <p14:creationId xmlns:p14="http://schemas.microsoft.com/office/powerpoint/2010/main" val="3207756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BBB2-37AC-4B23-8D77-CA813318D860}"/>
              </a:ext>
            </a:extLst>
          </p:cNvPr>
          <p:cNvSpPr>
            <a:spLocks noGrp="1"/>
          </p:cNvSpPr>
          <p:nvPr>
            <p:ph type="title"/>
          </p:nvPr>
        </p:nvSpPr>
        <p:spPr/>
        <p:txBody>
          <a:bodyPr/>
          <a:lstStyle/>
          <a:p>
            <a:r>
              <a:rPr lang="en-US"/>
              <a:t>.NET</a:t>
            </a:r>
          </a:p>
        </p:txBody>
      </p:sp>
      <p:sp>
        <p:nvSpPr>
          <p:cNvPr id="3" name="Content Placeholder 2">
            <a:extLst>
              <a:ext uri="{FF2B5EF4-FFF2-40B4-BE49-F238E27FC236}">
                <a16:creationId xmlns:a16="http://schemas.microsoft.com/office/drawing/2014/main" id="{259C0535-3237-4D77-B2A4-8E6128257A97}"/>
              </a:ext>
            </a:extLst>
          </p:cNvPr>
          <p:cNvSpPr>
            <a:spLocks noGrp="1"/>
          </p:cNvSpPr>
          <p:nvPr>
            <p:ph idx="1"/>
          </p:nvPr>
        </p:nvSpPr>
        <p:spPr/>
        <p:txBody>
          <a:bodyPr>
            <a:normAutofit fontScale="92500" lnSpcReduction="10000"/>
          </a:bodyPr>
          <a:lstStyle/>
          <a:p>
            <a:r>
              <a:rPr lang="en-US"/>
              <a:t>.NET is a framework of many classes that run on the CLR</a:t>
            </a:r>
          </a:p>
          <a:p>
            <a:endParaRPr lang="en-US"/>
          </a:p>
          <a:p>
            <a:r>
              <a:rPr lang="en-US"/>
              <a:t>CLI – Common Language Infrastructure</a:t>
            </a:r>
          </a:p>
          <a:p>
            <a:pPr lvl="1"/>
            <a:r>
              <a:rPr lang="en-US"/>
              <a:t>Many languages (C#, C++, and Visual Basic) run on the same virtual machine</a:t>
            </a:r>
          </a:p>
          <a:p>
            <a:endParaRPr lang="en-US"/>
          </a:p>
          <a:p>
            <a:r>
              <a:rPr lang="en-US"/>
              <a:t>CLR – Common Language Runtime</a:t>
            </a:r>
          </a:p>
          <a:p>
            <a:pPr lvl="1"/>
            <a:r>
              <a:rPr lang="en-US"/>
              <a:t>This is C#’s virtual machine that interprets MSIL</a:t>
            </a:r>
          </a:p>
          <a:p>
            <a:pPr lvl="1"/>
            <a:endParaRPr lang="en-US"/>
          </a:p>
          <a:p>
            <a:r>
              <a:rPr lang="en-US"/>
              <a:t>MSIL – Microsoft Intermediate Language</a:t>
            </a:r>
          </a:p>
          <a:p>
            <a:pPr lvl="1"/>
            <a:r>
              <a:rPr lang="en-US"/>
              <a:t>C#’s bytecode</a:t>
            </a:r>
          </a:p>
          <a:p>
            <a:pPr lvl="2"/>
            <a:r>
              <a:rPr lang="en-US"/>
              <a:t>When you compile C#, it transforms it into bytecode, not native assembly</a:t>
            </a:r>
          </a:p>
        </p:txBody>
      </p:sp>
    </p:spTree>
    <p:extLst>
      <p:ext uri="{BB962C8B-B14F-4D97-AF65-F5344CB8AC3E}">
        <p14:creationId xmlns:p14="http://schemas.microsoft.com/office/powerpoint/2010/main" val="2483368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322D0-E097-C991-431C-A1D84E8C8E8D}"/>
              </a:ext>
            </a:extLst>
          </p:cNvPr>
          <p:cNvSpPr>
            <a:spLocks noGrp="1"/>
          </p:cNvSpPr>
          <p:nvPr>
            <p:ph type="title"/>
          </p:nvPr>
        </p:nvSpPr>
        <p:spPr/>
        <p:txBody>
          <a:bodyPr/>
          <a:lstStyle/>
          <a:p>
            <a:r>
              <a:rPr lang="en-US">
                <a:ea typeface="Calibri Light"/>
                <a:cs typeface="Calibri Light"/>
              </a:rPr>
              <a:t>C# Compiler</a:t>
            </a:r>
            <a:endParaRPr lang="en-US"/>
          </a:p>
        </p:txBody>
      </p:sp>
      <p:sp>
        <p:nvSpPr>
          <p:cNvPr id="3" name="Content Placeholder 2">
            <a:extLst>
              <a:ext uri="{FF2B5EF4-FFF2-40B4-BE49-F238E27FC236}">
                <a16:creationId xmlns:a16="http://schemas.microsoft.com/office/drawing/2014/main" id="{FAB4EF64-636C-048A-359A-77FD2C9E0262}"/>
              </a:ext>
            </a:extLst>
          </p:cNvPr>
          <p:cNvSpPr>
            <a:spLocks noGrp="1"/>
          </p:cNvSpPr>
          <p:nvPr>
            <p:ph idx="1"/>
          </p:nvPr>
        </p:nvSpPr>
        <p:spPr/>
        <p:txBody>
          <a:bodyPr vert="horz" lIns="91440" tIns="45720" rIns="91440" bIns="45720" rtlCol="0" anchor="t">
            <a:normAutofit lnSpcReduction="10000"/>
          </a:bodyPr>
          <a:lstStyle/>
          <a:p>
            <a:r>
              <a:rPr lang="en-US" dirty="0">
                <a:ea typeface="Calibri"/>
                <a:cs typeface="Calibri"/>
              </a:rPr>
              <a:t>On hydra/tesla: "</a:t>
            </a:r>
            <a:r>
              <a:rPr lang="en-US" dirty="0" err="1">
                <a:ea typeface="Calibri"/>
                <a:cs typeface="Calibri"/>
              </a:rPr>
              <a:t>mcs</a:t>
            </a:r>
            <a:r>
              <a:rPr lang="en-US" dirty="0">
                <a:ea typeface="Calibri"/>
                <a:cs typeface="Calibri"/>
              </a:rPr>
              <a:t>"</a:t>
            </a:r>
          </a:p>
          <a:p>
            <a:pPr lvl="1">
              <a:buFont typeface="Courier New" panose="020B0604020202020204" pitchFamily="34" charset="0"/>
              <a:buChar char="o"/>
            </a:pPr>
            <a:r>
              <a:rPr lang="en-US" dirty="0">
                <a:ea typeface="Calibri"/>
                <a:cs typeface="Calibri"/>
              </a:rPr>
              <a:t>-langversion:7.2</a:t>
            </a:r>
          </a:p>
          <a:p>
            <a:pPr lvl="1">
              <a:buFont typeface="Courier New" panose="020B0604020202020204" pitchFamily="34" charset="0"/>
              <a:buChar char="o"/>
            </a:pPr>
            <a:r>
              <a:rPr lang="en-US" dirty="0">
                <a:ea typeface="Calibri"/>
                <a:cs typeface="Calibri"/>
              </a:rPr>
              <a:t>-</a:t>
            </a:r>
            <a:r>
              <a:rPr lang="en-US" dirty="0" err="1">
                <a:ea typeface="Calibri"/>
                <a:cs typeface="Calibri"/>
              </a:rPr>
              <a:t>out:myprogram.exe</a:t>
            </a:r>
            <a:endParaRPr lang="en-US" dirty="0">
              <a:ea typeface="Calibri"/>
              <a:cs typeface="Calibri"/>
            </a:endParaRPr>
          </a:p>
          <a:p>
            <a:pPr lvl="1">
              <a:buFont typeface="Courier New" panose="020B0604020202020204" pitchFamily="34" charset="0"/>
              <a:buChar char="o"/>
            </a:pPr>
            <a:r>
              <a:rPr lang="en-US" dirty="0" err="1">
                <a:ea typeface="Calibri"/>
                <a:cs typeface="Calibri"/>
              </a:rPr>
              <a:t>mcs</a:t>
            </a:r>
            <a:r>
              <a:rPr lang="en-US" dirty="0">
                <a:ea typeface="Calibri"/>
                <a:cs typeface="Calibri"/>
              </a:rPr>
              <a:t> -langversion:7.2 -</a:t>
            </a:r>
            <a:r>
              <a:rPr lang="en-US" dirty="0" err="1">
                <a:ea typeface="Calibri"/>
                <a:cs typeface="Calibri"/>
              </a:rPr>
              <a:t>out:myprogram.exe</a:t>
            </a:r>
            <a:r>
              <a:rPr lang="en-US" dirty="0">
                <a:ea typeface="Calibri"/>
                <a:cs typeface="Calibri"/>
              </a:rPr>
              <a:t> </a:t>
            </a:r>
            <a:r>
              <a:rPr lang="en-US" dirty="0" err="1">
                <a:ea typeface="Calibri"/>
                <a:cs typeface="Calibri"/>
              </a:rPr>
              <a:t>myprogram.cs</a:t>
            </a:r>
            <a:endParaRPr lang="en-US" dirty="0">
              <a:ea typeface="Calibri"/>
              <a:cs typeface="Calibri"/>
            </a:endParaRPr>
          </a:p>
          <a:p>
            <a:endParaRPr lang="en-US" dirty="0">
              <a:ea typeface="Calibri"/>
              <a:cs typeface="Calibri"/>
            </a:endParaRPr>
          </a:p>
          <a:p>
            <a:r>
              <a:rPr lang="en-US" dirty="0">
                <a:ea typeface="Calibri"/>
                <a:cs typeface="Calibri"/>
              </a:rPr>
              <a:t>Creates a .exe file</a:t>
            </a:r>
          </a:p>
          <a:p>
            <a:pPr lvl="1">
              <a:buFont typeface="Courier New" panose="020B0604020202020204" pitchFamily="34" charset="0"/>
              <a:buChar char="o"/>
            </a:pPr>
            <a:r>
              <a:rPr lang="en-US" dirty="0">
                <a:ea typeface="Calibri"/>
                <a:cs typeface="Calibri"/>
              </a:rPr>
              <a:t>Called a "portable executable" or PE for short.</a:t>
            </a:r>
          </a:p>
          <a:p>
            <a:endParaRPr lang="en-US" dirty="0">
              <a:ea typeface="Calibri"/>
              <a:cs typeface="Calibri"/>
            </a:endParaRPr>
          </a:p>
          <a:p>
            <a:r>
              <a:rPr lang="en-US" dirty="0">
                <a:ea typeface="Calibri"/>
                <a:cs typeface="Calibri"/>
              </a:rPr>
              <a:t>Must use "mono" to run .exe files:</a:t>
            </a:r>
          </a:p>
          <a:p>
            <a:pPr lvl="1">
              <a:buFont typeface="Courier New" panose="020B0604020202020204" pitchFamily="34" charset="0"/>
              <a:buChar char="o"/>
            </a:pPr>
            <a:r>
              <a:rPr lang="en-US" dirty="0">
                <a:ea typeface="Calibri"/>
                <a:cs typeface="Calibri"/>
              </a:rPr>
              <a:t>mono myprogram.exe</a:t>
            </a:r>
          </a:p>
        </p:txBody>
      </p:sp>
    </p:spTree>
    <p:extLst>
      <p:ext uri="{BB962C8B-B14F-4D97-AF65-F5344CB8AC3E}">
        <p14:creationId xmlns:p14="http://schemas.microsoft.com/office/powerpoint/2010/main" val="1462371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39AC6-34C3-717F-01F4-6B62B88B23CF}"/>
              </a:ext>
            </a:extLst>
          </p:cNvPr>
          <p:cNvSpPr>
            <a:spLocks noGrp="1"/>
          </p:cNvSpPr>
          <p:nvPr>
            <p:ph type="title"/>
          </p:nvPr>
        </p:nvSpPr>
        <p:spPr/>
        <p:txBody>
          <a:bodyPr/>
          <a:lstStyle/>
          <a:p>
            <a:r>
              <a:rPr lang="en-US" dirty="0"/>
              <a:t>Using `dotnet`</a:t>
            </a:r>
          </a:p>
        </p:txBody>
      </p:sp>
      <p:sp>
        <p:nvSpPr>
          <p:cNvPr id="3" name="Content Placeholder 2">
            <a:extLst>
              <a:ext uri="{FF2B5EF4-FFF2-40B4-BE49-F238E27FC236}">
                <a16:creationId xmlns:a16="http://schemas.microsoft.com/office/drawing/2014/main" id="{E86748ED-A7CD-CD7C-0E96-A0CCC2F14AF7}"/>
              </a:ext>
            </a:extLst>
          </p:cNvPr>
          <p:cNvSpPr>
            <a:spLocks noGrp="1"/>
          </p:cNvSpPr>
          <p:nvPr>
            <p:ph idx="1"/>
          </p:nvPr>
        </p:nvSpPr>
        <p:spPr/>
        <p:txBody>
          <a:bodyPr/>
          <a:lstStyle/>
          <a:p>
            <a:r>
              <a:rPr lang="en-US" dirty="0"/>
              <a:t>dotnet doesn't exist on Hydra/Tesla</a:t>
            </a:r>
          </a:p>
          <a:p>
            <a:endParaRPr lang="en-US" dirty="0"/>
          </a:p>
          <a:p>
            <a:r>
              <a:rPr lang="en-US" dirty="0"/>
              <a:t>Comes with many Linux distributions like Ubuntu or </a:t>
            </a:r>
            <a:r>
              <a:rPr lang="en-US" dirty="0" err="1"/>
              <a:t>ArchLinux</a:t>
            </a:r>
            <a:endParaRPr lang="en-US" dirty="0"/>
          </a:p>
          <a:p>
            <a:endParaRPr lang="en-US" dirty="0"/>
          </a:p>
          <a:p>
            <a:r>
              <a:rPr lang="en-US" dirty="0"/>
              <a:t>dotnet new - creates a new project</a:t>
            </a:r>
          </a:p>
          <a:p>
            <a:r>
              <a:rPr lang="en-US" dirty="0"/>
              <a:t>dotnet build - builds project</a:t>
            </a:r>
          </a:p>
          <a:p>
            <a:r>
              <a:rPr lang="en-US" dirty="0"/>
              <a:t>dotnet run - runs the project</a:t>
            </a:r>
          </a:p>
          <a:p>
            <a:endParaRPr lang="en-US" dirty="0"/>
          </a:p>
          <a:p>
            <a:r>
              <a:rPr lang="en-US" dirty="0"/>
              <a:t>For newer C# versions, you must use dotnet.</a:t>
            </a:r>
          </a:p>
        </p:txBody>
      </p:sp>
    </p:spTree>
    <p:extLst>
      <p:ext uri="{BB962C8B-B14F-4D97-AF65-F5344CB8AC3E}">
        <p14:creationId xmlns:p14="http://schemas.microsoft.com/office/powerpoint/2010/main" val="433811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8DBCA-E251-55AB-49F6-5F760D6718F3}"/>
              </a:ext>
            </a:extLst>
          </p:cNvPr>
          <p:cNvSpPr>
            <a:spLocks noGrp="1"/>
          </p:cNvSpPr>
          <p:nvPr>
            <p:ph type="title"/>
          </p:nvPr>
        </p:nvSpPr>
        <p:spPr/>
        <p:txBody>
          <a:bodyPr/>
          <a:lstStyle/>
          <a:p>
            <a:r>
              <a:rPr lang="en-US">
                <a:ea typeface="Calibri Light"/>
                <a:cs typeface="Calibri Light"/>
              </a:rPr>
              <a:t>C# Compiler and Runtime</a:t>
            </a:r>
            <a:endParaRPr lang="en-US"/>
          </a:p>
        </p:txBody>
      </p:sp>
      <p:sp>
        <p:nvSpPr>
          <p:cNvPr id="3" name="Content Placeholder 2">
            <a:extLst>
              <a:ext uri="{FF2B5EF4-FFF2-40B4-BE49-F238E27FC236}">
                <a16:creationId xmlns:a16="http://schemas.microsoft.com/office/drawing/2014/main" id="{112F604D-E56F-790A-D0D5-D3C3DC23A488}"/>
              </a:ext>
            </a:extLst>
          </p:cNvPr>
          <p:cNvSpPr>
            <a:spLocks noGrp="1"/>
          </p:cNvSpPr>
          <p:nvPr>
            <p:ph idx="1"/>
          </p:nvPr>
        </p:nvSpPr>
        <p:spPr/>
        <p:txBody>
          <a:bodyPr vert="horz" lIns="91440" tIns="45720" rIns="91440" bIns="45720" rtlCol="0" anchor="t">
            <a:normAutofit/>
          </a:bodyPr>
          <a:lstStyle/>
          <a:p>
            <a:r>
              <a:rPr lang="en-US">
                <a:ea typeface="Calibri"/>
                <a:cs typeface="Calibri"/>
              </a:rPr>
              <a:t>C# compiles into MSIL </a:t>
            </a:r>
          </a:p>
          <a:p>
            <a:pPr lvl="1">
              <a:buFont typeface="Courier New" panose="020B0604020202020204" pitchFamily="34" charset="0"/>
              <a:buChar char="o"/>
            </a:pPr>
            <a:r>
              <a:rPr lang="en-US">
                <a:ea typeface="Calibri"/>
                <a:cs typeface="Calibri"/>
              </a:rPr>
              <a:t>Microsoft Intermediate Language</a:t>
            </a:r>
          </a:p>
          <a:p>
            <a:pPr lvl="2">
              <a:buFont typeface="Wingdings" panose="020B0604020202020204" pitchFamily="34" charset="0"/>
              <a:buChar char="§"/>
            </a:pPr>
            <a:r>
              <a:rPr lang="en-US">
                <a:ea typeface="Calibri"/>
                <a:cs typeface="Calibri"/>
              </a:rPr>
              <a:t>MS's "bytecode"</a:t>
            </a:r>
          </a:p>
          <a:p>
            <a:pPr lvl="1">
              <a:buFont typeface="Courier New" panose="020B0604020202020204" pitchFamily="34" charset="0"/>
              <a:buChar char="o"/>
            </a:pPr>
            <a:r>
              <a:rPr lang="en-US">
                <a:ea typeface="Calibri"/>
                <a:cs typeface="Calibri"/>
              </a:rPr>
              <a:t>Linker takes MSIL and generates a "portable executable" (PE)</a:t>
            </a:r>
          </a:p>
          <a:p>
            <a:endParaRPr lang="en-US">
              <a:ea typeface="Calibri"/>
              <a:cs typeface="Calibri"/>
            </a:endParaRPr>
          </a:p>
          <a:p>
            <a:r>
              <a:rPr lang="en-US">
                <a:ea typeface="Calibri"/>
                <a:cs typeface="Calibri"/>
              </a:rPr>
              <a:t>C# runs on top of .NET</a:t>
            </a:r>
          </a:p>
          <a:p>
            <a:pPr lvl="1">
              <a:buFont typeface="Courier New" panose="020B0604020202020204" pitchFamily="34" charset="0"/>
              <a:buChar char="o"/>
            </a:pPr>
            <a:r>
              <a:rPr lang="en-US">
                <a:ea typeface="Calibri"/>
                <a:cs typeface="Calibri"/>
              </a:rPr>
              <a:t>.NET is a virtual machine much like Java's VM</a:t>
            </a:r>
          </a:p>
          <a:p>
            <a:pPr lvl="1">
              <a:buFont typeface="Courier New" panose="020B0604020202020204" pitchFamily="34" charset="0"/>
              <a:buChar char="o"/>
            </a:pPr>
            <a:r>
              <a:rPr lang="en-US">
                <a:ea typeface="Calibri"/>
                <a:cs typeface="Calibri"/>
              </a:rPr>
              <a:t>We use the "mono" virtual machine on Hydra/Tesla machines</a:t>
            </a:r>
          </a:p>
        </p:txBody>
      </p:sp>
    </p:spTree>
    <p:extLst>
      <p:ext uri="{BB962C8B-B14F-4D97-AF65-F5344CB8AC3E}">
        <p14:creationId xmlns:p14="http://schemas.microsoft.com/office/powerpoint/2010/main" val="383064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B680-BD75-1701-11F6-D69AF47DAFE1}"/>
              </a:ext>
            </a:extLst>
          </p:cNvPr>
          <p:cNvSpPr>
            <a:spLocks noGrp="1"/>
          </p:cNvSpPr>
          <p:nvPr>
            <p:ph type="title"/>
          </p:nvPr>
        </p:nvSpPr>
        <p:spPr/>
        <p:txBody>
          <a:bodyPr/>
          <a:lstStyle/>
          <a:p>
            <a:r>
              <a:rPr lang="en-US">
                <a:ea typeface="Calibri Light"/>
                <a:cs typeface="Calibri Light"/>
              </a:rPr>
              <a:t>Libraries</a:t>
            </a:r>
            <a:endParaRPr lang="en-US"/>
          </a:p>
        </p:txBody>
      </p:sp>
      <p:sp>
        <p:nvSpPr>
          <p:cNvPr id="3" name="Content Placeholder 2">
            <a:extLst>
              <a:ext uri="{FF2B5EF4-FFF2-40B4-BE49-F238E27FC236}">
                <a16:creationId xmlns:a16="http://schemas.microsoft.com/office/drawing/2014/main" id="{B509E32C-08A7-EFEA-A616-44CCE600D4DE}"/>
              </a:ext>
            </a:extLst>
          </p:cNvPr>
          <p:cNvSpPr>
            <a:spLocks noGrp="1"/>
          </p:cNvSpPr>
          <p:nvPr>
            <p:ph idx="1"/>
          </p:nvPr>
        </p:nvSpPr>
        <p:spPr/>
        <p:txBody>
          <a:bodyPr vert="horz" lIns="91440" tIns="45720" rIns="91440" bIns="45720" rtlCol="0" anchor="t">
            <a:normAutofit lnSpcReduction="10000"/>
          </a:bodyPr>
          <a:lstStyle/>
          <a:p>
            <a:r>
              <a:rPr lang="en-US">
                <a:ea typeface="Calibri"/>
                <a:cs typeface="Calibri"/>
              </a:rPr>
              <a:t>Libraries are added in the compiler command</a:t>
            </a:r>
          </a:p>
          <a:p>
            <a:pPr lvl="1">
              <a:buFont typeface="Courier New" panose="020B0604020202020204" pitchFamily="34" charset="0"/>
              <a:buChar char="o"/>
            </a:pPr>
            <a:r>
              <a:rPr lang="en-US">
                <a:ea typeface="Calibri"/>
                <a:cs typeface="Calibri"/>
              </a:rPr>
              <a:t>Libraries are called </a:t>
            </a:r>
            <a:r>
              <a:rPr lang="en-US" b="1">
                <a:ea typeface="Calibri"/>
                <a:cs typeface="Calibri"/>
              </a:rPr>
              <a:t>assemblies.</a:t>
            </a:r>
            <a:endParaRPr lang="en-US">
              <a:ea typeface="Calibri"/>
              <a:cs typeface="Calibri"/>
            </a:endParaRPr>
          </a:p>
          <a:p>
            <a:pPr lvl="1">
              <a:buFont typeface="Courier New" panose="020B0604020202020204" pitchFamily="34" charset="0"/>
              <a:buChar char="o"/>
            </a:pPr>
            <a:r>
              <a:rPr lang="en-US">
                <a:ea typeface="Calibri"/>
                <a:cs typeface="Calibri"/>
              </a:rPr>
              <a:t>Adding libraries is called linking an assembly.</a:t>
            </a:r>
          </a:p>
          <a:p>
            <a:endParaRPr lang="en-US">
              <a:ea typeface="Calibri"/>
              <a:cs typeface="Calibri"/>
            </a:endParaRPr>
          </a:p>
          <a:p>
            <a:r>
              <a:rPr lang="en-US">
                <a:ea typeface="Calibri"/>
                <a:cs typeface="Calibri"/>
              </a:rPr>
              <a:t>System library is automatically linked.</a:t>
            </a:r>
          </a:p>
          <a:p>
            <a:pPr lvl="1">
              <a:buFont typeface="Courier New" panose="020B0604020202020204" pitchFamily="34" charset="0"/>
              <a:buChar char="o"/>
            </a:pPr>
            <a:r>
              <a:rPr lang="en-US">
                <a:ea typeface="Calibri"/>
                <a:cs typeface="Calibri"/>
              </a:rPr>
              <a:t>Many things under the System library</a:t>
            </a:r>
          </a:p>
          <a:p>
            <a:pPr lvl="2">
              <a:buFont typeface="Wingdings" panose="020B0604020202020204" pitchFamily="34" charset="0"/>
              <a:buChar char="§"/>
            </a:pPr>
            <a:r>
              <a:rPr lang="en-US">
                <a:ea typeface="Calibri"/>
                <a:cs typeface="Calibri"/>
              </a:rPr>
              <a:t>using System;</a:t>
            </a:r>
          </a:p>
          <a:p>
            <a:pPr lvl="1">
              <a:buFont typeface="Courier New" panose="020B0604020202020204" pitchFamily="34" charset="0"/>
              <a:buChar char="o"/>
            </a:pPr>
            <a:r>
              <a:rPr lang="en-US">
                <a:ea typeface="Calibri"/>
                <a:cs typeface="Calibri"/>
              </a:rPr>
              <a:t>Subclasses are not necessarily in the same assembly.</a:t>
            </a:r>
          </a:p>
          <a:p>
            <a:pPr lvl="2">
              <a:buFont typeface="Wingdings" panose="020B0604020202020204" pitchFamily="34" charset="0"/>
              <a:buChar char="§"/>
            </a:pPr>
            <a:r>
              <a:rPr lang="en-US">
                <a:ea typeface="Calibri"/>
                <a:cs typeface="Calibri"/>
              </a:rPr>
              <a:t>using </a:t>
            </a:r>
            <a:r>
              <a:rPr lang="en-US" err="1">
                <a:ea typeface="Calibri"/>
                <a:cs typeface="Calibri"/>
              </a:rPr>
              <a:t>System.Collections</a:t>
            </a:r>
            <a:r>
              <a:rPr lang="en-US">
                <a:ea typeface="Calibri"/>
                <a:cs typeface="Calibri"/>
              </a:rPr>
              <a:t>;</a:t>
            </a:r>
          </a:p>
          <a:p>
            <a:pPr lvl="3"/>
            <a:r>
              <a:rPr lang="en-US">
                <a:ea typeface="Calibri"/>
                <a:cs typeface="Calibri"/>
              </a:rPr>
              <a:t>Is NOT in</a:t>
            </a:r>
          </a:p>
          <a:p>
            <a:pPr lvl="2">
              <a:buFont typeface="Wingdings" panose="020B0604020202020204" pitchFamily="34" charset="0"/>
              <a:buChar char="§"/>
            </a:pPr>
            <a:r>
              <a:rPr lang="en-US">
                <a:ea typeface="Calibri"/>
                <a:cs typeface="Calibri"/>
              </a:rPr>
              <a:t>using System;</a:t>
            </a:r>
          </a:p>
          <a:p>
            <a:pPr lvl="1">
              <a:buFont typeface="Courier New" panose="020B0604020202020204" pitchFamily="34" charset="0"/>
              <a:buChar char="o"/>
            </a:pPr>
            <a:endParaRPr lang="en-US">
              <a:ea typeface="Calibri"/>
              <a:cs typeface="Calibri"/>
            </a:endParaRPr>
          </a:p>
        </p:txBody>
      </p:sp>
    </p:spTree>
    <p:extLst>
      <p:ext uri="{BB962C8B-B14F-4D97-AF65-F5344CB8AC3E}">
        <p14:creationId xmlns:p14="http://schemas.microsoft.com/office/powerpoint/2010/main" val="2195960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6DF8-D83D-A245-2624-9262C9C443CA}"/>
              </a:ext>
            </a:extLst>
          </p:cNvPr>
          <p:cNvSpPr>
            <a:spLocks noGrp="1"/>
          </p:cNvSpPr>
          <p:nvPr>
            <p:ph type="title"/>
          </p:nvPr>
        </p:nvSpPr>
        <p:spPr/>
        <p:txBody>
          <a:bodyPr/>
          <a:lstStyle/>
          <a:p>
            <a:r>
              <a:rPr lang="en-US">
                <a:ea typeface="Calibri Light"/>
                <a:cs typeface="Calibri Light"/>
              </a:rPr>
              <a:t>Entry Point</a:t>
            </a:r>
            <a:endParaRPr lang="en-US"/>
          </a:p>
        </p:txBody>
      </p:sp>
      <p:sp>
        <p:nvSpPr>
          <p:cNvPr id="3" name="Content Placeholder 2">
            <a:extLst>
              <a:ext uri="{FF2B5EF4-FFF2-40B4-BE49-F238E27FC236}">
                <a16:creationId xmlns:a16="http://schemas.microsoft.com/office/drawing/2014/main" id="{1314A66E-BD05-E980-BDB8-C83B4BE71A86}"/>
              </a:ext>
            </a:extLst>
          </p:cNvPr>
          <p:cNvSpPr>
            <a:spLocks noGrp="1"/>
          </p:cNvSpPr>
          <p:nvPr>
            <p:ph idx="1"/>
          </p:nvPr>
        </p:nvSpPr>
        <p:spPr/>
        <p:txBody>
          <a:bodyPr vert="horz" lIns="91440" tIns="45720" rIns="91440" bIns="45720" rtlCol="0" anchor="t">
            <a:normAutofit/>
          </a:bodyPr>
          <a:lstStyle/>
          <a:p>
            <a:r>
              <a:rPr lang="en-US">
                <a:ea typeface="Calibri"/>
                <a:cs typeface="Calibri"/>
              </a:rPr>
              <a:t>Just like Java: C#'s Main() must be in a class.</a:t>
            </a:r>
          </a:p>
          <a:p>
            <a:pPr lvl="1">
              <a:buFont typeface="Courier New" panose="020B0604020202020204" pitchFamily="34" charset="0"/>
              <a:buChar char="o"/>
            </a:pPr>
            <a:r>
              <a:rPr lang="en-US">
                <a:solidFill>
                  <a:srgbClr val="0070C0"/>
                </a:solidFill>
                <a:latin typeface="Fira Code"/>
                <a:ea typeface="Calibri"/>
                <a:cs typeface="Calibri"/>
              </a:rPr>
              <a:t>public</a:t>
            </a:r>
            <a:r>
              <a:rPr lang="en-US">
                <a:latin typeface="Fira Code"/>
                <a:ea typeface="Calibri"/>
                <a:cs typeface="Calibri"/>
              </a:rPr>
              <a:t> </a:t>
            </a:r>
            <a:r>
              <a:rPr lang="en-US">
                <a:solidFill>
                  <a:srgbClr val="0070C0"/>
                </a:solidFill>
                <a:latin typeface="Fira Code"/>
                <a:ea typeface="Calibri"/>
                <a:cs typeface="Calibri"/>
              </a:rPr>
              <a:t>static void</a:t>
            </a:r>
            <a:r>
              <a:rPr lang="en-US">
                <a:latin typeface="Fira Code"/>
                <a:ea typeface="Calibri"/>
                <a:cs typeface="Calibri"/>
              </a:rPr>
              <a:t> Main(</a:t>
            </a:r>
            <a:r>
              <a:rPr lang="en-US">
                <a:solidFill>
                  <a:srgbClr val="0070C0"/>
                </a:solidFill>
                <a:latin typeface="Fira Code"/>
                <a:ea typeface="Calibri"/>
                <a:cs typeface="Calibri"/>
              </a:rPr>
              <a:t>string</a:t>
            </a:r>
            <a:r>
              <a:rPr lang="en-US">
                <a:latin typeface="Fira Code"/>
                <a:ea typeface="Calibri"/>
                <a:cs typeface="Calibri"/>
              </a:rPr>
              <a:t>[] </a:t>
            </a:r>
            <a:r>
              <a:rPr lang="en-US" err="1">
                <a:latin typeface="Fira Code"/>
                <a:ea typeface="Calibri"/>
                <a:cs typeface="Calibri"/>
              </a:rPr>
              <a:t>args</a:t>
            </a:r>
            <a:r>
              <a:rPr lang="en-US">
                <a:latin typeface="Fira Code"/>
                <a:ea typeface="Calibri"/>
                <a:cs typeface="Calibri"/>
              </a:rPr>
              <a:t>)</a:t>
            </a:r>
          </a:p>
          <a:p>
            <a:pPr lvl="1">
              <a:buFont typeface="Courier New" panose="020B0604020202020204" pitchFamily="34" charset="0"/>
              <a:buChar char="o"/>
            </a:pPr>
            <a:endParaRPr lang="en-US">
              <a:latin typeface="Fira Code"/>
              <a:ea typeface="Calibri"/>
              <a:cs typeface="Calibri"/>
            </a:endParaRPr>
          </a:p>
          <a:p>
            <a:r>
              <a:rPr lang="en-US">
                <a:latin typeface="Calibri"/>
                <a:ea typeface="Calibri"/>
                <a:cs typeface="Calibri"/>
              </a:rPr>
              <a:t>Notice the capitalization of Main and string[].</a:t>
            </a:r>
          </a:p>
          <a:p>
            <a:pPr lvl="1">
              <a:buFont typeface="Courier New" panose="020B0604020202020204" pitchFamily="34" charset="0"/>
              <a:buChar char="o"/>
            </a:pPr>
            <a:r>
              <a:rPr lang="en-US">
                <a:latin typeface="Calibri"/>
                <a:ea typeface="Calibri"/>
                <a:cs typeface="Calibri"/>
              </a:rPr>
              <a:t>This differs from Java's convention.</a:t>
            </a:r>
          </a:p>
          <a:p>
            <a:pPr lvl="2">
              <a:buFont typeface="Wingdings" panose="020B0604020202020204" pitchFamily="34" charset="0"/>
              <a:buChar char="§"/>
            </a:pPr>
            <a:r>
              <a:rPr lang="en-US">
                <a:latin typeface="Calibri"/>
                <a:ea typeface="Calibri"/>
                <a:cs typeface="Calibri"/>
              </a:rPr>
              <a:t>Java: </a:t>
            </a:r>
            <a:r>
              <a:rPr lang="en-US">
                <a:latin typeface="Fira Code"/>
                <a:ea typeface="Calibri"/>
                <a:cs typeface="Calibri"/>
              </a:rPr>
              <a:t>public static void main(String[] </a:t>
            </a:r>
            <a:r>
              <a:rPr lang="en-US" err="1">
                <a:latin typeface="Fira Code"/>
                <a:ea typeface="Calibri"/>
                <a:cs typeface="Calibri"/>
              </a:rPr>
              <a:t>args</a:t>
            </a:r>
            <a:r>
              <a:rPr lang="en-US">
                <a:latin typeface="Fira Code"/>
                <a:ea typeface="Calibri"/>
                <a:cs typeface="Calibri"/>
              </a:rPr>
              <a:t>)</a:t>
            </a:r>
          </a:p>
        </p:txBody>
      </p:sp>
    </p:spTree>
    <p:extLst>
      <p:ext uri="{BB962C8B-B14F-4D97-AF65-F5344CB8AC3E}">
        <p14:creationId xmlns:p14="http://schemas.microsoft.com/office/powerpoint/2010/main" val="2737855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F82DB-14F7-CAE7-68A1-3971C5294714}"/>
              </a:ext>
            </a:extLst>
          </p:cNvPr>
          <p:cNvSpPr>
            <a:spLocks noGrp="1"/>
          </p:cNvSpPr>
          <p:nvPr>
            <p:ph type="title"/>
          </p:nvPr>
        </p:nvSpPr>
        <p:spPr/>
        <p:txBody>
          <a:bodyPr/>
          <a:lstStyle/>
          <a:p>
            <a:r>
              <a:rPr lang="en-US"/>
              <a:t>Primitives</a:t>
            </a:r>
          </a:p>
        </p:txBody>
      </p:sp>
      <p:sp>
        <p:nvSpPr>
          <p:cNvPr id="3" name="Content Placeholder 2">
            <a:extLst>
              <a:ext uri="{FF2B5EF4-FFF2-40B4-BE49-F238E27FC236}">
                <a16:creationId xmlns:a16="http://schemas.microsoft.com/office/drawing/2014/main" id="{E042571F-1C9E-1CC4-1839-618CE60561A0}"/>
              </a:ext>
            </a:extLst>
          </p:cNvPr>
          <p:cNvSpPr>
            <a:spLocks noGrp="1"/>
          </p:cNvSpPr>
          <p:nvPr>
            <p:ph idx="1"/>
          </p:nvPr>
        </p:nvSpPr>
        <p:spPr/>
        <p:txBody>
          <a:bodyPr>
            <a:noAutofit/>
          </a:bodyPr>
          <a:lstStyle/>
          <a:p>
            <a:r>
              <a:rPr lang="en-US" sz="2000"/>
              <a:t>Primitives: int, char, byte, long, string, </a:t>
            </a:r>
            <a:r>
              <a:rPr lang="en-US" sz="2000" err="1"/>
              <a:t>uint</a:t>
            </a:r>
            <a:r>
              <a:rPr lang="en-US" sz="2000"/>
              <a:t> (unsigned), </a:t>
            </a:r>
            <a:r>
              <a:rPr lang="en-US" sz="2000" err="1"/>
              <a:t>ulong</a:t>
            </a:r>
            <a:r>
              <a:rPr lang="en-US" sz="2000"/>
              <a:t>, float, double</a:t>
            </a:r>
          </a:p>
          <a:p>
            <a:r>
              <a:rPr lang="en-US" sz="2000"/>
              <a:t>Objective Primitives: Int16, Int32, Int64, Uint16, Uint32, Uint64</a:t>
            </a:r>
          </a:p>
          <a:p>
            <a:r>
              <a:rPr lang="en-US" sz="2000"/>
              <a:t>Arrays: int[], char[], long[], string[]</a:t>
            </a:r>
          </a:p>
          <a:p>
            <a:r>
              <a:rPr lang="en-US" sz="2000"/>
              <a:t>Structs are stack-based values</a:t>
            </a:r>
          </a:p>
          <a:p>
            <a:r>
              <a:rPr lang="en-US" sz="2000"/>
              <a:t>Classes are heap-based objects</a:t>
            </a:r>
          </a:p>
          <a:p>
            <a:pPr lvl="1"/>
            <a:r>
              <a:rPr lang="en-US" sz="1800"/>
              <a:t>Allocate a class using the “new” operator</a:t>
            </a:r>
          </a:p>
          <a:p>
            <a:pPr lvl="1"/>
            <a:r>
              <a:rPr lang="en-US" sz="1800"/>
              <a:t>There is NO delete</a:t>
            </a:r>
          </a:p>
          <a:p>
            <a:pPr lvl="1"/>
            <a:r>
              <a:rPr lang="en-US" sz="1800"/>
              <a:t>Uses garbage collection (GC)</a:t>
            </a:r>
          </a:p>
          <a:p>
            <a:r>
              <a:rPr lang="en-US" sz="2000"/>
              <a:t>Pointers function much the same way as C++</a:t>
            </a:r>
          </a:p>
          <a:p>
            <a:pPr lvl="1"/>
            <a:r>
              <a:rPr lang="en-US" sz="1800"/>
              <a:t>char *</a:t>
            </a:r>
            <a:r>
              <a:rPr lang="en-US" sz="1800" err="1"/>
              <a:t>character_pointer</a:t>
            </a:r>
            <a:r>
              <a:rPr lang="en-US" sz="1800"/>
              <a:t>;</a:t>
            </a:r>
          </a:p>
          <a:p>
            <a:pPr lvl="1"/>
            <a:r>
              <a:rPr lang="en-US" sz="1800"/>
              <a:t>int *</a:t>
            </a:r>
            <a:r>
              <a:rPr lang="en-US" sz="1800" err="1"/>
              <a:t>integer_pointer</a:t>
            </a:r>
            <a:r>
              <a:rPr lang="en-US" sz="1800"/>
              <a:t>;</a:t>
            </a:r>
          </a:p>
          <a:p>
            <a:pPr lvl="2"/>
            <a:r>
              <a:rPr lang="en-US" sz="1600"/>
              <a:t>Pointers should be avoided in C#</a:t>
            </a:r>
          </a:p>
        </p:txBody>
      </p:sp>
    </p:spTree>
    <p:extLst>
      <p:ext uri="{BB962C8B-B14F-4D97-AF65-F5344CB8AC3E}">
        <p14:creationId xmlns:p14="http://schemas.microsoft.com/office/powerpoint/2010/main" val="4272501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936E-B2C6-F9B6-8B3E-4779920B59C1}"/>
              </a:ext>
            </a:extLst>
          </p:cNvPr>
          <p:cNvSpPr>
            <a:spLocks noGrp="1"/>
          </p:cNvSpPr>
          <p:nvPr>
            <p:ph type="title"/>
          </p:nvPr>
        </p:nvSpPr>
        <p:spPr/>
        <p:txBody>
          <a:bodyPr/>
          <a:lstStyle/>
          <a:p>
            <a:r>
              <a:rPr lang="en-US"/>
              <a:t>Arrays</a:t>
            </a:r>
          </a:p>
        </p:txBody>
      </p:sp>
      <p:sp>
        <p:nvSpPr>
          <p:cNvPr id="3" name="Content Placeholder 2">
            <a:extLst>
              <a:ext uri="{FF2B5EF4-FFF2-40B4-BE49-F238E27FC236}">
                <a16:creationId xmlns:a16="http://schemas.microsoft.com/office/drawing/2014/main" id="{479AFFDA-74BC-CDB7-3768-D4EC4284B1F3}"/>
              </a:ext>
            </a:extLst>
          </p:cNvPr>
          <p:cNvSpPr>
            <a:spLocks noGrp="1"/>
          </p:cNvSpPr>
          <p:nvPr>
            <p:ph idx="1"/>
          </p:nvPr>
        </p:nvSpPr>
        <p:spPr/>
        <p:txBody>
          <a:bodyPr>
            <a:noAutofit/>
          </a:bodyPr>
          <a:lstStyle/>
          <a:p>
            <a:r>
              <a:rPr lang="en-US" sz="2400"/>
              <a:t>Arrays are allocated on the heap</a:t>
            </a:r>
          </a:p>
          <a:p>
            <a:endParaRPr lang="en-US" sz="2400"/>
          </a:p>
          <a:p>
            <a:r>
              <a:rPr lang="en-US" sz="2400">
                <a:solidFill>
                  <a:srgbClr val="0070C0"/>
                </a:solidFill>
              </a:rPr>
              <a:t>double</a:t>
            </a:r>
            <a:r>
              <a:rPr lang="en-US" sz="2400"/>
              <a:t>[] </a:t>
            </a:r>
            <a:r>
              <a:rPr lang="en-US" sz="2400" err="1"/>
              <a:t>many_doubles</a:t>
            </a:r>
            <a:r>
              <a:rPr lang="en-US" sz="2400"/>
              <a:t> = </a:t>
            </a:r>
            <a:r>
              <a:rPr lang="en-US" sz="2400">
                <a:solidFill>
                  <a:srgbClr val="0070C0"/>
                </a:solidFill>
              </a:rPr>
              <a:t>new</a:t>
            </a:r>
            <a:r>
              <a:rPr lang="en-US" sz="2400"/>
              <a:t> </a:t>
            </a:r>
            <a:r>
              <a:rPr lang="en-US" sz="2400">
                <a:solidFill>
                  <a:srgbClr val="0070C0"/>
                </a:solidFill>
              </a:rPr>
              <a:t>double</a:t>
            </a:r>
            <a:r>
              <a:rPr lang="en-US" sz="2400"/>
              <a:t>[50];</a:t>
            </a:r>
          </a:p>
          <a:p>
            <a:pPr lvl="1"/>
            <a:r>
              <a:rPr lang="en-US" sz="2000"/>
              <a:t>Notice the data type itself has empty brackets []</a:t>
            </a:r>
          </a:p>
          <a:p>
            <a:pPr lvl="1"/>
            <a:r>
              <a:rPr lang="en-US" sz="2000"/>
              <a:t>Otherwise, the new operator functions much like C++</a:t>
            </a:r>
          </a:p>
          <a:p>
            <a:pPr lvl="1"/>
            <a:endParaRPr lang="en-US" sz="2000"/>
          </a:p>
          <a:p>
            <a:r>
              <a:rPr lang="en-US" sz="2400">
                <a:solidFill>
                  <a:srgbClr val="0070C0"/>
                </a:solidFill>
              </a:rPr>
              <a:t>int</a:t>
            </a:r>
            <a:r>
              <a:rPr lang="en-US" sz="2400"/>
              <a:t>[] </a:t>
            </a:r>
            <a:r>
              <a:rPr lang="en-US" sz="2400" err="1"/>
              <a:t>many_ints</a:t>
            </a:r>
            <a:r>
              <a:rPr lang="en-US" sz="2400"/>
              <a:t> = </a:t>
            </a:r>
            <a:r>
              <a:rPr lang="en-US" sz="2400">
                <a:solidFill>
                  <a:srgbClr val="0070C0"/>
                </a:solidFill>
              </a:rPr>
              <a:t>new int</a:t>
            </a:r>
            <a:r>
              <a:rPr lang="en-US" sz="2400"/>
              <a:t>[] {1, 2, 3, 4, 5, 6, 7};</a:t>
            </a:r>
          </a:p>
          <a:p>
            <a:pPr lvl="1"/>
            <a:r>
              <a:rPr lang="en-US" sz="2000"/>
              <a:t>This form creates a new integer array with 7 elements</a:t>
            </a:r>
          </a:p>
          <a:p>
            <a:r>
              <a:rPr lang="en-US" sz="2400">
                <a:solidFill>
                  <a:srgbClr val="0070C0"/>
                </a:solidFill>
              </a:rPr>
              <a:t>int</a:t>
            </a:r>
            <a:r>
              <a:rPr lang="en-US" sz="2400"/>
              <a:t>[] </a:t>
            </a:r>
            <a:r>
              <a:rPr lang="en-US" sz="2400" err="1"/>
              <a:t>ref_to_many_ints</a:t>
            </a:r>
            <a:r>
              <a:rPr lang="en-US" sz="2400"/>
              <a:t> = </a:t>
            </a:r>
            <a:r>
              <a:rPr lang="en-US" sz="2400" err="1"/>
              <a:t>many_ints</a:t>
            </a:r>
            <a:r>
              <a:rPr lang="en-US" sz="2400"/>
              <a:t>;</a:t>
            </a:r>
          </a:p>
          <a:p>
            <a:pPr lvl="1"/>
            <a:r>
              <a:rPr lang="en-US" sz="2000"/>
              <a:t>In this case, </a:t>
            </a:r>
            <a:r>
              <a:rPr lang="en-US" sz="2000" err="1"/>
              <a:t>ref_to_many_ints</a:t>
            </a:r>
            <a:r>
              <a:rPr lang="en-US" sz="2000"/>
              <a:t> and </a:t>
            </a:r>
            <a:r>
              <a:rPr lang="en-US" sz="2000" err="1"/>
              <a:t>many_ints</a:t>
            </a:r>
            <a:r>
              <a:rPr lang="en-US" sz="2000"/>
              <a:t> point to the same memory location</a:t>
            </a:r>
          </a:p>
          <a:p>
            <a:endParaRPr lang="en-US" sz="2400"/>
          </a:p>
        </p:txBody>
      </p:sp>
    </p:spTree>
    <p:extLst>
      <p:ext uri="{BB962C8B-B14F-4D97-AF65-F5344CB8AC3E}">
        <p14:creationId xmlns:p14="http://schemas.microsoft.com/office/powerpoint/2010/main" val="3171217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D87A-CAE2-C1FA-5404-B0D0C79EE1CF}"/>
              </a:ext>
            </a:extLst>
          </p:cNvPr>
          <p:cNvSpPr>
            <a:spLocks noGrp="1"/>
          </p:cNvSpPr>
          <p:nvPr>
            <p:ph type="title"/>
          </p:nvPr>
        </p:nvSpPr>
        <p:spPr/>
        <p:txBody>
          <a:bodyPr/>
          <a:lstStyle/>
          <a:p>
            <a:r>
              <a:rPr lang="en-US"/>
              <a:t>Operators</a:t>
            </a:r>
          </a:p>
        </p:txBody>
      </p:sp>
      <p:sp>
        <p:nvSpPr>
          <p:cNvPr id="3" name="Content Placeholder 2">
            <a:extLst>
              <a:ext uri="{FF2B5EF4-FFF2-40B4-BE49-F238E27FC236}">
                <a16:creationId xmlns:a16="http://schemas.microsoft.com/office/drawing/2014/main" id="{FE0A7F33-A77E-75E0-6F27-392D9B647065}"/>
              </a:ext>
            </a:extLst>
          </p:cNvPr>
          <p:cNvSpPr>
            <a:spLocks noGrp="1"/>
          </p:cNvSpPr>
          <p:nvPr>
            <p:ph idx="1"/>
          </p:nvPr>
        </p:nvSpPr>
        <p:spPr/>
        <p:txBody>
          <a:bodyPr/>
          <a:lstStyle/>
          <a:p>
            <a:r>
              <a:rPr lang="en-US" dirty="0"/>
              <a:t>Identical to C++</a:t>
            </a:r>
          </a:p>
          <a:p>
            <a:pPr lvl="1"/>
            <a:r>
              <a:rPr lang="en-US" dirty="0">
                <a:latin typeface="Fira Code" panose="020B0809050000020004" pitchFamily="49" charset="0"/>
                <a:ea typeface="Fira Code" panose="020B0809050000020004" pitchFamily="49" charset="0"/>
              </a:rPr>
              <a:t>+  -  *  /  %  ++  --</a:t>
            </a:r>
          </a:p>
          <a:p>
            <a:pPr lvl="1"/>
            <a:r>
              <a:rPr lang="en-US" dirty="0">
                <a:latin typeface="Fira Code" panose="020B0809050000020004" pitchFamily="49" charset="0"/>
                <a:ea typeface="Fira Code" panose="020B0809050000020004" pitchFamily="49" charset="0"/>
              </a:rPr>
              <a:t>== != &gt;= &lt;= &lt; &gt;</a:t>
            </a:r>
          </a:p>
          <a:p>
            <a:pPr lvl="1"/>
            <a:r>
              <a:rPr lang="en-US" dirty="0">
                <a:latin typeface="Fira Code" panose="020B0809050000020004" pitchFamily="49" charset="0"/>
                <a:ea typeface="Fira Code" panose="020B0809050000020004" pitchFamily="49" charset="0"/>
              </a:rPr>
              <a:t>&amp;&amp;   ||   !</a:t>
            </a:r>
          </a:p>
          <a:p>
            <a:pPr lvl="1"/>
            <a:r>
              <a:rPr lang="en-US" dirty="0">
                <a:latin typeface="Fira Code" panose="020B0809050000020004" pitchFamily="49" charset="0"/>
                <a:ea typeface="Fira Code" panose="020B0809050000020004" pitchFamily="49" charset="0"/>
              </a:rPr>
              <a:t>&amp;  ^  |  ~  &lt;&lt;  &gt;&gt;</a:t>
            </a:r>
          </a:p>
          <a:p>
            <a:pPr lvl="1"/>
            <a:r>
              <a:rPr lang="en-US" dirty="0">
                <a:latin typeface="Fira Code" panose="020B0809050000020004" pitchFamily="49" charset="0"/>
                <a:ea typeface="Fira Code" panose="020B0809050000020004" pitchFamily="49" charset="0"/>
              </a:rPr>
              <a:t>=  +=  -=  *=  /=   %=  &lt;&lt;=  &gt;&gt;=  &amp;=  ^=  |=</a:t>
            </a:r>
          </a:p>
          <a:p>
            <a:pPr lvl="1"/>
            <a:r>
              <a:rPr lang="en-US" dirty="0" err="1">
                <a:latin typeface="Fira Code" panose="020B0809050000020004" pitchFamily="49" charset="0"/>
                <a:ea typeface="Fira Code" panose="020B0809050000020004" pitchFamily="49" charset="0"/>
              </a:rPr>
              <a:t>sizeof</a:t>
            </a:r>
            <a:r>
              <a:rPr lang="en-US" dirty="0">
                <a:latin typeface="Fira Code" panose="020B0809050000020004" pitchFamily="49" charset="0"/>
                <a:ea typeface="Fira Code" panose="020B0809050000020004" pitchFamily="49" charset="0"/>
              </a:rPr>
              <a:t>()   </a:t>
            </a:r>
            <a:r>
              <a:rPr lang="en-US" dirty="0" err="1">
                <a:latin typeface="Fira Code" panose="020B0809050000020004" pitchFamily="49" charset="0"/>
                <a:ea typeface="Fira Code" panose="020B0809050000020004" pitchFamily="49" charset="0"/>
              </a:rPr>
              <a:t>typeof</a:t>
            </a:r>
            <a:r>
              <a:rPr lang="en-US" dirty="0">
                <a:latin typeface="Fira Code" panose="020B0809050000020004" pitchFamily="49" charset="0"/>
                <a:ea typeface="Fira Code" panose="020B0809050000020004" pitchFamily="49" charset="0"/>
              </a:rPr>
              <a:t>()</a:t>
            </a:r>
          </a:p>
          <a:p>
            <a:endParaRPr lang="en-US" dirty="0"/>
          </a:p>
        </p:txBody>
      </p:sp>
    </p:spTree>
    <p:extLst>
      <p:ext uri="{BB962C8B-B14F-4D97-AF65-F5344CB8AC3E}">
        <p14:creationId xmlns:p14="http://schemas.microsoft.com/office/powerpoint/2010/main" val="309145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D4C8-DEF3-7397-D538-06176CE5A6E1}"/>
              </a:ext>
            </a:extLst>
          </p:cNvPr>
          <p:cNvSpPr>
            <a:spLocks noGrp="1"/>
          </p:cNvSpPr>
          <p:nvPr>
            <p:ph type="title"/>
          </p:nvPr>
        </p:nvSpPr>
        <p:spPr/>
        <p:txBody>
          <a:bodyPr/>
          <a:lstStyle/>
          <a:p>
            <a:r>
              <a:rPr lang="en-US"/>
              <a:t>Overloading</a:t>
            </a:r>
          </a:p>
        </p:txBody>
      </p:sp>
      <p:sp>
        <p:nvSpPr>
          <p:cNvPr id="3" name="Content Placeholder 2">
            <a:extLst>
              <a:ext uri="{FF2B5EF4-FFF2-40B4-BE49-F238E27FC236}">
                <a16:creationId xmlns:a16="http://schemas.microsoft.com/office/drawing/2014/main" id="{BA5759A6-3513-B7D7-9F84-D0016BB4BF50}"/>
              </a:ext>
            </a:extLst>
          </p:cNvPr>
          <p:cNvSpPr>
            <a:spLocks noGrp="1"/>
          </p:cNvSpPr>
          <p:nvPr>
            <p:ph idx="1"/>
          </p:nvPr>
        </p:nvSpPr>
        <p:spPr/>
        <p:txBody>
          <a:bodyPr>
            <a:noAutofit/>
          </a:bodyPr>
          <a:lstStyle/>
          <a:p>
            <a:r>
              <a:rPr lang="en-US" sz="2000"/>
              <a:t>Many operators can be overloaded (defined by the programmer)</a:t>
            </a:r>
          </a:p>
          <a:p>
            <a:pPr lvl="1"/>
            <a:r>
              <a:rPr lang="en-US" sz="1800"/>
              <a:t>Fewer than C++ however</a:t>
            </a:r>
          </a:p>
          <a:p>
            <a:pPr lvl="1"/>
            <a:r>
              <a:rPr lang="en-US" sz="1800"/>
              <a:t>All operators are static and first argument is class object</a:t>
            </a:r>
          </a:p>
          <a:p>
            <a:pPr lvl="1"/>
            <a:endParaRPr lang="en-US" sz="1800"/>
          </a:p>
          <a:p>
            <a:r>
              <a:rPr lang="en-US" sz="2000"/>
              <a:t>Overloadable operators:</a:t>
            </a:r>
          </a:p>
          <a:p>
            <a:pPr lvl="1"/>
            <a:r>
              <a:rPr lang="en-US" sz="1800"/>
              <a:t>(unary and binary) +, -, !, ~, ++, --, true false</a:t>
            </a:r>
          </a:p>
          <a:p>
            <a:pPr lvl="1"/>
            <a:r>
              <a:rPr lang="en-US" sz="1800"/>
              <a:t>==, !=, &lt;, &gt;, &gt;=, &lt;=</a:t>
            </a:r>
          </a:p>
          <a:p>
            <a:pPr lvl="1"/>
            <a:r>
              <a:rPr lang="en-US" sz="1800"/>
              <a:t>&amp;, |, ^, &lt;&lt;, &gt;&gt;</a:t>
            </a:r>
          </a:p>
          <a:p>
            <a:pPr lvl="1"/>
            <a:endParaRPr lang="en-US" sz="1800"/>
          </a:p>
          <a:p>
            <a:r>
              <a:rPr lang="en-US" sz="2000"/>
              <a:t>Non-overloadable:</a:t>
            </a:r>
          </a:p>
          <a:p>
            <a:pPr lvl="1"/>
            <a:r>
              <a:rPr lang="en-US" sz="1800"/>
              <a:t>&amp;&amp;, ||, [] (use indexers instead)</a:t>
            </a:r>
          </a:p>
          <a:p>
            <a:pPr lvl="1"/>
            <a:r>
              <a:rPr lang="en-US" sz="1800"/>
              <a:t>+=, -=, /=, %=, |=, ^=, &gt;&gt;=, &lt;&lt;=, and essentially any other combination operator</a:t>
            </a:r>
          </a:p>
          <a:p>
            <a:endParaRPr lang="en-US" sz="2000"/>
          </a:p>
        </p:txBody>
      </p:sp>
    </p:spTree>
    <p:extLst>
      <p:ext uri="{BB962C8B-B14F-4D97-AF65-F5344CB8AC3E}">
        <p14:creationId xmlns:p14="http://schemas.microsoft.com/office/powerpoint/2010/main" val="1277924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18D36-A748-EFA4-3D41-430752CA77C7}"/>
              </a:ext>
            </a:extLst>
          </p:cNvPr>
          <p:cNvSpPr>
            <a:spLocks noGrp="1"/>
          </p:cNvSpPr>
          <p:nvPr>
            <p:ph type="title"/>
          </p:nvPr>
        </p:nvSpPr>
        <p:spPr/>
        <p:txBody>
          <a:bodyPr/>
          <a:lstStyle/>
          <a:p>
            <a:r>
              <a:rPr lang="en-US"/>
              <a:t>Flow Control</a:t>
            </a:r>
          </a:p>
        </p:txBody>
      </p:sp>
      <p:sp>
        <p:nvSpPr>
          <p:cNvPr id="3" name="Content Placeholder 2">
            <a:extLst>
              <a:ext uri="{FF2B5EF4-FFF2-40B4-BE49-F238E27FC236}">
                <a16:creationId xmlns:a16="http://schemas.microsoft.com/office/drawing/2014/main" id="{4D94B33E-1D4E-A27A-FFE8-5A8E384741AA}"/>
              </a:ext>
            </a:extLst>
          </p:cNvPr>
          <p:cNvSpPr>
            <a:spLocks noGrp="1"/>
          </p:cNvSpPr>
          <p:nvPr>
            <p:ph idx="1"/>
          </p:nvPr>
        </p:nvSpPr>
        <p:spPr/>
        <p:txBody>
          <a:bodyPr/>
          <a:lstStyle/>
          <a:p>
            <a:r>
              <a:rPr lang="en-US"/>
              <a:t>C# uses many of the same statements as C++</a:t>
            </a:r>
          </a:p>
          <a:p>
            <a:pPr lvl="1"/>
            <a:r>
              <a:rPr lang="en-US"/>
              <a:t>if</a:t>
            </a:r>
          </a:p>
          <a:p>
            <a:pPr lvl="1"/>
            <a:r>
              <a:rPr lang="en-US"/>
              <a:t>if...else if</a:t>
            </a:r>
          </a:p>
          <a:p>
            <a:pPr lvl="1"/>
            <a:r>
              <a:rPr lang="en-US"/>
              <a:t>if...else</a:t>
            </a:r>
          </a:p>
          <a:p>
            <a:pPr lvl="1"/>
            <a:r>
              <a:rPr lang="en-US"/>
              <a:t>switch</a:t>
            </a:r>
          </a:p>
          <a:p>
            <a:pPr lvl="1"/>
            <a:r>
              <a:rPr lang="en-US"/>
              <a:t>Ternary operator: ?</a:t>
            </a:r>
          </a:p>
          <a:p>
            <a:endParaRPr lang="en-US"/>
          </a:p>
        </p:txBody>
      </p:sp>
    </p:spTree>
    <p:extLst>
      <p:ext uri="{BB962C8B-B14F-4D97-AF65-F5344CB8AC3E}">
        <p14:creationId xmlns:p14="http://schemas.microsoft.com/office/powerpoint/2010/main" val="2064659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1CA41-C247-6238-6188-957223415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5E12D-F3ED-E940-0B89-3520CC74B8B1}"/>
              </a:ext>
            </a:extLst>
          </p:cNvPr>
          <p:cNvSpPr>
            <a:spLocks noGrp="1"/>
          </p:cNvSpPr>
          <p:nvPr>
            <p:ph type="title"/>
          </p:nvPr>
        </p:nvSpPr>
        <p:spPr/>
        <p:txBody>
          <a:bodyPr/>
          <a:lstStyle/>
          <a:p>
            <a:r>
              <a:rPr lang="en-US"/>
              <a:t>Auto-Derived Data</a:t>
            </a:r>
          </a:p>
        </p:txBody>
      </p:sp>
      <p:sp>
        <p:nvSpPr>
          <p:cNvPr id="3" name="Content Placeholder 2">
            <a:extLst>
              <a:ext uri="{FF2B5EF4-FFF2-40B4-BE49-F238E27FC236}">
                <a16:creationId xmlns:a16="http://schemas.microsoft.com/office/drawing/2014/main" id="{D8E42093-709A-C4CF-50DE-46CB79F6D096}"/>
              </a:ext>
            </a:extLst>
          </p:cNvPr>
          <p:cNvSpPr>
            <a:spLocks noGrp="1"/>
          </p:cNvSpPr>
          <p:nvPr>
            <p:ph idx="1"/>
          </p:nvPr>
        </p:nvSpPr>
        <p:spPr/>
        <p:txBody>
          <a:bodyPr>
            <a:normAutofit/>
          </a:bodyPr>
          <a:lstStyle/>
          <a:p>
            <a:r>
              <a:rPr lang="en-US" sz="2000"/>
              <a:t>var keyword</a:t>
            </a:r>
          </a:p>
          <a:p>
            <a:endParaRPr lang="en-US" sz="2000"/>
          </a:p>
          <a:p>
            <a:pPr marL="0" indent="0">
              <a:buNone/>
            </a:pP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var</a:t>
            </a:r>
            <a:r>
              <a:rPr lang="en-US" sz="2000">
                <a:latin typeface="Fira Code" panose="020B0809050000020004" pitchFamily="49" charset="0"/>
                <a:ea typeface="Fira Code" panose="020B0809050000020004" pitchFamily="49" charset="0"/>
                <a:cs typeface="Fira Code" panose="020B0809050000020004" pitchFamily="49" charset="0"/>
              </a:rPr>
              <a:t> a = 1234;  </a:t>
            </a: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a is an integer due to the literal 1234</a:t>
            </a:r>
          </a:p>
          <a:p>
            <a:pPr marL="0" indent="0">
              <a:buNone/>
            </a:pP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var</a:t>
            </a:r>
            <a:r>
              <a:rPr lang="en-US" sz="2000">
                <a:latin typeface="Fira Code" panose="020B0809050000020004" pitchFamily="49" charset="0"/>
                <a:ea typeface="Fira Code" panose="020B0809050000020004" pitchFamily="49" charset="0"/>
                <a:cs typeface="Fira Code" panose="020B0809050000020004" pitchFamily="49" charset="0"/>
              </a:rPr>
              <a:t> b = 1.2;   </a:t>
            </a: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b is a double due to the literal 1.2</a:t>
            </a:r>
          </a:p>
        </p:txBody>
      </p:sp>
    </p:spTree>
    <p:extLst>
      <p:ext uri="{BB962C8B-B14F-4D97-AF65-F5344CB8AC3E}">
        <p14:creationId xmlns:p14="http://schemas.microsoft.com/office/powerpoint/2010/main" val="2720356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9077-9526-0E3D-2715-A784FB7576C7}"/>
              </a:ext>
            </a:extLst>
          </p:cNvPr>
          <p:cNvSpPr>
            <a:spLocks noGrp="1"/>
          </p:cNvSpPr>
          <p:nvPr>
            <p:ph type="title"/>
          </p:nvPr>
        </p:nvSpPr>
        <p:spPr/>
        <p:txBody>
          <a:bodyPr/>
          <a:lstStyle/>
          <a:p>
            <a:r>
              <a:rPr lang="en-US"/>
              <a:t>Converting and Casting</a:t>
            </a:r>
          </a:p>
        </p:txBody>
      </p:sp>
      <p:sp>
        <p:nvSpPr>
          <p:cNvPr id="3" name="Content Placeholder 2">
            <a:extLst>
              <a:ext uri="{FF2B5EF4-FFF2-40B4-BE49-F238E27FC236}">
                <a16:creationId xmlns:a16="http://schemas.microsoft.com/office/drawing/2014/main" id="{05BD2C01-44C2-C214-53D0-564405DC9888}"/>
              </a:ext>
            </a:extLst>
          </p:cNvPr>
          <p:cNvSpPr>
            <a:spLocks noGrp="1"/>
          </p:cNvSpPr>
          <p:nvPr>
            <p:ph idx="1"/>
          </p:nvPr>
        </p:nvSpPr>
        <p:spPr/>
        <p:txBody>
          <a:bodyPr>
            <a:noAutofit/>
          </a:bodyPr>
          <a:lstStyle/>
          <a:p>
            <a:r>
              <a:rPr lang="en-US" sz="2400"/>
              <a:t>Casting is like C</a:t>
            </a:r>
          </a:p>
          <a:p>
            <a:pPr lvl="1"/>
            <a:r>
              <a:rPr lang="en-US" sz="2000">
                <a:solidFill>
                  <a:srgbClr val="0070C0"/>
                </a:solidFill>
              </a:rPr>
              <a:t>var</a:t>
            </a:r>
            <a:r>
              <a:rPr lang="en-US" sz="2000"/>
              <a:t> </a:t>
            </a:r>
            <a:r>
              <a:rPr lang="en-US" sz="2000" err="1"/>
              <a:t>new_data</a:t>
            </a:r>
            <a:r>
              <a:rPr lang="en-US" sz="2000"/>
              <a:t> = (</a:t>
            </a:r>
            <a:r>
              <a:rPr lang="en-US" sz="2000">
                <a:solidFill>
                  <a:srgbClr val="0070C0"/>
                </a:solidFill>
              </a:rPr>
              <a:t>type</a:t>
            </a:r>
            <a:r>
              <a:rPr lang="en-US" sz="2000"/>
              <a:t>)data;</a:t>
            </a:r>
          </a:p>
          <a:p>
            <a:pPr lvl="1"/>
            <a:endParaRPr lang="en-US" sz="2000"/>
          </a:p>
          <a:p>
            <a:r>
              <a:rPr lang="en-US" sz="2400"/>
              <a:t>Class polymorphism uses </a:t>
            </a:r>
            <a:r>
              <a:rPr lang="en-US" sz="2400" u="sng">
                <a:latin typeface="Fira Code" panose="020B0809050000020004" pitchFamily="49" charset="0"/>
                <a:ea typeface="Fira Code" panose="020B0809050000020004" pitchFamily="49" charset="0"/>
                <a:cs typeface="Fira Code" panose="020B0809050000020004" pitchFamily="49" charset="0"/>
              </a:rPr>
              <a:t>as</a:t>
            </a:r>
            <a:r>
              <a:rPr lang="en-US" sz="2400"/>
              <a:t> keyword</a:t>
            </a:r>
          </a:p>
          <a:p>
            <a:pPr lvl="1"/>
            <a:r>
              <a:rPr lang="en-US" sz="2000"/>
              <a:t>This is covered under the object-oriented section.</a:t>
            </a:r>
          </a:p>
          <a:p>
            <a:pPr lvl="1"/>
            <a:endParaRPr lang="en-US" sz="2000"/>
          </a:p>
          <a:p>
            <a:r>
              <a:rPr lang="en-US" sz="2400"/>
              <a:t>Converting data types can use the Convert class</a:t>
            </a:r>
          </a:p>
          <a:p>
            <a:pPr lvl="1"/>
            <a:r>
              <a:rPr lang="en-US" sz="2000">
                <a:hlinkClick r:id="rId2"/>
              </a:rPr>
              <a:t>https://learn.microsoft.com/en-us/dotnet/api/system.convert</a:t>
            </a:r>
            <a:endParaRPr lang="en-US" sz="2000"/>
          </a:p>
          <a:p>
            <a:pPr lvl="1"/>
            <a:endParaRPr lang="en-US" sz="2000"/>
          </a:p>
          <a:p>
            <a:r>
              <a:rPr lang="en-US" sz="2400"/>
              <a:t>Converting </a:t>
            </a:r>
            <a:r>
              <a:rPr lang="en-US" sz="2400" u="sng"/>
              <a:t>from</a:t>
            </a:r>
            <a:r>
              <a:rPr lang="en-US" sz="2400"/>
              <a:t> string can use the Parse() functions.</a:t>
            </a:r>
          </a:p>
        </p:txBody>
      </p:sp>
    </p:spTree>
    <p:extLst>
      <p:ext uri="{BB962C8B-B14F-4D97-AF65-F5344CB8AC3E}">
        <p14:creationId xmlns:p14="http://schemas.microsoft.com/office/powerpoint/2010/main" val="2844807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4EC3-CDB3-595C-B620-ADE6C0639338}"/>
              </a:ext>
            </a:extLst>
          </p:cNvPr>
          <p:cNvSpPr>
            <a:spLocks noGrp="1"/>
          </p:cNvSpPr>
          <p:nvPr>
            <p:ph type="title"/>
          </p:nvPr>
        </p:nvSpPr>
        <p:spPr/>
        <p:txBody>
          <a:bodyPr/>
          <a:lstStyle/>
          <a:p>
            <a:r>
              <a:rPr lang="en-US"/>
              <a:t>Interpolated Strings</a:t>
            </a:r>
          </a:p>
        </p:txBody>
      </p:sp>
      <p:sp>
        <p:nvSpPr>
          <p:cNvPr id="3" name="Content Placeholder 2">
            <a:extLst>
              <a:ext uri="{FF2B5EF4-FFF2-40B4-BE49-F238E27FC236}">
                <a16:creationId xmlns:a16="http://schemas.microsoft.com/office/drawing/2014/main" id="{D001FD7E-4532-B511-09A2-2DB95BD96242}"/>
              </a:ext>
            </a:extLst>
          </p:cNvPr>
          <p:cNvSpPr>
            <a:spLocks noGrp="1"/>
          </p:cNvSpPr>
          <p:nvPr>
            <p:ph idx="1"/>
          </p:nvPr>
        </p:nvSpPr>
        <p:spPr/>
        <p:txBody>
          <a:bodyPr>
            <a:normAutofit/>
          </a:bodyPr>
          <a:lstStyle/>
          <a:p>
            <a:pPr marL="0" indent="0">
              <a:buNone/>
            </a:pP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string</a:t>
            </a:r>
            <a:r>
              <a:rPr lang="en-US" sz="2000">
                <a:latin typeface="Fira Code" panose="020B0809050000020004" pitchFamily="49" charset="0"/>
                <a:ea typeface="Fira Code" panose="020B0809050000020004" pitchFamily="49" charset="0"/>
                <a:cs typeface="Fira Code" panose="020B0809050000020004" pitchFamily="49" charset="0"/>
              </a:rPr>
              <a:t> hello = </a:t>
            </a:r>
            <a:r>
              <a:rPr lang="en-US" sz="2000">
                <a:solidFill>
                  <a:srgbClr val="C00000"/>
                </a:solidFill>
                <a:latin typeface="Fira Code" panose="020B0809050000020004" pitchFamily="49" charset="0"/>
                <a:ea typeface="Fira Code" panose="020B0809050000020004" pitchFamily="49" charset="0"/>
                <a:cs typeface="Fira Code" panose="020B0809050000020004" pitchFamily="49" charset="0"/>
              </a:rPr>
              <a:t>"Hello"</a:t>
            </a:r>
            <a:r>
              <a:rPr lang="en-US" sz="20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string</a:t>
            </a:r>
            <a:r>
              <a:rPr lang="en-US" sz="2000">
                <a:latin typeface="Fira Code" panose="020B0809050000020004" pitchFamily="49" charset="0"/>
                <a:ea typeface="Fira Code" panose="020B0809050000020004" pitchFamily="49" charset="0"/>
                <a:cs typeface="Fira Code" panose="020B0809050000020004" pitchFamily="49" charset="0"/>
              </a:rPr>
              <a:t> value = $</a:t>
            </a:r>
            <a:r>
              <a:rPr lang="en-US" sz="2000">
                <a:solidFill>
                  <a:srgbClr val="C00000"/>
                </a:solidFill>
                <a:latin typeface="Fira Code" panose="020B0809050000020004" pitchFamily="49" charset="0"/>
                <a:ea typeface="Fira Code" panose="020B0809050000020004" pitchFamily="49" charset="0"/>
                <a:cs typeface="Fira Code" panose="020B0809050000020004" pitchFamily="49" charset="0"/>
              </a:rPr>
              <a:t>"{hello} World."</a:t>
            </a:r>
            <a:r>
              <a:rPr lang="en-US" sz="20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000" err="1">
                <a:latin typeface="Fira Code" panose="020B0809050000020004" pitchFamily="49" charset="0"/>
                <a:ea typeface="Fira Code" panose="020B0809050000020004" pitchFamily="49" charset="0"/>
                <a:cs typeface="Fira Code" panose="020B0809050000020004" pitchFamily="49" charset="0"/>
              </a:rPr>
              <a:t>Console.WriteLine</a:t>
            </a:r>
            <a:r>
              <a:rPr lang="en-US" sz="2000">
                <a:latin typeface="Fira Code" panose="020B0809050000020004" pitchFamily="49" charset="0"/>
                <a:ea typeface="Fira Code" panose="020B0809050000020004" pitchFamily="49" charset="0"/>
                <a:cs typeface="Fira Code" panose="020B0809050000020004" pitchFamily="49" charset="0"/>
              </a:rPr>
              <a:t>(value);</a:t>
            </a:r>
          </a:p>
          <a:p>
            <a:pPr marL="0" indent="0">
              <a:buNone/>
            </a:pPr>
            <a:endParaRPr lang="en-US" sz="2000">
              <a:latin typeface="Fira Code" panose="020B0809050000020004" pitchFamily="49" charset="0"/>
              <a:ea typeface="Fira Code" panose="020B0809050000020004" pitchFamily="49" charset="0"/>
              <a:cs typeface="Fira Code" panose="020B0809050000020004" pitchFamily="49" charset="0"/>
            </a:endParaRPr>
          </a:p>
          <a:p>
            <a:pPr marL="0" indent="0">
              <a:buNone/>
            </a:pPr>
            <a:endParaRPr lang="en-US" sz="20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for (</a:t>
            </a: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var</a:t>
            </a: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err="1">
                <a:latin typeface="Fira Code" panose="020B0809050000020004" pitchFamily="49" charset="0"/>
                <a:ea typeface="Fira Code" panose="020B0809050000020004" pitchFamily="49" charset="0"/>
                <a:cs typeface="Fira Code" panose="020B0809050000020004" pitchFamily="49" charset="0"/>
              </a:rPr>
              <a:t>i</a:t>
            </a:r>
            <a:r>
              <a:rPr lang="en-US" sz="2000">
                <a:latin typeface="Fira Code" panose="020B0809050000020004" pitchFamily="49" charset="0"/>
                <a:ea typeface="Fira Code" panose="020B0809050000020004" pitchFamily="49" charset="0"/>
                <a:cs typeface="Fira Code" panose="020B0809050000020004" pitchFamily="49" charset="0"/>
              </a:rPr>
              <a:t> = 0;i &lt; 5;i+=1) {</a:t>
            </a: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err="1">
                <a:latin typeface="Fira Code" panose="020B0809050000020004" pitchFamily="49" charset="0"/>
                <a:ea typeface="Fira Code" panose="020B0809050000020004" pitchFamily="49" charset="0"/>
                <a:cs typeface="Fira Code" panose="020B0809050000020004" pitchFamily="49" charset="0"/>
              </a:rPr>
              <a:t>Console.WriteLine</a:t>
            </a:r>
            <a:r>
              <a:rPr lang="en-US" sz="2000">
                <a:latin typeface="Fira Code" panose="020B0809050000020004" pitchFamily="49" charset="0"/>
                <a:ea typeface="Fira Code" panose="020B0809050000020004" pitchFamily="49" charset="0"/>
                <a:cs typeface="Fira Code" panose="020B0809050000020004" pitchFamily="49" charset="0"/>
              </a:rPr>
              <a:t>($</a:t>
            </a:r>
            <a:r>
              <a:rPr lang="en-US" sz="2000">
                <a:solidFill>
                  <a:srgbClr val="C00000"/>
                </a:solidFill>
                <a:latin typeface="Fira Code" panose="020B0809050000020004" pitchFamily="49" charset="0"/>
                <a:ea typeface="Fira Code" panose="020B0809050000020004" pitchFamily="49" charset="0"/>
                <a:cs typeface="Fira Code" panose="020B0809050000020004" pitchFamily="49" charset="0"/>
              </a:rPr>
              <a:t>"Line {</a:t>
            </a:r>
            <a:r>
              <a:rPr lang="en-US" sz="2000" err="1">
                <a:solidFill>
                  <a:srgbClr val="C00000"/>
                </a:solidFill>
                <a:latin typeface="Fira Code" panose="020B0809050000020004" pitchFamily="49" charset="0"/>
                <a:ea typeface="Fira Code" panose="020B0809050000020004" pitchFamily="49" charset="0"/>
                <a:cs typeface="Fira Code" panose="020B0809050000020004" pitchFamily="49" charset="0"/>
              </a:rPr>
              <a:t>i</a:t>
            </a:r>
            <a:r>
              <a:rPr lang="en-US" sz="2000">
                <a:solidFill>
                  <a:srgbClr val="C00000"/>
                </a:solidFill>
                <a:latin typeface="Fira Code" panose="020B0809050000020004" pitchFamily="49" charset="0"/>
                <a:ea typeface="Fira Code" panose="020B0809050000020004" pitchFamily="49" charset="0"/>
                <a:cs typeface="Fira Code" panose="020B0809050000020004" pitchFamily="49" charset="0"/>
              </a:rPr>
              <a:t> + 1}"</a:t>
            </a:r>
            <a:r>
              <a:rPr lang="en-US" sz="20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617246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F744D-E754-0CF9-6519-D0FF37E5E992}"/>
              </a:ext>
            </a:extLst>
          </p:cNvPr>
          <p:cNvSpPr>
            <a:spLocks noGrp="1"/>
          </p:cNvSpPr>
          <p:nvPr>
            <p:ph type="title"/>
          </p:nvPr>
        </p:nvSpPr>
        <p:spPr/>
        <p:txBody>
          <a:bodyPr/>
          <a:lstStyle/>
          <a:p>
            <a:r>
              <a:rPr lang="en-US"/>
              <a:t>Formatted Strings</a:t>
            </a:r>
          </a:p>
        </p:txBody>
      </p:sp>
      <p:sp>
        <p:nvSpPr>
          <p:cNvPr id="3" name="Content Placeholder 2">
            <a:extLst>
              <a:ext uri="{FF2B5EF4-FFF2-40B4-BE49-F238E27FC236}">
                <a16:creationId xmlns:a16="http://schemas.microsoft.com/office/drawing/2014/main" id="{74E08EEA-6F4A-4A37-2228-AD242F3395AB}"/>
              </a:ext>
            </a:extLst>
          </p:cNvPr>
          <p:cNvSpPr>
            <a:spLocks noGrp="1"/>
          </p:cNvSpPr>
          <p:nvPr>
            <p:ph idx="1"/>
          </p:nvPr>
        </p:nvSpPr>
        <p:spPr/>
        <p:txBody>
          <a:bodyPr>
            <a:normAutofit/>
          </a:bodyPr>
          <a:lstStyle/>
          <a:p>
            <a:r>
              <a:rPr lang="en-US" sz="2400">
                <a:latin typeface="Fira Code" pitchFamily="1" charset="0"/>
                <a:ea typeface="Fira Code" pitchFamily="1" charset="0"/>
                <a:cs typeface="Fira Code" pitchFamily="1" charset="0"/>
              </a:rPr>
              <a:t>$"{</a:t>
            </a:r>
            <a:r>
              <a:rPr lang="en-US" sz="2400" err="1">
                <a:latin typeface="Fira Code" pitchFamily="1" charset="0"/>
                <a:ea typeface="Fira Code" pitchFamily="1" charset="0"/>
                <a:cs typeface="Fira Code" pitchFamily="1" charset="0"/>
              </a:rPr>
              <a:t>i</a:t>
            </a:r>
            <a:r>
              <a:rPr lang="en-US" sz="2400">
                <a:latin typeface="Fira Code" pitchFamily="1" charset="0"/>
                <a:ea typeface="Fira Code" pitchFamily="1" charset="0"/>
                <a:cs typeface="Fira Code" pitchFamily="1" charset="0"/>
              </a:rPr>
              <a:t>, 10}"</a:t>
            </a:r>
          </a:p>
          <a:p>
            <a:pPr lvl="1"/>
            <a:r>
              <a:rPr lang="en-US" sz="2000"/>
              <a:t>Prints the variable </a:t>
            </a:r>
            <a:r>
              <a:rPr lang="en-US" sz="2000" err="1"/>
              <a:t>i</a:t>
            </a:r>
            <a:r>
              <a:rPr lang="en-US" sz="2000"/>
              <a:t> in a right-justified field, 10 characters wide</a:t>
            </a:r>
          </a:p>
          <a:p>
            <a:pPr lvl="1"/>
            <a:endParaRPr lang="en-US" sz="2000"/>
          </a:p>
          <a:p>
            <a:r>
              <a:rPr lang="en-US" sz="2400">
                <a:latin typeface="Fira Code" pitchFamily="1" charset="0"/>
                <a:ea typeface="Fira Code" pitchFamily="1" charset="0"/>
                <a:cs typeface="Fira Code" pitchFamily="1" charset="0"/>
              </a:rPr>
              <a:t>$"{</a:t>
            </a:r>
            <a:r>
              <a:rPr lang="en-US" sz="2400" err="1">
                <a:latin typeface="Fira Code" pitchFamily="1" charset="0"/>
                <a:ea typeface="Fira Code" pitchFamily="1" charset="0"/>
                <a:cs typeface="Fira Code" pitchFamily="1" charset="0"/>
              </a:rPr>
              <a:t>i</a:t>
            </a:r>
            <a:r>
              <a:rPr lang="en-US" sz="2400">
                <a:latin typeface="Fira Code" pitchFamily="1" charset="0"/>
                <a:ea typeface="Fira Code" pitchFamily="1" charset="0"/>
                <a:cs typeface="Fira Code" pitchFamily="1" charset="0"/>
              </a:rPr>
              <a:t>, -10}"</a:t>
            </a:r>
          </a:p>
          <a:p>
            <a:pPr lvl="1"/>
            <a:r>
              <a:rPr lang="en-US" sz="2000"/>
              <a:t>Prints the variable </a:t>
            </a:r>
            <a:r>
              <a:rPr lang="en-US" sz="2000" err="1"/>
              <a:t>i</a:t>
            </a:r>
            <a:r>
              <a:rPr lang="en-US" sz="2000"/>
              <a:t> in a left-justified field, 10 characters wide</a:t>
            </a:r>
          </a:p>
          <a:p>
            <a:pPr lvl="1"/>
            <a:endParaRPr lang="en-US" sz="2000"/>
          </a:p>
          <a:p>
            <a:r>
              <a:rPr lang="en-US" sz="2400">
                <a:latin typeface="Fira Code" pitchFamily="1" charset="0"/>
                <a:ea typeface="Fira Code" pitchFamily="1" charset="0"/>
                <a:cs typeface="Fira Code" pitchFamily="1" charset="0"/>
              </a:rPr>
              <a:t>$"{</a:t>
            </a:r>
            <a:r>
              <a:rPr lang="en-US" sz="2400" err="1">
                <a:latin typeface="Fira Code" pitchFamily="1" charset="0"/>
                <a:ea typeface="Fira Code" pitchFamily="1" charset="0"/>
                <a:cs typeface="Fira Code" pitchFamily="1" charset="0"/>
              </a:rPr>
              <a:t>dbl</a:t>
            </a:r>
            <a:r>
              <a:rPr lang="en-US" sz="2400">
                <a:latin typeface="Fira Code" pitchFamily="1" charset="0"/>
                <a:ea typeface="Fira Code" pitchFamily="1" charset="0"/>
                <a:cs typeface="Fira Code" pitchFamily="1" charset="0"/>
              </a:rPr>
              <a:t>, 6:F2}"</a:t>
            </a:r>
          </a:p>
          <a:p>
            <a:pPr lvl="1"/>
            <a:r>
              <a:rPr lang="en-US" sz="2000"/>
              <a:t>Prints the variable </a:t>
            </a:r>
            <a:r>
              <a:rPr lang="en-US" sz="2000" err="1"/>
              <a:t>dbl</a:t>
            </a:r>
            <a:r>
              <a:rPr lang="en-US" sz="2000"/>
              <a:t> in a right-justified field, 6 characters wide, in fixed notation with two digits of precision.</a:t>
            </a:r>
          </a:p>
        </p:txBody>
      </p:sp>
    </p:spTree>
    <p:extLst>
      <p:ext uri="{BB962C8B-B14F-4D97-AF65-F5344CB8AC3E}">
        <p14:creationId xmlns:p14="http://schemas.microsoft.com/office/powerpoint/2010/main" val="4268846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9116-54F2-83DF-6887-CC62EC0EB163}"/>
              </a:ext>
            </a:extLst>
          </p:cNvPr>
          <p:cNvSpPr>
            <a:spLocks noGrp="1"/>
          </p:cNvSpPr>
          <p:nvPr>
            <p:ph type="title"/>
          </p:nvPr>
        </p:nvSpPr>
        <p:spPr/>
        <p:txBody>
          <a:bodyPr/>
          <a:lstStyle/>
          <a:p>
            <a:r>
              <a:rPr lang="en-US"/>
              <a:t>String Formats</a:t>
            </a:r>
          </a:p>
        </p:txBody>
      </p:sp>
      <p:sp>
        <p:nvSpPr>
          <p:cNvPr id="3" name="Content Placeholder 2">
            <a:extLst>
              <a:ext uri="{FF2B5EF4-FFF2-40B4-BE49-F238E27FC236}">
                <a16:creationId xmlns:a16="http://schemas.microsoft.com/office/drawing/2014/main" id="{6A2E59DE-AB8B-8AEF-8939-4A866601AC6B}"/>
              </a:ext>
            </a:extLst>
          </p:cNvPr>
          <p:cNvSpPr>
            <a:spLocks noGrp="1"/>
          </p:cNvSpPr>
          <p:nvPr>
            <p:ph idx="1"/>
          </p:nvPr>
        </p:nvSpPr>
        <p:spPr/>
        <p:txBody>
          <a:bodyPr>
            <a:normAutofit/>
          </a:bodyPr>
          <a:lstStyle/>
          <a:p>
            <a:r>
              <a:rPr lang="en-US" sz="2400"/>
              <a:t>E - scientific notation</a:t>
            </a:r>
          </a:p>
          <a:p>
            <a:r>
              <a:rPr lang="en-US" sz="2400" err="1"/>
              <a:t>F</a:t>
            </a:r>
            <a:r>
              <a:rPr lang="en-US" sz="2400" i="1" err="1"/>
              <a:t>digits</a:t>
            </a:r>
            <a:r>
              <a:rPr lang="en-US" sz="2400"/>
              <a:t> - fixed notation with </a:t>
            </a:r>
            <a:r>
              <a:rPr lang="en-US" sz="2400" i="1"/>
              <a:t>digits</a:t>
            </a:r>
            <a:r>
              <a:rPr lang="en-US" sz="2400"/>
              <a:t> number of digits right of the decimal.</a:t>
            </a:r>
          </a:p>
          <a:p>
            <a:r>
              <a:rPr lang="en-US" sz="2400"/>
              <a:t>N - number (puts in commas and decimal points)</a:t>
            </a:r>
          </a:p>
          <a:p>
            <a:r>
              <a:rPr lang="en-US" sz="2400"/>
              <a:t>P - percent</a:t>
            </a:r>
          </a:p>
          <a:p>
            <a:r>
              <a:rPr lang="en-US" sz="2400"/>
              <a:t>X - hexadecimal</a:t>
            </a:r>
          </a:p>
          <a:p>
            <a:pPr lvl="1"/>
            <a:r>
              <a:rPr lang="en-US" sz="2000"/>
              <a:t>Capital X -- all digits capitalized</a:t>
            </a:r>
          </a:p>
          <a:p>
            <a:pPr lvl="1"/>
            <a:r>
              <a:rPr lang="en-US" sz="2000"/>
              <a:t>Lowercase X -- all digits lowercase</a:t>
            </a:r>
          </a:p>
          <a:p>
            <a:pPr lvl="1"/>
            <a:r>
              <a:rPr lang="en-US" sz="2000"/>
              <a:t>Does not print leading 0x</a:t>
            </a:r>
          </a:p>
        </p:txBody>
      </p:sp>
    </p:spTree>
    <p:extLst>
      <p:ext uri="{BB962C8B-B14F-4D97-AF65-F5344CB8AC3E}">
        <p14:creationId xmlns:p14="http://schemas.microsoft.com/office/powerpoint/2010/main" val="355023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400E1-1B23-2A4F-2E96-7E4BEC04D395}"/>
              </a:ext>
            </a:extLst>
          </p:cNvPr>
          <p:cNvSpPr>
            <a:spLocks noGrp="1"/>
          </p:cNvSpPr>
          <p:nvPr>
            <p:ph type="title"/>
          </p:nvPr>
        </p:nvSpPr>
        <p:spPr/>
        <p:txBody>
          <a:bodyPr/>
          <a:lstStyle/>
          <a:p>
            <a:r>
              <a:rPr lang="en-US"/>
              <a:t>String Class</a:t>
            </a:r>
          </a:p>
        </p:txBody>
      </p:sp>
      <p:sp>
        <p:nvSpPr>
          <p:cNvPr id="3" name="Content Placeholder 2">
            <a:extLst>
              <a:ext uri="{FF2B5EF4-FFF2-40B4-BE49-F238E27FC236}">
                <a16:creationId xmlns:a16="http://schemas.microsoft.com/office/drawing/2014/main" id="{592F7DA3-12CD-6DAF-4348-7EAED0C1854D}"/>
              </a:ext>
            </a:extLst>
          </p:cNvPr>
          <p:cNvSpPr>
            <a:spLocks noGrp="1"/>
          </p:cNvSpPr>
          <p:nvPr>
            <p:ph idx="1"/>
          </p:nvPr>
        </p:nvSpPr>
        <p:spPr>
          <a:xfrm>
            <a:off x="838200" y="1825625"/>
            <a:ext cx="10515600" cy="588585"/>
          </a:xfrm>
        </p:spPr>
        <p:txBody>
          <a:bodyPr/>
          <a:lstStyle/>
          <a:p>
            <a:pPr marL="0" indent="0">
              <a:buNone/>
            </a:pPr>
            <a:r>
              <a:rPr lang="en-US">
                <a:hlinkClick r:id="rId2"/>
              </a:rPr>
              <a:t>https://learn.microsoft.com/en-us/dotnet/api/system.string</a:t>
            </a:r>
            <a:endParaRPr lang="en-US"/>
          </a:p>
        </p:txBody>
      </p:sp>
      <p:pic>
        <p:nvPicPr>
          <p:cNvPr id="5" name="Picture 4">
            <a:extLst>
              <a:ext uri="{FF2B5EF4-FFF2-40B4-BE49-F238E27FC236}">
                <a16:creationId xmlns:a16="http://schemas.microsoft.com/office/drawing/2014/main" id="{A26FA191-F093-3582-004B-A7731792ED55}"/>
              </a:ext>
            </a:extLst>
          </p:cNvPr>
          <p:cNvPicPr>
            <a:picLocks noChangeAspect="1"/>
          </p:cNvPicPr>
          <p:nvPr/>
        </p:nvPicPr>
        <p:blipFill>
          <a:blip r:embed="rId3"/>
          <a:srcRect l="555" t="1714" r="992"/>
          <a:stretch/>
        </p:blipFill>
        <p:spPr>
          <a:xfrm>
            <a:off x="94342" y="2491618"/>
            <a:ext cx="12003316" cy="4162845"/>
          </a:xfrm>
          <a:prstGeom prst="rect">
            <a:avLst/>
          </a:prstGeom>
          <a:ln w="25400">
            <a:solidFill>
              <a:schemeClr val="tx1"/>
            </a:solidFill>
          </a:ln>
        </p:spPr>
      </p:pic>
    </p:spTree>
    <p:extLst>
      <p:ext uri="{BB962C8B-B14F-4D97-AF65-F5344CB8AC3E}">
        <p14:creationId xmlns:p14="http://schemas.microsoft.com/office/powerpoint/2010/main" val="1689976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73C2-44BD-D1CC-85B1-2AB470135137}"/>
              </a:ext>
            </a:extLst>
          </p:cNvPr>
          <p:cNvSpPr>
            <a:spLocks noGrp="1"/>
          </p:cNvSpPr>
          <p:nvPr>
            <p:ph type="title"/>
          </p:nvPr>
        </p:nvSpPr>
        <p:spPr/>
        <p:txBody>
          <a:bodyPr/>
          <a:lstStyle/>
          <a:p>
            <a:r>
              <a:rPr lang="en-US" dirty="0"/>
              <a:t>Handling Null</a:t>
            </a:r>
          </a:p>
        </p:txBody>
      </p:sp>
      <p:sp>
        <p:nvSpPr>
          <p:cNvPr id="3" name="Content Placeholder 2">
            <a:extLst>
              <a:ext uri="{FF2B5EF4-FFF2-40B4-BE49-F238E27FC236}">
                <a16:creationId xmlns:a16="http://schemas.microsoft.com/office/drawing/2014/main" id="{93BC2A7C-EE64-FF51-49BA-C2F9D80F8879}"/>
              </a:ext>
            </a:extLst>
          </p:cNvPr>
          <p:cNvSpPr>
            <a:spLocks noGrp="1"/>
          </p:cNvSpPr>
          <p:nvPr>
            <p:ph idx="1"/>
          </p:nvPr>
        </p:nvSpPr>
        <p:spPr>
          <a:xfrm>
            <a:off x="838200" y="1461831"/>
            <a:ext cx="10515600" cy="4351338"/>
          </a:xfrm>
        </p:spPr>
        <p:txBody>
          <a:bodyPr>
            <a:noAutofit/>
          </a:bodyPr>
          <a:lstStyle/>
          <a:p>
            <a:pPr marL="0" indent="0">
              <a:buNone/>
            </a:pPr>
            <a:r>
              <a:rPr lang="en-US" sz="1800">
                <a:solidFill>
                  <a:schemeClr val="accent1"/>
                </a:solidFill>
                <a:latin typeface="Fira Code" panose="020B0809050000020004" pitchFamily="49" charset="0"/>
                <a:ea typeface="Fira Code" panose="020B0809050000020004" pitchFamily="49" charset="0"/>
                <a:cs typeface="Fira Code" panose="020B0809050000020004" pitchFamily="49" charset="0"/>
              </a:rPr>
              <a:t>string</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fileName</a:t>
            </a:r>
            <a:r>
              <a:rPr lang="en-US" sz="1800">
                <a:latin typeface="Fira Code" panose="020B0809050000020004" pitchFamily="49" charset="0"/>
                <a:ea typeface="Fira Code" panose="020B0809050000020004" pitchFamily="49" charset="0"/>
                <a:cs typeface="Fira Code" panose="020B0809050000020004" pitchFamily="49" charset="0"/>
              </a:rPr>
              <a:t> = </a:t>
            </a:r>
            <a:r>
              <a:rPr lang="en-US" sz="1800" err="1">
                <a:latin typeface="Fira Code" panose="020B0809050000020004" pitchFamily="49" charset="0"/>
                <a:ea typeface="Fira Code" panose="020B0809050000020004" pitchFamily="49" charset="0"/>
                <a:cs typeface="Fira Code" panose="020B0809050000020004" pitchFamily="49" charset="0"/>
              </a:rPr>
              <a:t>Console.ReadLine</a:t>
            </a:r>
            <a:r>
              <a:rPr lang="en-US" sz="1800">
                <a:latin typeface="Fira Code" panose="020B0809050000020004" pitchFamily="49" charset="0"/>
                <a:ea typeface="Fira Code" panose="020B0809050000020004" pitchFamily="49" charset="0"/>
                <a:cs typeface="Fira Code" panose="020B0809050000020004" pitchFamily="49" charset="0"/>
              </a:rPr>
              <a:t>()?.Trim() ?? </a:t>
            </a:r>
            <a:r>
              <a:rPr lang="en-US" sz="1800" err="1">
                <a:solidFill>
                  <a:schemeClr val="accent1"/>
                </a:solidFill>
                <a:latin typeface="Fira Code" panose="020B0809050000020004" pitchFamily="49" charset="0"/>
                <a:ea typeface="Fira Code" panose="020B0809050000020004" pitchFamily="49" charset="0"/>
                <a:cs typeface="Fira Code" panose="020B0809050000020004" pitchFamily="49" charset="0"/>
              </a:rPr>
              <a:t>string</a:t>
            </a:r>
            <a:r>
              <a:rPr lang="en-US" sz="1800" err="1">
                <a:latin typeface="Fira Code" panose="020B0809050000020004" pitchFamily="49" charset="0"/>
                <a:ea typeface="Fira Code" panose="020B0809050000020004" pitchFamily="49" charset="0"/>
                <a:cs typeface="Fira Code" panose="020B0809050000020004" pitchFamily="49" charset="0"/>
              </a:rPr>
              <a:t>.Empty</a:t>
            </a: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sz="18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800">
                <a:hlinkClick r:id="rId2"/>
              </a:rPr>
              <a:t>https://learn.microsoft.com/en-us/dotnet/csharp/language-reference/operators/member-access-operators#null-conditional-operators--and-</a:t>
            </a:r>
            <a:endParaRPr lang="en-US" sz="1800"/>
          </a:p>
          <a:p>
            <a:pPr marL="0" indent="0">
              <a:buNone/>
            </a:pPr>
            <a:endParaRPr lang="en-US" sz="18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800" err="1">
                <a:latin typeface="Fira Code" panose="020B0809050000020004" pitchFamily="49" charset="0"/>
                <a:ea typeface="Fira Code" panose="020B0809050000020004" pitchFamily="49" charset="0"/>
                <a:cs typeface="Fira Code" panose="020B0809050000020004" pitchFamily="49" charset="0"/>
              </a:rPr>
              <a:t>Console.ReadLine</a:t>
            </a:r>
            <a:r>
              <a:rPr lang="en-US" sz="1800">
                <a:latin typeface="Fira Code" panose="020B0809050000020004" pitchFamily="49" charset="0"/>
                <a:ea typeface="Fira Code" panose="020B0809050000020004" pitchFamily="49" charset="0"/>
                <a:cs typeface="Fira Code" panose="020B0809050000020004" pitchFamily="49" charset="0"/>
              </a:rPr>
              <a:t>()</a:t>
            </a:r>
          </a:p>
          <a:p>
            <a:pPr lvl="1"/>
            <a:r>
              <a:rPr lang="en-US" sz="1600"/>
              <a:t>Reads a line of input from the console and returns it as a string.</a:t>
            </a:r>
          </a:p>
          <a:p>
            <a:pPr lvl="1"/>
            <a:r>
              <a:rPr lang="en-US" sz="1600"/>
              <a:t>If the user enters nothing and just presses Enter, it will return an empty string (""), not null.</a:t>
            </a:r>
          </a:p>
          <a:p>
            <a:r>
              <a:rPr lang="en-US" sz="1800">
                <a:latin typeface="Fira Code" panose="020B0809050000020004" pitchFamily="49" charset="0"/>
                <a:ea typeface="Fira Code" panose="020B0809050000020004" pitchFamily="49" charset="0"/>
                <a:cs typeface="Fira Code" panose="020B0809050000020004" pitchFamily="49" charset="0"/>
              </a:rPr>
              <a:t>?.Trim()</a:t>
            </a:r>
          </a:p>
          <a:p>
            <a:pPr lvl="1"/>
            <a:r>
              <a:rPr lang="en-US" sz="1600"/>
              <a:t>The null conditional operator (?.) ensures that the Trim method is only called if </a:t>
            </a:r>
            <a:r>
              <a:rPr lang="en-US" sz="1600" err="1"/>
              <a:t>Console.ReadLine</a:t>
            </a:r>
            <a:r>
              <a:rPr lang="en-US" sz="1600"/>
              <a:t>() does not return null.</a:t>
            </a:r>
          </a:p>
          <a:p>
            <a:pPr lvl="1"/>
            <a:r>
              <a:rPr lang="en-US" sz="1600"/>
              <a:t>If </a:t>
            </a:r>
            <a:r>
              <a:rPr lang="en-US" sz="1600" err="1"/>
              <a:t>Console.ReadLine</a:t>
            </a:r>
            <a:r>
              <a:rPr lang="en-US" sz="1600"/>
              <a:t>() is null, the entire expression </a:t>
            </a:r>
            <a:r>
              <a:rPr lang="en-US" sz="1600" err="1"/>
              <a:t>Console.ReadLine</a:t>
            </a:r>
            <a:r>
              <a:rPr lang="en-US" sz="1600"/>
              <a:t>()?.Trim() will evaluate to null, and Trim will not be called, avoiding a </a:t>
            </a:r>
            <a:r>
              <a:rPr lang="en-US" sz="1600" err="1"/>
              <a:t>NullReferenceException</a:t>
            </a:r>
            <a:r>
              <a:rPr lang="en-US" sz="1600"/>
              <a:t>.</a:t>
            </a:r>
          </a:p>
          <a:p>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string.Empty</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600"/>
              <a:t>The null coalescing operator (??) provides a default value if the left-hand side is null.</a:t>
            </a:r>
          </a:p>
          <a:p>
            <a:pPr lvl="1"/>
            <a:r>
              <a:rPr lang="en-US" sz="1600"/>
              <a:t>If </a:t>
            </a:r>
            <a:r>
              <a:rPr lang="en-US" sz="1600" err="1"/>
              <a:t>Console.ReadLine</a:t>
            </a:r>
            <a:r>
              <a:rPr lang="en-US" sz="1600"/>
              <a:t>()?.Trim() evaluates to null (because </a:t>
            </a:r>
            <a:r>
              <a:rPr lang="en-US" sz="1600" err="1"/>
              <a:t>Console.ReadLine</a:t>
            </a:r>
            <a:r>
              <a:rPr lang="en-US" sz="1600"/>
              <a:t>() returned null), then </a:t>
            </a:r>
            <a:r>
              <a:rPr lang="en-US" sz="1600" err="1"/>
              <a:t>fileName</a:t>
            </a:r>
            <a:r>
              <a:rPr lang="en-US" sz="1600"/>
              <a:t> will be assigned an empty string (</a:t>
            </a:r>
            <a:r>
              <a:rPr lang="en-US" sz="1600" err="1"/>
              <a:t>string.Empty</a:t>
            </a:r>
            <a:r>
              <a:rPr lang="en-US" sz="1600"/>
              <a:t>).</a:t>
            </a:r>
          </a:p>
        </p:txBody>
      </p:sp>
    </p:spTree>
    <p:extLst>
      <p:ext uri="{BB962C8B-B14F-4D97-AF65-F5344CB8AC3E}">
        <p14:creationId xmlns:p14="http://schemas.microsoft.com/office/powerpoint/2010/main" val="3262497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6079-320B-E4BA-F009-503CEE3FCCE4}"/>
              </a:ext>
            </a:extLst>
          </p:cNvPr>
          <p:cNvSpPr>
            <a:spLocks noGrp="1"/>
          </p:cNvSpPr>
          <p:nvPr>
            <p:ph type="title"/>
          </p:nvPr>
        </p:nvSpPr>
        <p:spPr/>
        <p:txBody>
          <a:bodyPr/>
          <a:lstStyle/>
          <a:p>
            <a:r>
              <a:rPr lang="en-US"/>
              <a:t>Nullable Value Types</a:t>
            </a:r>
          </a:p>
        </p:txBody>
      </p:sp>
      <p:sp>
        <p:nvSpPr>
          <p:cNvPr id="3" name="Content Placeholder 2">
            <a:extLst>
              <a:ext uri="{FF2B5EF4-FFF2-40B4-BE49-F238E27FC236}">
                <a16:creationId xmlns:a16="http://schemas.microsoft.com/office/drawing/2014/main" id="{9CA40F2C-187E-6A13-2B97-6929306E696A}"/>
              </a:ext>
            </a:extLst>
          </p:cNvPr>
          <p:cNvSpPr>
            <a:spLocks noGrp="1"/>
          </p:cNvSpPr>
          <p:nvPr>
            <p:ph idx="1"/>
          </p:nvPr>
        </p:nvSpPr>
        <p:spPr>
          <a:xfrm>
            <a:off x="838200" y="1825626"/>
            <a:ext cx="10515600" cy="1468438"/>
          </a:xfrm>
        </p:spPr>
        <p:txBody>
          <a:bodyPr>
            <a:noAutofit/>
          </a:bodyPr>
          <a:lstStyle/>
          <a:p>
            <a:r>
              <a:rPr lang="en-US"/>
              <a:t>Value types do not hold null by default.</a:t>
            </a:r>
          </a:p>
          <a:p>
            <a:pPr lvl="1"/>
            <a:r>
              <a:rPr lang="en-US">
                <a:hlinkClick r:id="rId2"/>
              </a:rPr>
              <a:t>https://learn.microsoft.com/en-us/dotnet/csharp/language-reference/builtin-types/nullable-value-types</a:t>
            </a:r>
            <a:endParaRPr lang="en-US"/>
          </a:p>
          <a:p>
            <a:r>
              <a:rPr lang="en-US"/>
              <a:t>The ? syntax when declaring tells C# to also let the value type hold null.</a:t>
            </a:r>
          </a:p>
          <a:p>
            <a:endParaRPr lang="en-US"/>
          </a:p>
          <a:p>
            <a:pPr marL="0" indent="0">
              <a:buNone/>
            </a:pPr>
            <a:endParaRPr lang="en-US"/>
          </a:p>
        </p:txBody>
      </p:sp>
      <p:sp>
        <p:nvSpPr>
          <p:cNvPr id="4" name="TextBox 3">
            <a:extLst>
              <a:ext uri="{FF2B5EF4-FFF2-40B4-BE49-F238E27FC236}">
                <a16:creationId xmlns:a16="http://schemas.microsoft.com/office/drawing/2014/main" id="{51C2C078-D375-2121-CAF5-BEAC7B0F42CE}"/>
              </a:ext>
            </a:extLst>
          </p:cNvPr>
          <p:cNvSpPr txBox="1"/>
          <p:nvPr/>
        </p:nvSpPr>
        <p:spPr>
          <a:xfrm>
            <a:off x="838200" y="3563937"/>
            <a:ext cx="10606548" cy="3170099"/>
          </a:xfrm>
          <a:prstGeom prst="rect">
            <a:avLst/>
          </a:prstGeom>
          <a:solidFill>
            <a:schemeClr val="bg2">
              <a:lumMod val="25000"/>
            </a:schemeClr>
          </a:solidFill>
        </p:spPr>
        <p:txBody>
          <a:bodyPr wrap="square" rtlCol="0">
            <a:spAutoFit/>
          </a:bodyPr>
          <a:lstStyle/>
          <a:p>
            <a:r>
              <a:rPr lang="en-US" sz="2000">
                <a:solidFill>
                  <a:srgbClr val="00B0F0"/>
                </a:solidFill>
                <a:latin typeface="Fira Code" pitchFamily="1" charset="0"/>
                <a:ea typeface="Fira Code" pitchFamily="1" charset="0"/>
                <a:cs typeface="Fira Code" pitchFamily="1" charset="0"/>
              </a:rPr>
              <a:t>double</a:t>
            </a:r>
            <a:r>
              <a:rPr lang="en-US" sz="2000">
                <a:solidFill>
                  <a:schemeClr val="bg1"/>
                </a:solidFill>
                <a:latin typeface="Fira Code" pitchFamily="1" charset="0"/>
                <a:ea typeface="Fira Code" pitchFamily="1" charset="0"/>
                <a:cs typeface="Fira Code" pitchFamily="1" charset="0"/>
              </a:rPr>
              <a:t>? pi = 3.14;</a:t>
            </a:r>
          </a:p>
          <a:p>
            <a:r>
              <a:rPr lang="en-US" sz="2000">
                <a:solidFill>
                  <a:srgbClr val="00B0F0"/>
                </a:solidFill>
                <a:latin typeface="Fira Code" pitchFamily="1" charset="0"/>
                <a:ea typeface="Fira Code" pitchFamily="1" charset="0"/>
                <a:cs typeface="Fira Code" pitchFamily="1" charset="0"/>
              </a:rPr>
              <a:t>char</a:t>
            </a:r>
            <a:r>
              <a:rPr lang="en-US" sz="2000">
                <a:solidFill>
                  <a:schemeClr val="bg1"/>
                </a:solidFill>
                <a:latin typeface="Fira Code" pitchFamily="1" charset="0"/>
                <a:ea typeface="Fira Code" pitchFamily="1" charset="0"/>
                <a:cs typeface="Fira Code" pitchFamily="1" charset="0"/>
              </a:rPr>
              <a:t>? letter = 'a';</a:t>
            </a:r>
          </a:p>
          <a:p>
            <a:endParaRPr lang="en-US" sz="2000">
              <a:solidFill>
                <a:schemeClr val="bg1"/>
              </a:solidFill>
              <a:latin typeface="Fira Code" pitchFamily="1" charset="0"/>
              <a:ea typeface="Fira Code" pitchFamily="1" charset="0"/>
              <a:cs typeface="Fira Code" pitchFamily="1" charset="0"/>
            </a:endParaRPr>
          </a:p>
          <a:p>
            <a:r>
              <a:rPr lang="en-US" sz="2000">
                <a:solidFill>
                  <a:srgbClr val="00B0F0"/>
                </a:solidFill>
                <a:latin typeface="Fira Code" pitchFamily="1" charset="0"/>
                <a:ea typeface="Fira Code" pitchFamily="1" charset="0"/>
                <a:cs typeface="Fira Code" pitchFamily="1" charset="0"/>
              </a:rPr>
              <a:t>int</a:t>
            </a:r>
            <a:r>
              <a:rPr lang="en-US" sz="2000">
                <a:solidFill>
                  <a:schemeClr val="bg1"/>
                </a:solidFill>
                <a:latin typeface="Fira Code" pitchFamily="1" charset="0"/>
                <a:ea typeface="Fira Code" pitchFamily="1" charset="0"/>
                <a:cs typeface="Fira Code" pitchFamily="1" charset="0"/>
              </a:rPr>
              <a:t> m2 = 10;</a:t>
            </a:r>
          </a:p>
          <a:p>
            <a:r>
              <a:rPr lang="en-US" sz="2000">
                <a:solidFill>
                  <a:srgbClr val="00B0F0"/>
                </a:solidFill>
                <a:latin typeface="Fira Code" pitchFamily="1" charset="0"/>
                <a:ea typeface="Fira Code" pitchFamily="1" charset="0"/>
                <a:cs typeface="Fira Code" pitchFamily="1" charset="0"/>
              </a:rPr>
              <a:t>int</a:t>
            </a:r>
            <a:r>
              <a:rPr lang="en-US" sz="2000">
                <a:solidFill>
                  <a:schemeClr val="bg1"/>
                </a:solidFill>
                <a:latin typeface="Fira Code" pitchFamily="1" charset="0"/>
                <a:ea typeface="Fira Code" pitchFamily="1" charset="0"/>
                <a:cs typeface="Fira Code" pitchFamily="1" charset="0"/>
              </a:rPr>
              <a:t>? m = m2;</a:t>
            </a:r>
          </a:p>
          <a:p>
            <a:endParaRPr lang="en-US" sz="2000">
              <a:solidFill>
                <a:schemeClr val="bg1"/>
              </a:solidFill>
              <a:latin typeface="Fira Code" pitchFamily="1" charset="0"/>
              <a:ea typeface="Fira Code" pitchFamily="1" charset="0"/>
              <a:cs typeface="Fira Code" pitchFamily="1" charset="0"/>
            </a:endParaRPr>
          </a:p>
          <a:p>
            <a:r>
              <a:rPr lang="en-US" sz="2000">
                <a:solidFill>
                  <a:srgbClr val="00B0F0"/>
                </a:solidFill>
                <a:latin typeface="Fira Code" pitchFamily="1" charset="0"/>
                <a:ea typeface="Fira Code" pitchFamily="1" charset="0"/>
                <a:cs typeface="Fira Code" pitchFamily="1" charset="0"/>
              </a:rPr>
              <a:t>bool</a:t>
            </a:r>
            <a:r>
              <a:rPr lang="en-US" sz="2000">
                <a:solidFill>
                  <a:schemeClr val="bg1"/>
                </a:solidFill>
                <a:latin typeface="Fira Code" pitchFamily="1" charset="0"/>
                <a:ea typeface="Fira Code" pitchFamily="1" charset="0"/>
                <a:cs typeface="Fira Code" pitchFamily="1" charset="0"/>
              </a:rPr>
              <a:t>? flag =</a:t>
            </a:r>
            <a:r>
              <a:rPr lang="en-US" sz="2000">
                <a:solidFill>
                  <a:srgbClr val="00B0F0"/>
                </a:solidFill>
                <a:latin typeface="Fira Code" pitchFamily="1" charset="0"/>
                <a:ea typeface="Fira Code" pitchFamily="1" charset="0"/>
                <a:cs typeface="Fira Code" pitchFamily="1" charset="0"/>
              </a:rPr>
              <a:t> null</a:t>
            </a:r>
            <a:r>
              <a:rPr lang="en-US" sz="2000">
                <a:solidFill>
                  <a:schemeClr val="bg1"/>
                </a:solidFill>
                <a:latin typeface="Fira Code" pitchFamily="1" charset="0"/>
                <a:ea typeface="Fira Code" pitchFamily="1" charset="0"/>
                <a:cs typeface="Fira Code" pitchFamily="1" charset="0"/>
              </a:rPr>
              <a:t>;</a:t>
            </a:r>
          </a:p>
          <a:p>
            <a:endParaRPr lang="en-US" sz="2000">
              <a:solidFill>
                <a:schemeClr val="bg1"/>
              </a:solidFill>
              <a:latin typeface="Fira Code" pitchFamily="1" charset="0"/>
              <a:ea typeface="Fira Code" pitchFamily="1" charset="0"/>
              <a:cs typeface="Fira Code" pitchFamily="1" charset="0"/>
            </a:endParaRPr>
          </a:p>
          <a:p>
            <a:r>
              <a:rPr lang="en-US" sz="2000">
                <a:solidFill>
                  <a:schemeClr val="bg1"/>
                </a:solidFill>
                <a:latin typeface="Fira Code" pitchFamily="1" charset="0"/>
                <a:ea typeface="Fira Code" pitchFamily="1" charset="0"/>
                <a:cs typeface="Fira Code" pitchFamily="1" charset="0"/>
              </a:rPr>
              <a:t>// An array of a nullable value type:</a:t>
            </a:r>
          </a:p>
          <a:p>
            <a:r>
              <a:rPr lang="en-US" sz="2000">
                <a:solidFill>
                  <a:srgbClr val="00B0F0"/>
                </a:solidFill>
                <a:latin typeface="Fira Code" pitchFamily="1" charset="0"/>
                <a:ea typeface="Fira Code" pitchFamily="1" charset="0"/>
                <a:cs typeface="Fira Code" pitchFamily="1" charset="0"/>
              </a:rPr>
              <a:t>int</a:t>
            </a:r>
            <a:r>
              <a:rPr lang="en-US" sz="2000">
                <a:solidFill>
                  <a:schemeClr val="bg1"/>
                </a:solidFill>
                <a:latin typeface="Fira Code" pitchFamily="1" charset="0"/>
                <a:ea typeface="Fira Code" pitchFamily="1" charset="0"/>
                <a:cs typeface="Fira Code" pitchFamily="1" charset="0"/>
              </a:rPr>
              <a:t>?[] </a:t>
            </a:r>
            <a:r>
              <a:rPr lang="en-US" sz="2000" err="1">
                <a:solidFill>
                  <a:schemeClr val="bg1"/>
                </a:solidFill>
                <a:latin typeface="Fira Code" pitchFamily="1" charset="0"/>
                <a:ea typeface="Fira Code" pitchFamily="1" charset="0"/>
                <a:cs typeface="Fira Code" pitchFamily="1" charset="0"/>
              </a:rPr>
              <a:t>arr</a:t>
            </a:r>
            <a:r>
              <a:rPr lang="en-US" sz="2000">
                <a:solidFill>
                  <a:schemeClr val="bg1"/>
                </a:solidFill>
                <a:latin typeface="Fira Code" pitchFamily="1" charset="0"/>
                <a:ea typeface="Fira Code" pitchFamily="1" charset="0"/>
                <a:cs typeface="Fira Code" pitchFamily="1" charset="0"/>
              </a:rPr>
              <a:t> = </a:t>
            </a:r>
            <a:r>
              <a:rPr lang="en-US" sz="2000">
                <a:solidFill>
                  <a:srgbClr val="00B0F0"/>
                </a:solidFill>
                <a:latin typeface="Fira Code" pitchFamily="1" charset="0"/>
                <a:ea typeface="Fira Code" pitchFamily="1" charset="0"/>
                <a:cs typeface="Fira Code" pitchFamily="1" charset="0"/>
              </a:rPr>
              <a:t>new int</a:t>
            </a:r>
            <a:r>
              <a:rPr lang="en-US" sz="2000">
                <a:solidFill>
                  <a:schemeClr val="bg1"/>
                </a:solidFill>
                <a:latin typeface="Fira Code" pitchFamily="1" charset="0"/>
                <a:ea typeface="Fira Code" pitchFamily="1" charset="0"/>
                <a:cs typeface="Fira Code" pitchFamily="1" charset="0"/>
              </a:rPr>
              <a:t>?[10];</a:t>
            </a:r>
          </a:p>
        </p:txBody>
      </p:sp>
    </p:spTree>
    <p:extLst>
      <p:ext uri="{BB962C8B-B14F-4D97-AF65-F5344CB8AC3E}">
        <p14:creationId xmlns:p14="http://schemas.microsoft.com/office/powerpoint/2010/main" val="2209618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D6F4-378E-3A62-4873-FFDA2746FFB8}"/>
              </a:ext>
            </a:extLst>
          </p:cNvPr>
          <p:cNvSpPr>
            <a:spLocks noGrp="1"/>
          </p:cNvSpPr>
          <p:nvPr>
            <p:ph type="title"/>
          </p:nvPr>
        </p:nvSpPr>
        <p:spPr/>
        <p:txBody>
          <a:bodyPr/>
          <a:lstStyle/>
          <a:p>
            <a:r>
              <a:rPr lang="en-US"/>
              <a:t>Data Conversions</a:t>
            </a:r>
          </a:p>
        </p:txBody>
      </p:sp>
      <p:sp>
        <p:nvSpPr>
          <p:cNvPr id="3" name="Content Placeholder 2">
            <a:extLst>
              <a:ext uri="{FF2B5EF4-FFF2-40B4-BE49-F238E27FC236}">
                <a16:creationId xmlns:a16="http://schemas.microsoft.com/office/drawing/2014/main" id="{3955D4D9-660C-BE56-E43D-3A2B77D54E7F}"/>
              </a:ext>
            </a:extLst>
          </p:cNvPr>
          <p:cNvSpPr>
            <a:spLocks noGrp="1"/>
          </p:cNvSpPr>
          <p:nvPr>
            <p:ph idx="1"/>
          </p:nvPr>
        </p:nvSpPr>
        <p:spPr/>
        <p:txBody>
          <a:bodyPr>
            <a:normAutofit/>
          </a:bodyPr>
          <a:lstStyle/>
          <a:p>
            <a:r>
              <a:rPr lang="en-US" sz="2800" err="1"/>
              <a:t>System.Convert</a:t>
            </a:r>
            <a:endParaRPr lang="en-US" sz="2800"/>
          </a:p>
          <a:p>
            <a:pPr lvl="1"/>
            <a:r>
              <a:rPr lang="en-US" sz="2400">
                <a:hlinkClick r:id="rId2"/>
              </a:rPr>
              <a:t>https://learn.microsoft.com/en-us/dotnet/api/system.convert?view=net-8.0</a:t>
            </a:r>
            <a:endParaRPr lang="en-US" sz="2400"/>
          </a:p>
          <a:p>
            <a:pPr lvl="1"/>
            <a:endParaRPr lang="en-US" sz="2400"/>
          </a:p>
          <a:p>
            <a:pPr marL="0" indent="0">
              <a:buNone/>
            </a:pPr>
            <a:r>
              <a:rPr lang="en-US" sz="2800">
                <a:solidFill>
                  <a:srgbClr val="0070C0"/>
                </a:solidFill>
                <a:latin typeface="Fira Code" pitchFamily="1" charset="0"/>
                <a:ea typeface="Fira Code" pitchFamily="1" charset="0"/>
                <a:cs typeface="Fira Code" pitchFamily="1" charset="0"/>
              </a:rPr>
              <a:t>var</a:t>
            </a:r>
            <a:r>
              <a:rPr lang="en-US" sz="2800">
                <a:latin typeface="Fira Code" pitchFamily="1" charset="0"/>
                <a:ea typeface="Fira Code" pitchFamily="1" charset="0"/>
                <a:cs typeface="Fira Code" pitchFamily="1" charset="0"/>
              </a:rPr>
              <a:t> result = </a:t>
            </a:r>
            <a:r>
              <a:rPr lang="en-US" sz="2800" err="1">
                <a:solidFill>
                  <a:srgbClr val="002060"/>
                </a:solidFill>
                <a:latin typeface="Fira Code" pitchFamily="1" charset="0"/>
                <a:ea typeface="Fira Code" pitchFamily="1" charset="0"/>
                <a:cs typeface="Fira Code" pitchFamily="1" charset="0"/>
              </a:rPr>
              <a:t>Convert</a:t>
            </a:r>
            <a:r>
              <a:rPr lang="en-US" sz="2800" err="1">
                <a:latin typeface="Fira Code" pitchFamily="1" charset="0"/>
                <a:ea typeface="Fira Code" pitchFamily="1" charset="0"/>
                <a:cs typeface="Fira Code" pitchFamily="1" charset="0"/>
              </a:rPr>
              <a:t>.ToBool</a:t>
            </a:r>
            <a:r>
              <a:rPr lang="en-US" sz="2800">
                <a:latin typeface="Fira Code" pitchFamily="1" charset="0"/>
                <a:ea typeface="Fira Code" pitchFamily="1" charset="0"/>
                <a:cs typeface="Fira Code" pitchFamily="1" charset="0"/>
              </a:rPr>
              <a:t>(value);</a:t>
            </a:r>
          </a:p>
          <a:p>
            <a:pPr marL="0" indent="0">
              <a:buNone/>
            </a:pPr>
            <a:r>
              <a:rPr lang="en-US" sz="2800">
                <a:solidFill>
                  <a:srgbClr val="0070C0"/>
                </a:solidFill>
                <a:latin typeface="Fira Code" pitchFamily="1" charset="0"/>
                <a:ea typeface="Fira Code" pitchFamily="1" charset="0"/>
                <a:cs typeface="Fira Code" pitchFamily="1" charset="0"/>
              </a:rPr>
              <a:t>var</a:t>
            </a:r>
            <a:r>
              <a:rPr lang="en-US" sz="2800">
                <a:latin typeface="Fira Code" pitchFamily="1" charset="0"/>
                <a:ea typeface="Fira Code" pitchFamily="1" charset="0"/>
                <a:cs typeface="Fira Code" pitchFamily="1" charset="0"/>
              </a:rPr>
              <a:t> result = </a:t>
            </a:r>
            <a:r>
              <a:rPr lang="en-US" sz="2800">
                <a:solidFill>
                  <a:srgbClr val="002060"/>
                </a:solidFill>
                <a:latin typeface="Fira Code" pitchFamily="1" charset="0"/>
                <a:ea typeface="Fira Code" pitchFamily="1" charset="0"/>
                <a:cs typeface="Fira Code" pitchFamily="1" charset="0"/>
              </a:rPr>
              <a:t>Convert</a:t>
            </a:r>
            <a:r>
              <a:rPr lang="en-US" sz="2800">
                <a:latin typeface="Fira Code" pitchFamily="1" charset="0"/>
                <a:ea typeface="Fira Code" pitchFamily="1" charset="0"/>
                <a:cs typeface="Fira Code" pitchFamily="1" charset="0"/>
              </a:rPr>
              <a:t>.ToInt32(7.95);</a:t>
            </a:r>
          </a:p>
          <a:p>
            <a:pPr marL="0" indent="0">
              <a:buNone/>
            </a:pPr>
            <a:r>
              <a:rPr lang="en-US" sz="2800">
                <a:solidFill>
                  <a:srgbClr val="0070C0"/>
                </a:solidFill>
                <a:latin typeface="Fira Code" pitchFamily="1" charset="0"/>
                <a:ea typeface="Fira Code" pitchFamily="1" charset="0"/>
                <a:cs typeface="Fira Code" pitchFamily="1" charset="0"/>
              </a:rPr>
              <a:t>var</a:t>
            </a:r>
            <a:r>
              <a:rPr lang="en-US" sz="2800">
                <a:latin typeface="Fira Code" pitchFamily="1" charset="0"/>
                <a:ea typeface="Fira Code" pitchFamily="1" charset="0"/>
                <a:cs typeface="Fira Code" pitchFamily="1" charset="0"/>
              </a:rPr>
              <a:t> result = </a:t>
            </a:r>
            <a:r>
              <a:rPr lang="en-US" sz="2800" err="1">
                <a:solidFill>
                  <a:srgbClr val="002060"/>
                </a:solidFill>
                <a:latin typeface="Fira Code" pitchFamily="1" charset="0"/>
                <a:ea typeface="Fira Code" pitchFamily="1" charset="0"/>
                <a:cs typeface="Fira Code" pitchFamily="1" charset="0"/>
              </a:rPr>
              <a:t>Convert</a:t>
            </a:r>
            <a:r>
              <a:rPr lang="en-US" sz="2800" err="1">
                <a:latin typeface="Fira Code" pitchFamily="1" charset="0"/>
                <a:ea typeface="Fira Code" pitchFamily="1" charset="0"/>
                <a:cs typeface="Fira Code" pitchFamily="1" charset="0"/>
              </a:rPr>
              <a:t>.ToSingle</a:t>
            </a:r>
            <a:r>
              <a:rPr lang="en-US" sz="2800">
                <a:latin typeface="Fira Code" pitchFamily="1" charset="0"/>
                <a:ea typeface="Fira Code" pitchFamily="1" charset="0"/>
                <a:cs typeface="Fira Code" pitchFamily="1" charset="0"/>
              </a:rPr>
              <a:t>(7);</a:t>
            </a:r>
          </a:p>
          <a:p>
            <a:endParaRPr lang="en-US" sz="2800"/>
          </a:p>
        </p:txBody>
      </p:sp>
    </p:spTree>
    <p:extLst>
      <p:ext uri="{BB962C8B-B14F-4D97-AF65-F5344CB8AC3E}">
        <p14:creationId xmlns:p14="http://schemas.microsoft.com/office/powerpoint/2010/main" val="589467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F604-0F47-7F23-859F-EFDE4F910FBC}"/>
              </a:ext>
            </a:extLst>
          </p:cNvPr>
          <p:cNvSpPr>
            <a:spLocks noGrp="1"/>
          </p:cNvSpPr>
          <p:nvPr>
            <p:ph type="title"/>
          </p:nvPr>
        </p:nvSpPr>
        <p:spPr/>
        <p:txBody>
          <a:bodyPr/>
          <a:lstStyle/>
          <a:p>
            <a:r>
              <a:rPr lang="en-US"/>
              <a:t>Built In String Parsing</a:t>
            </a:r>
          </a:p>
        </p:txBody>
      </p:sp>
      <p:sp>
        <p:nvSpPr>
          <p:cNvPr id="3" name="Content Placeholder 2">
            <a:extLst>
              <a:ext uri="{FF2B5EF4-FFF2-40B4-BE49-F238E27FC236}">
                <a16:creationId xmlns:a16="http://schemas.microsoft.com/office/drawing/2014/main" id="{ABE67770-1E34-079E-EF82-D8A7B7FF8CC2}"/>
              </a:ext>
            </a:extLst>
          </p:cNvPr>
          <p:cNvSpPr>
            <a:spLocks noGrp="1"/>
          </p:cNvSpPr>
          <p:nvPr>
            <p:ph idx="1"/>
          </p:nvPr>
        </p:nvSpPr>
        <p:spPr/>
        <p:txBody>
          <a:bodyPr>
            <a:normAutofit/>
          </a:bodyPr>
          <a:lstStyle/>
          <a:p>
            <a:r>
              <a:rPr lang="en-US" sz="2800" err="1"/>
              <a:t>System.String</a:t>
            </a:r>
            <a:endParaRPr lang="en-US" sz="2800"/>
          </a:p>
          <a:p>
            <a:pPr lvl="1"/>
            <a:r>
              <a:rPr lang="en-US" sz="2400">
                <a:hlinkClick r:id="rId2"/>
              </a:rPr>
              <a:t>https://learn.microsoft.com/en-us/dotnet/api/system.string?view=net-8.0</a:t>
            </a:r>
            <a:endParaRPr lang="en-US" sz="2400"/>
          </a:p>
          <a:p>
            <a:pPr lvl="1"/>
            <a:r>
              <a:rPr lang="en-US" sz="2400"/>
              <a:t>Strings can be converted to int/float by using Parse</a:t>
            </a:r>
          </a:p>
          <a:p>
            <a:endParaRPr lang="en-US" sz="2800"/>
          </a:p>
          <a:p>
            <a:pPr marL="0" indent="0">
              <a:buNone/>
            </a:pPr>
            <a:r>
              <a:rPr lang="en-US" sz="2000">
                <a:solidFill>
                  <a:srgbClr val="0070C0"/>
                </a:solidFill>
                <a:latin typeface="Fira Code" pitchFamily="1" charset="0"/>
                <a:ea typeface="Fira Code" pitchFamily="1" charset="0"/>
                <a:cs typeface="Fira Code" pitchFamily="1" charset="0"/>
              </a:rPr>
              <a:t>int</a:t>
            </a:r>
            <a:r>
              <a:rPr lang="en-US" sz="2000">
                <a:latin typeface="Fira Code" pitchFamily="1" charset="0"/>
                <a:ea typeface="Fira Code" pitchFamily="1" charset="0"/>
                <a:cs typeface="Fira Code" pitchFamily="1" charset="0"/>
              </a:rPr>
              <a:t> value = </a:t>
            </a:r>
            <a:r>
              <a:rPr lang="en-US" sz="2000" err="1">
                <a:solidFill>
                  <a:srgbClr val="0070C0"/>
                </a:solidFill>
                <a:latin typeface="Fira Code" pitchFamily="1" charset="0"/>
                <a:ea typeface="Fira Code" pitchFamily="1" charset="0"/>
                <a:cs typeface="Fira Code" pitchFamily="1" charset="0"/>
              </a:rPr>
              <a:t>int</a:t>
            </a:r>
            <a:r>
              <a:rPr lang="en-US" sz="2000" err="1">
                <a:latin typeface="Fira Code" pitchFamily="1" charset="0"/>
                <a:ea typeface="Fira Code" pitchFamily="1" charset="0"/>
                <a:cs typeface="Fira Code" pitchFamily="1" charset="0"/>
              </a:rPr>
              <a:t>.Parse</a:t>
            </a:r>
            <a:r>
              <a:rPr lang="en-US" sz="2000">
                <a:latin typeface="Fira Code" pitchFamily="1" charset="0"/>
                <a:ea typeface="Fira Code" pitchFamily="1" charset="0"/>
                <a:cs typeface="Fira Code" pitchFamily="1" charset="0"/>
              </a:rPr>
              <a:t>("123");</a:t>
            </a:r>
          </a:p>
          <a:p>
            <a:pPr marL="0" indent="0">
              <a:buNone/>
            </a:pPr>
            <a:r>
              <a:rPr lang="en-US" sz="2000">
                <a:solidFill>
                  <a:srgbClr val="0070C0"/>
                </a:solidFill>
                <a:latin typeface="Fira Code" pitchFamily="1" charset="0"/>
                <a:ea typeface="Fira Code" pitchFamily="1" charset="0"/>
                <a:cs typeface="Fira Code" pitchFamily="1" charset="0"/>
              </a:rPr>
              <a:t>double</a:t>
            </a:r>
            <a:r>
              <a:rPr lang="en-US" sz="2000">
                <a:latin typeface="Fira Code" pitchFamily="1" charset="0"/>
                <a:ea typeface="Fira Code" pitchFamily="1" charset="0"/>
                <a:cs typeface="Fira Code" pitchFamily="1" charset="0"/>
              </a:rPr>
              <a:t> value = </a:t>
            </a:r>
            <a:r>
              <a:rPr lang="en-US" sz="2000" err="1">
                <a:solidFill>
                  <a:srgbClr val="0070C0"/>
                </a:solidFill>
                <a:latin typeface="Fira Code" pitchFamily="1" charset="0"/>
                <a:ea typeface="Fira Code" pitchFamily="1" charset="0"/>
                <a:cs typeface="Fira Code" pitchFamily="1" charset="0"/>
              </a:rPr>
              <a:t>double</a:t>
            </a:r>
            <a:r>
              <a:rPr lang="en-US" sz="2000" err="1">
                <a:latin typeface="Fira Code" pitchFamily="1" charset="0"/>
                <a:ea typeface="Fira Code" pitchFamily="1" charset="0"/>
                <a:cs typeface="Fira Code" pitchFamily="1" charset="0"/>
              </a:rPr>
              <a:t>.Parse</a:t>
            </a:r>
            <a:r>
              <a:rPr lang="en-US" sz="2000">
                <a:latin typeface="Fira Code" pitchFamily="1" charset="0"/>
                <a:ea typeface="Fira Code" pitchFamily="1" charset="0"/>
                <a:cs typeface="Fira Code" pitchFamily="1" charset="0"/>
              </a:rPr>
              <a:t>("7.59");</a:t>
            </a:r>
          </a:p>
          <a:p>
            <a:pPr marL="0" indent="0">
              <a:buNone/>
            </a:pPr>
            <a:endParaRPr lang="en-US" sz="2000">
              <a:latin typeface="Fira Code" pitchFamily="1" charset="0"/>
              <a:ea typeface="Fira Code" pitchFamily="1" charset="0"/>
              <a:cs typeface="Fira Code" pitchFamily="1" charset="0"/>
            </a:endParaRPr>
          </a:p>
          <a:p>
            <a:pPr marL="0" indent="0">
              <a:buNone/>
            </a:pPr>
            <a:r>
              <a:rPr lang="en-US" sz="2000">
                <a:solidFill>
                  <a:srgbClr val="0070C0"/>
                </a:solidFill>
                <a:latin typeface="Fira Code" pitchFamily="1" charset="0"/>
                <a:ea typeface="Fira Code" pitchFamily="1" charset="0"/>
                <a:cs typeface="Fira Code" pitchFamily="1" charset="0"/>
              </a:rPr>
              <a:t>string</a:t>
            </a:r>
            <a:r>
              <a:rPr lang="en-US" sz="2000">
                <a:latin typeface="Fira Code" pitchFamily="1" charset="0"/>
                <a:ea typeface="Fira Code" pitchFamily="1" charset="0"/>
                <a:cs typeface="Fira Code" pitchFamily="1" charset="0"/>
              </a:rPr>
              <a:t> input = </a:t>
            </a:r>
            <a:r>
              <a:rPr lang="en-US" sz="2000">
                <a:solidFill>
                  <a:srgbClr val="C00000"/>
                </a:solidFill>
                <a:latin typeface="Fira Code" pitchFamily="1" charset="0"/>
                <a:ea typeface="Fira Code" pitchFamily="1" charset="0"/>
                <a:cs typeface="Fira Code" pitchFamily="1" charset="0"/>
              </a:rPr>
              <a:t>"Hello World!";</a:t>
            </a:r>
          </a:p>
          <a:p>
            <a:pPr marL="0" indent="0">
              <a:buNone/>
            </a:pPr>
            <a:r>
              <a:rPr lang="en-US" sz="2000">
                <a:solidFill>
                  <a:srgbClr val="0070C0"/>
                </a:solidFill>
                <a:latin typeface="Fira Code" pitchFamily="1" charset="0"/>
                <a:ea typeface="Fira Code" pitchFamily="1" charset="0"/>
                <a:cs typeface="Fira Code" pitchFamily="1" charset="0"/>
              </a:rPr>
              <a:t>char</a:t>
            </a:r>
            <a:r>
              <a:rPr lang="en-US" sz="2000">
                <a:latin typeface="Fira Code" pitchFamily="1" charset="0"/>
                <a:ea typeface="Fira Code" pitchFamily="1" charset="0"/>
                <a:cs typeface="Fira Code" pitchFamily="1" charset="0"/>
              </a:rPr>
              <a:t>[] </a:t>
            </a:r>
            <a:r>
              <a:rPr lang="en-US" sz="2000" err="1">
                <a:latin typeface="Fira Code" pitchFamily="1" charset="0"/>
                <a:ea typeface="Fira Code" pitchFamily="1" charset="0"/>
                <a:cs typeface="Fira Code" pitchFamily="1" charset="0"/>
              </a:rPr>
              <a:t>string_chars</a:t>
            </a:r>
            <a:r>
              <a:rPr lang="en-US" sz="2000">
                <a:latin typeface="Fira Code" pitchFamily="1" charset="0"/>
                <a:ea typeface="Fira Code" pitchFamily="1" charset="0"/>
                <a:cs typeface="Fira Code" pitchFamily="1" charset="0"/>
              </a:rPr>
              <a:t> = input.</a:t>
            </a:r>
            <a:r>
              <a:rPr lang="en-US" sz="2000" err="1">
                <a:latin typeface="Fira Code" pitchFamily="1" charset="0"/>
                <a:ea typeface="Fira Code" pitchFamily="1" charset="0"/>
                <a:cs typeface="Fira Code" pitchFamily="1" charset="0"/>
              </a:rPr>
              <a:t>ToCharArray</a:t>
            </a:r>
            <a:r>
              <a:rPr lang="en-US" sz="2000">
                <a:latin typeface="Fira Code" pitchFamily="1" charset="0"/>
                <a:ea typeface="Fira Code" pitchFamily="1" charset="0"/>
                <a:cs typeface="Fira Code" pitchFamily="1" charset="0"/>
              </a:rPr>
              <a:t>(6, </a:t>
            </a:r>
            <a:r>
              <a:rPr lang="en-US" sz="2000" err="1">
                <a:latin typeface="Fira Code" pitchFamily="1" charset="0"/>
                <a:ea typeface="Fira Code" pitchFamily="1" charset="0"/>
                <a:cs typeface="Fira Code" pitchFamily="1" charset="0"/>
              </a:rPr>
              <a:t>input.Length</a:t>
            </a:r>
            <a:r>
              <a:rPr lang="en-US" sz="2000">
                <a:latin typeface="Fira Code" pitchFamily="1" charset="0"/>
                <a:ea typeface="Fira Code" pitchFamily="1" charset="0"/>
                <a:cs typeface="Fira Code" pitchFamily="1" charset="0"/>
              </a:rPr>
              <a:t>);</a:t>
            </a:r>
          </a:p>
        </p:txBody>
      </p:sp>
    </p:spTree>
    <p:extLst>
      <p:ext uri="{BB962C8B-B14F-4D97-AF65-F5344CB8AC3E}">
        <p14:creationId xmlns:p14="http://schemas.microsoft.com/office/powerpoint/2010/main" val="563569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D071-690A-E50C-74D7-9E168F34CDCD}"/>
              </a:ext>
            </a:extLst>
          </p:cNvPr>
          <p:cNvSpPr>
            <a:spLocks noGrp="1"/>
          </p:cNvSpPr>
          <p:nvPr>
            <p:ph type="title"/>
          </p:nvPr>
        </p:nvSpPr>
        <p:spPr/>
        <p:txBody>
          <a:bodyPr/>
          <a:lstStyle/>
          <a:p>
            <a:r>
              <a:rPr lang="en-US"/>
              <a:t>Console</a:t>
            </a:r>
          </a:p>
        </p:txBody>
      </p:sp>
      <p:sp>
        <p:nvSpPr>
          <p:cNvPr id="3" name="Content Placeholder 2">
            <a:extLst>
              <a:ext uri="{FF2B5EF4-FFF2-40B4-BE49-F238E27FC236}">
                <a16:creationId xmlns:a16="http://schemas.microsoft.com/office/drawing/2014/main" id="{968D4F67-6134-9BD6-0E62-41270823B9B5}"/>
              </a:ext>
            </a:extLst>
          </p:cNvPr>
          <p:cNvSpPr>
            <a:spLocks noGrp="1"/>
          </p:cNvSpPr>
          <p:nvPr>
            <p:ph idx="1"/>
          </p:nvPr>
        </p:nvSpPr>
        <p:spPr/>
        <p:txBody>
          <a:bodyPr>
            <a:noAutofit/>
          </a:bodyPr>
          <a:lstStyle/>
          <a:p>
            <a:r>
              <a:rPr lang="en-US" sz="2400" dirty="0" err="1">
                <a:latin typeface="Fira Code" panose="020B0809050000020004" pitchFamily="49" charset="0"/>
                <a:ea typeface="Fira Code" panose="020B0809050000020004" pitchFamily="49" charset="0"/>
                <a:cs typeface="Fira Code" panose="020B0809050000020004" pitchFamily="49" charset="0"/>
              </a:rPr>
              <a:t>Console.Write</a:t>
            </a:r>
            <a:r>
              <a:rPr lang="en-US" sz="2400" dirty="0">
                <a:latin typeface="Fira Code" panose="020B0809050000020004" pitchFamily="49" charset="0"/>
                <a:ea typeface="Fira Code" panose="020B0809050000020004" pitchFamily="49" charset="0"/>
                <a:cs typeface="Fira Code" panose="020B0809050000020004" pitchFamily="49" charset="0"/>
              </a:rPr>
              <a:t>("Something");</a:t>
            </a:r>
          </a:p>
          <a:p>
            <a:pPr lvl="1"/>
            <a:r>
              <a:rPr lang="en-US" sz="2000" dirty="0"/>
              <a:t>Writes the string to standard out.</a:t>
            </a:r>
          </a:p>
          <a:p>
            <a:pPr lvl="1"/>
            <a:endParaRPr lang="en-US" sz="2000" dirty="0"/>
          </a:p>
          <a:p>
            <a:r>
              <a:rPr lang="en-US" sz="2400" dirty="0" err="1">
                <a:latin typeface="Fira Code" panose="020B0809050000020004" pitchFamily="49" charset="0"/>
                <a:ea typeface="Fira Code" panose="020B0809050000020004" pitchFamily="49" charset="0"/>
                <a:cs typeface="Fira Code" panose="020B0809050000020004" pitchFamily="49" charset="0"/>
              </a:rPr>
              <a:t>Console.WriteLine</a:t>
            </a:r>
            <a:r>
              <a:rPr lang="en-US" sz="2400" dirty="0">
                <a:latin typeface="Fira Code" panose="020B0809050000020004" pitchFamily="49" charset="0"/>
                <a:ea typeface="Fira Code" panose="020B0809050000020004" pitchFamily="49" charset="0"/>
                <a:cs typeface="Fira Code" panose="020B0809050000020004" pitchFamily="49" charset="0"/>
              </a:rPr>
              <a:t>("Something");</a:t>
            </a:r>
          </a:p>
          <a:p>
            <a:pPr lvl="1"/>
            <a:r>
              <a:rPr lang="en-US" sz="2000" dirty="0"/>
              <a:t>Writes the string and prints a newline at the end to standard out.</a:t>
            </a:r>
          </a:p>
          <a:p>
            <a:pPr lvl="1"/>
            <a:endParaRPr lang="en-US" sz="2000" dirty="0"/>
          </a:p>
          <a:p>
            <a:r>
              <a:rPr lang="en-US" sz="2400" dirty="0" err="1">
                <a:latin typeface="Fira Code" panose="020B0809050000020004" pitchFamily="49" charset="0"/>
                <a:ea typeface="Fira Code" panose="020B0809050000020004" pitchFamily="49" charset="0"/>
                <a:cs typeface="Fira Code" panose="020B0809050000020004" pitchFamily="49" charset="0"/>
              </a:rPr>
              <a:t>Console.Read</a:t>
            </a:r>
            <a:r>
              <a:rPr lang="en-US" sz="2400" dirty="0">
                <a:latin typeface="Fira Code" panose="020B0809050000020004" pitchFamily="49" charset="0"/>
                <a:ea typeface="Fira Code" panose="020B0809050000020004" pitchFamily="49" charset="0"/>
                <a:cs typeface="Fira Code" panose="020B0809050000020004" pitchFamily="49" charset="0"/>
              </a:rPr>
              <a:t>()</a:t>
            </a:r>
          </a:p>
          <a:p>
            <a:pPr lvl="1"/>
            <a:r>
              <a:rPr lang="en-US" sz="2000" dirty="0"/>
              <a:t>Reads a single character from standard in as a char.</a:t>
            </a:r>
          </a:p>
          <a:p>
            <a:pPr lvl="1"/>
            <a:endParaRPr lang="en-US" sz="2000" dirty="0"/>
          </a:p>
          <a:p>
            <a:r>
              <a:rPr lang="en-US" sz="2400" dirty="0" err="1">
                <a:latin typeface="Fira Code" panose="020B0809050000020004" pitchFamily="49" charset="0"/>
                <a:ea typeface="Fira Code" panose="020B0809050000020004" pitchFamily="49" charset="0"/>
                <a:cs typeface="Fira Code" panose="020B0809050000020004" pitchFamily="49" charset="0"/>
              </a:rPr>
              <a:t>Console.ReadLine</a:t>
            </a:r>
            <a:r>
              <a:rPr lang="en-US" sz="2400" dirty="0">
                <a:latin typeface="Fira Code" panose="020B0809050000020004" pitchFamily="49" charset="0"/>
                <a:ea typeface="Fira Code" panose="020B0809050000020004" pitchFamily="49" charset="0"/>
                <a:cs typeface="Fira Code" panose="020B0809050000020004" pitchFamily="49" charset="0"/>
              </a:rPr>
              <a:t>()</a:t>
            </a:r>
          </a:p>
          <a:p>
            <a:pPr lvl="1"/>
            <a:r>
              <a:rPr lang="en-US" sz="2000" dirty="0"/>
              <a:t>Reads a line from standard in as a string.</a:t>
            </a:r>
          </a:p>
          <a:p>
            <a:pPr lvl="1"/>
            <a:r>
              <a:rPr lang="en-US" dirty="0"/>
              <a:t>Returns null if </a:t>
            </a:r>
            <a:r>
              <a:rPr lang="en-US" dirty="0" err="1"/>
              <a:t>ReadLine</a:t>
            </a:r>
            <a:r>
              <a:rPr lang="en-US" dirty="0"/>
              <a:t> fails to read a line (e.g., EOF).</a:t>
            </a:r>
            <a:endParaRPr lang="en-US" sz="2000" dirty="0"/>
          </a:p>
        </p:txBody>
      </p:sp>
    </p:spTree>
    <p:extLst>
      <p:ext uri="{BB962C8B-B14F-4D97-AF65-F5344CB8AC3E}">
        <p14:creationId xmlns:p14="http://schemas.microsoft.com/office/powerpoint/2010/main" val="2951256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5620-4DA4-5D97-639A-C6867F893F03}"/>
              </a:ext>
            </a:extLst>
          </p:cNvPr>
          <p:cNvSpPr>
            <a:spLocks noGrp="1"/>
          </p:cNvSpPr>
          <p:nvPr>
            <p:ph type="title"/>
          </p:nvPr>
        </p:nvSpPr>
        <p:spPr/>
        <p:txBody>
          <a:bodyPr/>
          <a:lstStyle/>
          <a:p>
            <a:r>
              <a:rPr lang="en-US"/>
              <a:t>File I/O</a:t>
            </a:r>
          </a:p>
        </p:txBody>
      </p:sp>
      <p:sp>
        <p:nvSpPr>
          <p:cNvPr id="3" name="Content Placeholder 2">
            <a:extLst>
              <a:ext uri="{FF2B5EF4-FFF2-40B4-BE49-F238E27FC236}">
                <a16:creationId xmlns:a16="http://schemas.microsoft.com/office/drawing/2014/main" id="{140B7A72-C645-CFF8-E698-A0A7A4296C67}"/>
              </a:ext>
            </a:extLst>
          </p:cNvPr>
          <p:cNvSpPr>
            <a:spLocks noGrp="1"/>
          </p:cNvSpPr>
          <p:nvPr>
            <p:ph idx="1"/>
          </p:nvPr>
        </p:nvSpPr>
        <p:spPr/>
        <p:txBody>
          <a:bodyPr>
            <a:noAutofit/>
          </a:bodyPr>
          <a:lstStyle/>
          <a:p>
            <a:r>
              <a:rPr lang="en-US" sz="2000"/>
              <a:t>Files are controlled through System.IO</a:t>
            </a:r>
          </a:p>
          <a:p>
            <a:pPr lvl="1"/>
            <a:r>
              <a:rPr lang="en-US" sz="1800" err="1">
                <a:latin typeface="Fira Code" panose="020B0809050000020004" pitchFamily="49" charset="0"/>
                <a:ea typeface="Fira Code" panose="020B0809050000020004" pitchFamily="49" charset="0"/>
                <a:cs typeface="Fira Code" panose="020B0809050000020004" pitchFamily="49" charset="0"/>
              </a:rPr>
              <a:t>BinaryReader</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800" err="1">
                <a:latin typeface="Fira Code" panose="020B0809050000020004" pitchFamily="49" charset="0"/>
                <a:ea typeface="Fira Code" panose="020B0809050000020004" pitchFamily="49" charset="0"/>
                <a:cs typeface="Fira Code" panose="020B0809050000020004" pitchFamily="49" charset="0"/>
              </a:rPr>
              <a:t>BinaryWriter</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800">
                <a:latin typeface="Fira Code" panose="020B0809050000020004" pitchFamily="49" charset="0"/>
                <a:ea typeface="Fira Code" panose="020B0809050000020004" pitchFamily="49" charset="0"/>
                <a:cs typeface="Fira Code" panose="020B0809050000020004" pitchFamily="49" charset="0"/>
              </a:rPr>
              <a:t>File</a:t>
            </a:r>
          </a:p>
          <a:p>
            <a:pPr lvl="1"/>
            <a:r>
              <a:rPr lang="en-US" sz="1800">
                <a:latin typeface="Fira Code" panose="020B0809050000020004" pitchFamily="49" charset="0"/>
                <a:ea typeface="Fira Code" panose="020B0809050000020004" pitchFamily="49" charset="0"/>
                <a:cs typeface="Fira Code" panose="020B0809050000020004" pitchFamily="49" charset="0"/>
              </a:rPr>
              <a:t>Path</a:t>
            </a:r>
          </a:p>
          <a:p>
            <a:pPr lvl="1"/>
            <a:r>
              <a:rPr lang="en-US" sz="1800" err="1">
                <a:latin typeface="Fira Code" panose="020B0809050000020004" pitchFamily="49" charset="0"/>
                <a:ea typeface="Fira Code" panose="020B0809050000020004" pitchFamily="49" charset="0"/>
                <a:cs typeface="Fira Code" panose="020B0809050000020004" pitchFamily="49" charset="0"/>
              </a:rPr>
              <a:t>FileInfo</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800" err="1">
                <a:latin typeface="Fira Code" panose="020B0809050000020004" pitchFamily="49" charset="0"/>
                <a:ea typeface="Fira Code" panose="020B0809050000020004" pitchFamily="49" charset="0"/>
                <a:cs typeface="Fira Code" panose="020B0809050000020004" pitchFamily="49" charset="0"/>
              </a:rPr>
              <a:t>FileNotFoundException</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800" err="1">
                <a:latin typeface="Fira Code" panose="020B0809050000020004" pitchFamily="49" charset="0"/>
                <a:ea typeface="Fira Code" panose="020B0809050000020004" pitchFamily="49" charset="0"/>
                <a:cs typeface="Fira Code" panose="020B0809050000020004" pitchFamily="49" charset="0"/>
              </a:rPr>
              <a:t>FileStream</a:t>
            </a:r>
            <a:endParaRPr lang="en-US" sz="1800">
              <a:latin typeface="Fira Code" panose="020B0809050000020004" pitchFamily="49" charset="0"/>
              <a:ea typeface="Fira Code" panose="020B0809050000020004" pitchFamily="49" charset="0"/>
              <a:cs typeface="Fira Code" panose="020B0809050000020004" pitchFamily="49" charset="0"/>
            </a:endParaRPr>
          </a:p>
          <a:p>
            <a:pPr lvl="1"/>
            <a:r>
              <a:rPr lang="en-US" sz="1800" err="1">
                <a:latin typeface="Fira Code" panose="020B0809050000020004" pitchFamily="49" charset="0"/>
                <a:ea typeface="Fira Code" panose="020B0809050000020004" pitchFamily="49" charset="0"/>
                <a:cs typeface="Fira Code" panose="020B0809050000020004" pitchFamily="49" charset="0"/>
              </a:rPr>
              <a:t>StreamReader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implements </a:t>
            </a:r>
            <a:r>
              <a:rPr lang="en-US" sz="1800" err="1">
                <a:solidFill>
                  <a:srgbClr val="00B050"/>
                </a:solidFill>
                <a:latin typeface="Fira Code" panose="020B0809050000020004" pitchFamily="49" charset="0"/>
                <a:ea typeface="Fira Code" panose="020B0809050000020004" pitchFamily="49" charset="0"/>
                <a:cs typeface="Fira Code" panose="020B0809050000020004" pitchFamily="49" charset="0"/>
              </a:rPr>
              <a:t>TextReader</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for streams</a:t>
            </a:r>
          </a:p>
          <a:p>
            <a:pPr lvl="1"/>
            <a:r>
              <a:rPr lang="en-US" sz="1800" err="1">
                <a:latin typeface="Fira Code" panose="020B0809050000020004" pitchFamily="49" charset="0"/>
                <a:ea typeface="Fira Code" panose="020B0809050000020004" pitchFamily="49" charset="0"/>
                <a:cs typeface="Fira Code" panose="020B0809050000020004" pitchFamily="49" charset="0"/>
              </a:rPr>
              <a:t>StreamWriter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implements </a:t>
            </a:r>
            <a:r>
              <a:rPr lang="en-US" sz="1800" err="1">
                <a:solidFill>
                  <a:srgbClr val="00B050"/>
                </a:solidFill>
                <a:latin typeface="Fira Code" panose="020B0809050000020004" pitchFamily="49" charset="0"/>
                <a:ea typeface="Fira Code" panose="020B0809050000020004" pitchFamily="49" charset="0"/>
                <a:cs typeface="Fira Code" panose="020B0809050000020004" pitchFamily="49" charset="0"/>
              </a:rPr>
              <a:t>TextWriter</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for streams</a:t>
            </a:r>
          </a:p>
          <a:p>
            <a:pPr lvl="1"/>
            <a:r>
              <a:rPr lang="en-US" sz="1800" err="1">
                <a:latin typeface="Fira Code" panose="020B0809050000020004" pitchFamily="49" charset="0"/>
                <a:ea typeface="Fira Code" panose="020B0809050000020004" pitchFamily="49" charset="0"/>
                <a:cs typeface="Fira Code" panose="020B0809050000020004" pitchFamily="49" charset="0"/>
              </a:rPr>
              <a:t>TextReader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abstract base class</a:t>
            </a:r>
          </a:p>
          <a:p>
            <a:pPr lvl="1"/>
            <a:r>
              <a:rPr lang="en-US" sz="1800" err="1">
                <a:latin typeface="Fira Code" panose="020B0809050000020004" pitchFamily="49" charset="0"/>
                <a:ea typeface="Fira Code" panose="020B0809050000020004" pitchFamily="49" charset="0"/>
                <a:cs typeface="Fira Code" panose="020B0809050000020004" pitchFamily="49" charset="0"/>
              </a:rPr>
              <a:t>TextWriter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abstract base class</a:t>
            </a:r>
          </a:p>
          <a:p>
            <a:pPr lvl="1"/>
            <a:r>
              <a:rPr lang="en-US" sz="1800" err="1">
                <a:latin typeface="Fira Code" panose="020B0809050000020004" pitchFamily="49" charset="0"/>
                <a:ea typeface="Fira Code" panose="020B0809050000020004" pitchFamily="49" charset="0"/>
                <a:cs typeface="Fira Code" panose="020B0809050000020004" pitchFamily="49" charset="0"/>
              </a:rPr>
              <a:t>StringReader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a:t>
            </a:r>
            <a:r>
              <a:rPr lang="en-US" sz="1800" err="1">
                <a:solidFill>
                  <a:srgbClr val="00B050"/>
                </a:solidFill>
                <a:latin typeface="Fira Code" panose="020B0809050000020004" pitchFamily="49" charset="0"/>
                <a:ea typeface="Fira Code" panose="020B0809050000020004" pitchFamily="49" charset="0"/>
                <a:cs typeface="Fira Code" panose="020B0809050000020004" pitchFamily="49" charset="0"/>
              </a:rPr>
              <a:t>istringstream</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equivalent</a:t>
            </a:r>
          </a:p>
          <a:p>
            <a:pPr lvl="1"/>
            <a:r>
              <a:rPr lang="en-US" sz="1800" err="1">
                <a:latin typeface="Fira Code" panose="020B0809050000020004" pitchFamily="49" charset="0"/>
                <a:ea typeface="Fira Code" panose="020B0809050000020004" pitchFamily="49" charset="0"/>
                <a:cs typeface="Fira Code" panose="020B0809050000020004" pitchFamily="49" charset="0"/>
              </a:rPr>
              <a:t>StringWriter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a:t>
            </a:r>
            <a:r>
              <a:rPr lang="en-US" sz="1800" err="1">
                <a:solidFill>
                  <a:srgbClr val="00B050"/>
                </a:solidFill>
                <a:latin typeface="Fira Code" panose="020B0809050000020004" pitchFamily="49" charset="0"/>
                <a:ea typeface="Fira Code" panose="020B0809050000020004" pitchFamily="49" charset="0"/>
                <a:cs typeface="Fira Code" panose="020B0809050000020004" pitchFamily="49" charset="0"/>
              </a:rPr>
              <a:t>ostringstream</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equivalent</a:t>
            </a:r>
          </a:p>
          <a:p>
            <a:endParaRPr lang="en-US" sz="2000"/>
          </a:p>
        </p:txBody>
      </p:sp>
    </p:spTree>
    <p:extLst>
      <p:ext uri="{BB962C8B-B14F-4D97-AF65-F5344CB8AC3E}">
        <p14:creationId xmlns:p14="http://schemas.microsoft.com/office/powerpoint/2010/main" val="3315914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5F0A-05CC-EA3D-9544-1C120689D116}"/>
              </a:ext>
            </a:extLst>
          </p:cNvPr>
          <p:cNvSpPr>
            <a:spLocks noGrp="1"/>
          </p:cNvSpPr>
          <p:nvPr>
            <p:ph type="title"/>
          </p:nvPr>
        </p:nvSpPr>
        <p:spPr/>
        <p:txBody>
          <a:bodyPr/>
          <a:lstStyle/>
          <a:p>
            <a:r>
              <a:rPr lang="en-US"/>
              <a:t>Exceptions</a:t>
            </a:r>
          </a:p>
        </p:txBody>
      </p:sp>
      <p:sp>
        <p:nvSpPr>
          <p:cNvPr id="3" name="Content Placeholder 2">
            <a:extLst>
              <a:ext uri="{FF2B5EF4-FFF2-40B4-BE49-F238E27FC236}">
                <a16:creationId xmlns:a16="http://schemas.microsoft.com/office/drawing/2014/main" id="{6A7930D6-76F7-B1DA-AE30-FB6A9E038259}"/>
              </a:ext>
            </a:extLst>
          </p:cNvPr>
          <p:cNvSpPr>
            <a:spLocks noGrp="1"/>
          </p:cNvSpPr>
          <p:nvPr>
            <p:ph idx="1"/>
          </p:nvPr>
        </p:nvSpPr>
        <p:spPr/>
        <p:txBody>
          <a:bodyPr/>
          <a:lstStyle/>
          <a:p>
            <a:r>
              <a:rPr lang="en-US"/>
              <a:t>Just like C++</a:t>
            </a:r>
          </a:p>
          <a:p>
            <a:pPr lvl="1"/>
            <a:r>
              <a:rPr lang="en-US"/>
              <a:t>try/catch/throw</a:t>
            </a:r>
          </a:p>
          <a:p>
            <a:endParaRPr lang="en-US"/>
          </a:p>
          <a:p>
            <a:r>
              <a:rPr lang="en-US"/>
              <a:t>Try/Catch</a:t>
            </a:r>
          </a:p>
          <a:p>
            <a:pPr lvl="1"/>
            <a:r>
              <a:rPr lang="en-US" sz="1800">
                <a:hlinkClick r:id="rId2"/>
              </a:rPr>
              <a:t>https://learn.microsoft.com/en-us/dotnet/csharp/fundamentals/exceptions/exception-handling</a:t>
            </a:r>
            <a:endParaRPr lang="en-US" sz="1800"/>
          </a:p>
          <a:p>
            <a:endParaRPr lang="en-US"/>
          </a:p>
          <a:p>
            <a:r>
              <a:rPr lang="en-US"/>
              <a:t>You can create your own exceptions:</a:t>
            </a:r>
          </a:p>
          <a:p>
            <a:pPr lvl="1"/>
            <a:r>
              <a:rPr lang="en-US" sz="1600">
                <a:hlinkClick r:id="rId3"/>
              </a:rPr>
              <a:t>https://learn.microsoft.com/en-us/dotnet/csharp/fundamentals/exceptions/creating-and-throwing-exceptions</a:t>
            </a:r>
            <a:endParaRPr lang="en-US" sz="1600"/>
          </a:p>
        </p:txBody>
      </p:sp>
    </p:spTree>
    <p:extLst>
      <p:ext uri="{BB962C8B-B14F-4D97-AF65-F5344CB8AC3E}">
        <p14:creationId xmlns:p14="http://schemas.microsoft.com/office/powerpoint/2010/main" val="2726731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4874-591F-4EB8-A3A7-EF25716C1513}"/>
              </a:ext>
            </a:extLst>
          </p:cNvPr>
          <p:cNvSpPr>
            <a:spLocks noGrp="1"/>
          </p:cNvSpPr>
          <p:nvPr>
            <p:ph type="title"/>
          </p:nvPr>
        </p:nvSpPr>
        <p:spPr/>
        <p:txBody>
          <a:bodyPr/>
          <a:lstStyle/>
          <a:p>
            <a:r>
              <a:rPr lang="en-US"/>
              <a:t>Exception Handling</a:t>
            </a:r>
          </a:p>
        </p:txBody>
      </p:sp>
      <p:sp>
        <p:nvSpPr>
          <p:cNvPr id="3" name="Content Placeholder 2">
            <a:extLst>
              <a:ext uri="{FF2B5EF4-FFF2-40B4-BE49-F238E27FC236}">
                <a16:creationId xmlns:a16="http://schemas.microsoft.com/office/drawing/2014/main" id="{2840DDE3-E769-4223-84A7-5E402A98E2D4}"/>
              </a:ext>
            </a:extLst>
          </p:cNvPr>
          <p:cNvSpPr>
            <a:spLocks noGrp="1"/>
          </p:cNvSpPr>
          <p:nvPr>
            <p:ph idx="1"/>
          </p:nvPr>
        </p:nvSpPr>
        <p:spPr/>
        <p:txBody>
          <a:bodyPr>
            <a:normAutofit lnSpcReduction="10000"/>
          </a:bodyPr>
          <a:lstStyle/>
          <a:p>
            <a:r>
              <a:rPr lang="en-US" sz="2400">
                <a:solidFill>
                  <a:srgbClr val="0070C0"/>
                </a:solidFill>
              </a:rPr>
              <a:t>try</a:t>
            </a:r>
            <a:r>
              <a:rPr lang="en-US" sz="2400"/>
              <a:t> { }</a:t>
            </a:r>
          </a:p>
          <a:p>
            <a:pPr lvl="1"/>
            <a:r>
              <a:rPr lang="en-US" sz="2000"/>
              <a:t>Execute statements inside this block that might throw an exception</a:t>
            </a:r>
          </a:p>
          <a:p>
            <a:r>
              <a:rPr lang="en-US" sz="2400">
                <a:solidFill>
                  <a:srgbClr val="0070C0"/>
                </a:solidFill>
              </a:rPr>
              <a:t>catch</a:t>
            </a:r>
            <a:r>
              <a:rPr lang="en-US" sz="2400"/>
              <a:t> { }</a:t>
            </a:r>
          </a:p>
          <a:p>
            <a:pPr lvl="1"/>
            <a:r>
              <a:rPr lang="en-US" sz="2000"/>
              <a:t>Execute statements inside this block when an exception was thrown</a:t>
            </a:r>
          </a:p>
          <a:p>
            <a:pPr lvl="2"/>
            <a:r>
              <a:rPr lang="en-US" sz="1800"/>
              <a:t>use: catch (</a:t>
            </a:r>
            <a:r>
              <a:rPr lang="en-US" sz="1800" err="1"/>
              <a:t>ExceptionName</a:t>
            </a:r>
            <a:r>
              <a:rPr lang="en-US" sz="1800"/>
              <a:t> e1) { } to catch specific exceptions</a:t>
            </a:r>
          </a:p>
          <a:p>
            <a:r>
              <a:rPr lang="en-US" sz="2400">
                <a:solidFill>
                  <a:srgbClr val="0070C0"/>
                </a:solidFill>
              </a:rPr>
              <a:t>finally</a:t>
            </a:r>
            <a:r>
              <a:rPr lang="en-US" sz="2400"/>
              <a:t> { }</a:t>
            </a:r>
          </a:p>
          <a:p>
            <a:pPr lvl="1"/>
            <a:r>
              <a:rPr lang="en-US" sz="2000"/>
              <a:t>Execute a “final” set of statements regardless of whether or not an exception was thrown</a:t>
            </a:r>
          </a:p>
          <a:p>
            <a:endParaRPr lang="en-US" sz="2400"/>
          </a:p>
          <a:p>
            <a:r>
              <a:rPr lang="en-US" sz="2400">
                <a:solidFill>
                  <a:srgbClr val="0070C0"/>
                </a:solidFill>
              </a:rPr>
              <a:t>throw</a:t>
            </a:r>
            <a:r>
              <a:rPr lang="en-US" sz="2400"/>
              <a:t> – Throws an exception to a try{} catch{} block</a:t>
            </a:r>
          </a:p>
        </p:txBody>
      </p:sp>
    </p:spTree>
    <p:extLst>
      <p:ext uri="{BB962C8B-B14F-4D97-AF65-F5344CB8AC3E}">
        <p14:creationId xmlns:p14="http://schemas.microsoft.com/office/powerpoint/2010/main" val="1602472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EFAF-4778-3F92-AACB-BA2442AFE61B}"/>
              </a:ext>
            </a:extLst>
          </p:cNvPr>
          <p:cNvSpPr>
            <a:spLocks noGrp="1"/>
          </p:cNvSpPr>
          <p:nvPr>
            <p:ph type="title"/>
          </p:nvPr>
        </p:nvSpPr>
        <p:spPr/>
        <p:txBody>
          <a:bodyPr/>
          <a:lstStyle/>
          <a:p>
            <a:r>
              <a:rPr lang="en-US"/>
              <a:t>Loops</a:t>
            </a:r>
          </a:p>
        </p:txBody>
      </p:sp>
      <p:sp>
        <p:nvSpPr>
          <p:cNvPr id="3" name="Content Placeholder 2">
            <a:extLst>
              <a:ext uri="{FF2B5EF4-FFF2-40B4-BE49-F238E27FC236}">
                <a16:creationId xmlns:a16="http://schemas.microsoft.com/office/drawing/2014/main" id="{EEEA5344-778B-FA91-E55B-3754C1E5BDC4}"/>
              </a:ext>
            </a:extLst>
          </p:cNvPr>
          <p:cNvSpPr>
            <a:spLocks noGrp="1"/>
          </p:cNvSpPr>
          <p:nvPr>
            <p:ph idx="1"/>
          </p:nvPr>
        </p:nvSpPr>
        <p:spPr/>
        <p:txBody>
          <a:bodyPr/>
          <a:lstStyle/>
          <a:p>
            <a:r>
              <a:rPr lang="en-US"/>
              <a:t>for</a:t>
            </a:r>
          </a:p>
          <a:p>
            <a:endParaRPr lang="en-US"/>
          </a:p>
          <a:p>
            <a:r>
              <a:rPr lang="en-US"/>
              <a:t>foreach</a:t>
            </a:r>
          </a:p>
          <a:p>
            <a:endParaRPr lang="en-US"/>
          </a:p>
          <a:p>
            <a:r>
              <a:rPr lang="en-US"/>
              <a:t>while</a:t>
            </a:r>
          </a:p>
          <a:p>
            <a:endParaRPr lang="en-US"/>
          </a:p>
          <a:p>
            <a:r>
              <a:rPr lang="en-US"/>
              <a:t>do-while</a:t>
            </a:r>
          </a:p>
        </p:txBody>
      </p:sp>
    </p:spTree>
    <p:extLst>
      <p:ext uri="{BB962C8B-B14F-4D97-AF65-F5344CB8AC3E}">
        <p14:creationId xmlns:p14="http://schemas.microsoft.com/office/powerpoint/2010/main" val="913412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AB06A-9843-7DFF-E468-677C3B5DBD26}"/>
              </a:ext>
            </a:extLst>
          </p:cNvPr>
          <p:cNvSpPr>
            <a:spLocks noGrp="1"/>
          </p:cNvSpPr>
          <p:nvPr>
            <p:ph type="title"/>
          </p:nvPr>
        </p:nvSpPr>
        <p:spPr/>
        <p:txBody>
          <a:bodyPr/>
          <a:lstStyle/>
          <a:p>
            <a:r>
              <a:rPr lang="en-US"/>
              <a:t>For Loop</a:t>
            </a:r>
          </a:p>
        </p:txBody>
      </p:sp>
      <p:sp>
        <p:nvSpPr>
          <p:cNvPr id="3" name="Content Placeholder 2">
            <a:extLst>
              <a:ext uri="{FF2B5EF4-FFF2-40B4-BE49-F238E27FC236}">
                <a16:creationId xmlns:a16="http://schemas.microsoft.com/office/drawing/2014/main" id="{A5822F35-DFC7-6E97-23F2-0FB697A0706D}"/>
              </a:ext>
            </a:extLst>
          </p:cNvPr>
          <p:cNvSpPr>
            <a:spLocks noGrp="1"/>
          </p:cNvSpPr>
          <p:nvPr>
            <p:ph idx="1"/>
          </p:nvPr>
        </p:nvSpPr>
        <p:spPr/>
        <p:txBody>
          <a:bodyPr/>
          <a:lstStyle/>
          <a:p>
            <a:r>
              <a:rPr lang="en-US"/>
              <a:t>Same as C/C++/Java</a:t>
            </a:r>
          </a:p>
          <a:p>
            <a:endParaRPr lang="en-US"/>
          </a:p>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for</a:t>
            </a:r>
            <a:r>
              <a:rPr lang="en-US" sz="2400">
                <a:latin typeface="Fira Code" panose="020B0809050000020004" pitchFamily="49" charset="0"/>
                <a:ea typeface="Fira Code" panose="020B0809050000020004" pitchFamily="49" charset="0"/>
                <a:cs typeface="Fira Code" panose="020B0809050000020004" pitchFamily="49" charset="0"/>
              </a:rPr>
              <a:t> (initializer; condition; step)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body</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3718079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9EA08-2C86-DA9E-2AB3-8BA995D3CC89}"/>
              </a:ext>
            </a:extLst>
          </p:cNvPr>
          <p:cNvSpPr>
            <a:spLocks noGrp="1"/>
          </p:cNvSpPr>
          <p:nvPr>
            <p:ph type="title"/>
          </p:nvPr>
        </p:nvSpPr>
        <p:spPr/>
        <p:txBody>
          <a:bodyPr/>
          <a:lstStyle/>
          <a:p>
            <a:r>
              <a:rPr lang="en-US"/>
              <a:t>Foreach Loop</a:t>
            </a:r>
          </a:p>
        </p:txBody>
      </p:sp>
      <p:sp>
        <p:nvSpPr>
          <p:cNvPr id="3" name="Content Placeholder 2">
            <a:extLst>
              <a:ext uri="{FF2B5EF4-FFF2-40B4-BE49-F238E27FC236}">
                <a16:creationId xmlns:a16="http://schemas.microsoft.com/office/drawing/2014/main" id="{EF30B6EA-D674-DF84-9578-3A8879114D09}"/>
              </a:ext>
            </a:extLst>
          </p:cNvPr>
          <p:cNvSpPr>
            <a:spLocks noGrp="1"/>
          </p:cNvSpPr>
          <p:nvPr>
            <p:ph idx="1"/>
          </p:nvPr>
        </p:nvSpPr>
        <p:spPr/>
        <p:txBody>
          <a:bodyPr/>
          <a:lstStyle/>
          <a:p>
            <a:r>
              <a:rPr lang="en-US" dirty="0"/>
              <a:t>Same as Java/C++'s foreach loop</a:t>
            </a:r>
          </a:p>
          <a:p>
            <a:pPr lvl="1"/>
            <a:r>
              <a:rPr lang="en-US" dirty="0"/>
              <a:t>Except uses the keyword </a:t>
            </a:r>
            <a:r>
              <a:rPr lang="en-US" b="1" dirty="0"/>
              <a:t>foreach</a:t>
            </a:r>
          </a:p>
          <a:p>
            <a:pPr lvl="1"/>
            <a:endParaRPr lang="en-US" dirty="0"/>
          </a:p>
          <a:p>
            <a:pPr marL="0" indent="0">
              <a:buNone/>
            </a:pPr>
            <a:r>
              <a:rPr lang="en-US" sz="2000" dirty="0">
                <a:solidFill>
                  <a:srgbClr val="0070C0"/>
                </a:solidFill>
                <a:latin typeface="Fira Code" panose="020B0809050000020004" pitchFamily="49" charset="0"/>
                <a:ea typeface="Fira Code" panose="020B0809050000020004" pitchFamily="49" charset="0"/>
                <a:cs typeface="Fira Code" panose="020B0809050000020004" pitchFamily="49" charset="0"/>
              </a:rPr>
              <a:t>double</a:t>
            </a:r>
            <a:r>
              <a:rPr lang="en-US" sz="2000" dirty="0">
                <a:latin typeface="Fira Code" panose="020B0809050000020004" pitchFamily="49" charset="0"/>
                <a:ea typeface="Fira Code" panose="020B0809050000020004" pitchFamily="49" charset="0"/>
                <a:cs typeface="Fira Code" panose="020B0809050000020004" pitchFamily="49" charset="0"/>
              </a:rPr>
              <a:t>[] array = </a:t>
            </a:r>
            <a:r>
              <a:rPr lang="en-US" sz="2000" dirty="0">
                <a:solidFill>
                  <a:srgbClr val="0070C0"/>
                </a:solidFill>
                <a:latin typeface="Fira Code" panose="020B0809050000020004" pitchFamily="49" charset="0"/>
                <a:ea typeface="Fira Code" panose="020B0809050000020004" pitchFamily="49" charset="0"/>
                <a:cs typeface="Fira Code" panose="020B0809050000020004" pitchFamily="49" charset="0"/>
              </a:rPr>
              <a:t>new double</a:t>
            </a:r>
            <a:r>
              <a:rPr lang="en-US" sz="2000" dirty="0">
                <a:latin typeface="Fira Code" panose="020B0809050000020004" pitchFamily="49" charset="0"/>
                <a:ea typeface="Fira Code" panose="020B0809050000020004" pitchFamily="49" charset="0"/>
                <a:cs typeface="Fira Code" panose="020B0809050000020004" pitchFamily="49" charset="0"/>
              </a:rPr>
              <a:t>[] { 1.1, 2.2, 3.3, 4.4, 5.5 };</a:t>
            </a:r>
          </a:p>
          <a:p>
            <a:pPr marL="0" indent="0">
              <a:buNone/>
            </a:pPr>
            <a:r>
              <a:rPr lang="en-US" sz="2000" dirty="0">
                <a:solidFill>
                  <a:srgbClr val="0070C0"/>
                </a:solidFill>
                <a:latin typeface="Fira Code" panose="020B0809050000020004" pitchFamily="49" charset="0"/>
                <a:ea typeface="Fira Code" panose="020B0809050000020004" pitchFamily="49" charset="0"/>
                <a:cs typeface="Fira Code" panose="020B0809050000020004" pitchFamily="49" charset="0"/>
              </a:rPr>
              <a:t>foreach</a:t>
            </a:r>
            <a:r>
              <a:rPr lang="en-US" sz="2000" dirty="0">
                <a:latin typeface="Fira Code" panose="020B0809050000020004" pitchFamily="49" charset="0"/>
                <a:ea typeface="Fira Code" panose="020B0809050000020004" pitchFamily="49" charset="0"/>
                <a:cs typeface="Fira Code" panose="020B0809050000020004" pitchFamily="49" charset="0"/>
              </a:rPr>
              <a:t> (</a:t>
            </a:r>
            <a:r>
              <a:rPr lang="en-US" sz="2000" dirty="0">
                <a:solidFill>
                  <a:srgbClr val="0070C0"/>
                </a:solidFill>
                <a:latin typeface="Fira Code" panose="020B0809050000020004" pitchFamily="49" charset="0"/>
                <a:ea typeface="Fira Code" panose="020B0809050000020004" pitchFamily="49" charset="0"/>
                <a:cs typeface="Fira Code" panose="020B0809050000020004" pitchFamily="49" charset="0"/>
              </a:rPr>
              <a:t>var</a:t>
            </a:r>
            <a:r>
              <a:rPr lang="en-US" sz="2000" dirty="0">
                <a:latin typeface="Fira Code" panose="020B0809050000020004" pitchFamily="49" charset="0"/>
                <a:ea typeface="Fira Code" panose="020B0809050000020004" pitchFamily="49" charset="0"/>
                <a:cs typeface="Fira Code" panose="020B0809050000020004" pitchFamily="49" charset="0"/>
              </a:rPr>
              <a:t> </a:t>
            </a:r>
            <a:r>
              <a:rPr lang="en-US" sz="2000" dirty="0" err="1">
                <a:latin typeface="Fira Code" panose="020B0809050000020004" pitchFamily="49" charset="0"/>
                <a:ea typeface="Fira Code" panose="020B0809050000020004" pitchFamily="49" charset="0"/>
                <a:cs typeface="Fira Code" panose="020B0809050000020004" pitchFamily="49" charset="0"/>
              </a:rPr>
              <a:t>i</a:t>
            </a: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in</a:t>
            </a:r>
            <a:r>
              <a:rPr lang="en-US" sz="2000">
                <a:latin typeface="Fira Code" panose="020B0809050000020004" pitchFamily="49" charset="0"/>
                <a:ea typeface="Fira Code" panose="020B0809050000020004" pitchFamily="49" charset="0"/>
                <a:cs typeface="Fira Code" panose="020B0809050000020004" pitchFamily="49" charset="0"/>
              </a:rPr>
              <a:t> array[1..4]) {</a:t>
            </a:r>
          </a:p>
          <a:p>
            <a:pPr marL="0" indent="0">
              <a:buNone/>
            </a:pPr>
            <a:r>
              <a:rPr lang="en-US" sz="2000" dirty="0">
                <a:latin typeface="Fira Code" panose="020B0809050000020004" pitchFamily="49" charset="0"/>
                <a:ea typeface="Fira Code" panose="020B0809050000020004" pitchFamily="49" charset="0"/>
                <a:cs typeface="Fira Code" panose="020B0809050000020004" pitchFamily="49" charset="0"/>
              </a:rPr>
              <a:t>          </a:t>
            </a:r>
            <a:r>
              <a:rPr lang="en-US" sz="2000" dirty="0" err="1">
                <a:latin typeface="Fira Code" panose="020B0809050000020004" pitchFamily="49" charset="0"/>
                <a:ea typeface="Fira Code" panose="020B0809050000020004" pitchFamily="49" charset="0"/>
                <a:cs typeface="Fira Code" panose="020B0809050000020004" pitchFamily="49" charset="0"/>
              </a:rPr>
              <a:t>Console.WriteLine</a:t>
            </a:r>
            <a:r>
              <a:rPr lang="en-US" sz="2000" dirty="0">
                <a:latin typeface="Fira Code" panose="020B0809050000020004" pitchFamily="49" charset="0"/>
                <a:ea typeface="Fira Code" panose="020B0809050000020004" pitchFamily="49" charset="0"/>
                <a:cs typeface="Fira Code" panose="020B0809050000020004" pitchFamily="49" charset="0"/>
              </a:rPr>
              <a:t>($"{</a:t>
            </a:r>
            <a:r>
              <a:rPr lang="en-US" sz="2000" dirty="0" err="1">
                <a:latin typeface="Fira Code" panose="020B0809050000020004" pitchFamily="49" charset="0"/>
                <a:ea typeface="Fira Code" panose="020B0809050000020004" pitchFamily="49" charset="0"/>
                <a:cs typeface="Fira Code" panose="020B0809050000020004" pitchFamily="49" charset="0"/>
              </a:rPr>
              <a:t>i</a:t>
            </a:r>
            <a:r>
              <a:rPr lang="en-US" sz="2000" dirty="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000" dirty="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sz="2000" dirty="0">
              <a:latin typeface="Fira Code" panose="020B0809050000020004" pitchFamily="49" charset="0"/>
              <a:ea typeface="Fira Code" panose="020B0809050000020004" pitchFamily="49" charset="0"/>
              <a:cs typeface="Fira Code" panose="020B0809050000020004" pitchFamily="49" charset="0"/>
            </a:endParaRPr>
          </a:p>
          <a:p>
            <a:r>
              <a:rPr lang="en-US" sz="2400" dirty="0">
                <a:ea typeface="Fira Code" panose="020B0809050000020004" pitchFamily="49" charset="0"/>
                <a:cs typeface="Fira Code" panose="020B0809050000020004" pitchFamily="49" charset="0"/>
              </a:rPr>
              <a:t>Can be used on primitives or classes that implement </a:t>
            </a:r>
            <a:r>
              <a:rPr lang="en-US" sz="2400" dirty="0" err="1">
                <a:latin typeface="Fira Code" panose="020B0809050000020004" pitchFamily="49" charset="0"/>
                <a:ea typeface="Fira Code" panose="020B0809050000020004" pitchFamily="49" charset="0"/>
                <a:cs typeface="Fira Code" panose="020B0809050000020004" pitchFamily="49" charset="0"/>
              </a:rPr>
              <a:t>IEnumerable</a:t>
            </a:r>
            <a:endParaRPr lang="en-US" sz="2400" dirty="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2589472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C8E6-E654-6F78-B93C-3F24E13B9127}"/>
              </a:ext>
            </a:extLst>
          </p:cNvPr>
          <p:cNvSpPr>
            <a:spLocks noGrp="1"/>
          </p:cNvSpPr>
          <p:nvPr>
            <p:ph type="title"/>
          </p:nvPr>
        </p:nvSpPr>
        <p:spPr/>
        <p:txBody>
          <a:bodyPr/>
          <a:lstStyle/>
          <a:p>
            <a:r>
              <a:rPr lang="en-US"/>
              <a:t>While and Do-While Loops</a:t>
            </a:r>
          </a:p>
        </p:txBody>
      </p:sp>
      <p:sp>
        <p:nvSpPr>
          <p:cNvPr id="3" name="Content Placeholder 2">
            <a:extLst>
              <a:ext uri="{FF2B5EF4-FFF2-40B4-BE49-F238E27FC236}">
                <a16:creationId xmlns:a16="http://schemas.microsoft.com/office/drawing/2014/main" id="{2D10A6C2-DF39-87F6-1D66-72A4E2A20EBA}"/>
              </a:ext>
            </a:extLst>
          </p:cNvPr>
          <p:cNvSpPr>
            <a:spLocks noGrp="1"/>
          </p:cNvSpPr>
          <p:nvPr>
            <p:ph idx="1"/>
          </p:nvPr>
        </p:nvSpPr>
        <p:spPr/>
        <p:txBody>
          <a:bodyPr/>
          <a:lstStyle/>
          <a:p>
            <a:r>
              <a:rPr lang="en-US"/>
              <a:t>Exactly like C++</a:t>
            </a:r>
          </a:p>
          <a:p>
            <a:endParaRPr lang="en-US"/>
          </a:p>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while</a:t>
            </a:r>
            <a:r>
              <a:rPr lang="en-US" sz="2400">
                <a:latin typeface="Fira Code" panose="020B0809050000020004" pitchFamily="49" charset="0"/>
                <a:ea typeface="Fira Code" panose="020B0809050000020004" pitchFamily="49" charset="0"/>
                <a:cs typeface="Fira Code" panose="020B0809050000020004" pitchFamily="49" charset="0"/>
              </a:rPr>
              <a:t> (condition)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B050"/>
                </a:solidFill>
                <a:latin typeface="Fira Code" panose="020B0809050000020004" pitchFamily="49" charset="0"/>
                <a:ea typeface="Fira Code" panose="020B0809050000020004" pitchFamily="49" charset="0"/>
                <a:cs typeface="Fira Code" panose="020B0809050000020004" pitchFamily="49" charset="0"/>
              </a:rPr>
              <a:t>// body</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sz="24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do</a:t>
            </a:r>
            <a:r>
              <a:rPr lang="en-US" sz="2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B050"/>
                </a:solidFill>
                <a:latin typeface="Fira Code" panose="020B0809050000020004" pitchFamily="49" charset="0"/>
                <a:ea typeface="Fira Code" panose="020B0809050000020004" pitchFamily="49" charset="0"/>
                <a:cs typeface="Fira Code" panose="020B0809050000020004" pitchFamily="49" charset="0"/>
              </a:rPr>
              <a:t>// body</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while</a:t>
            </a:r>
            <a:r>
              <a:rPr lang="en-US" sz="2400">
                <a:latin typeface="Fira Code" panose="020B0809050000020004" pitchFamily="49" charset="0"/>
                <a:ea typeface="Fira Code" panose="020B0809050000020004" pitchFamily="49" charset="0"/>
                <a:cs typeface="Fira Code" panose="020B0809050000020004" pitchFamily="49" charset="0"/>
              </a:rPr>
              <a:t> (condition);</a:t>
            </a:r>
          </a:p>
        </p:txBody>
      </p:sp>
    </p:spTree>
    <p:extLst>
      <p:ext uri="{BB962C8B-B14F-4D97-AF65-F5344CB8AC3E}">
        <p14:creationId xmlns:p14="http://schemas.microsoft.com/office/powerpoint/2010/main" val="533090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CB220-FB81-90C0-B8A1-32225B53C0DD}"/>
              </a:ext>
            </a:extLst>
          </p:cNvPr>
          <p:cNvSpPr>
            <a:spLocks noGrp="1"/>
          </p:cNvSpPr>
          <p:nvPr>
            <p:ph type="title"/>
          </p:nvPr>
        </p:nvSpPr>
        <p:spPr/>
        <p:txBody>
          <a:bodyPr/>
          <a:lstStyle/>
          <a:p>
            <a:r>
              <a:rPr lang="en-US"/>
              <a:t>Classes</a:t>
            </a:r>
          </a:p>
        </p:txBody>
      </p:sp>
      <p:sp>
        <p:nvSpPr>
          <p:cNvPr id="3" name="Content Placeholder 2">
            <a:extLst>
              <a:ext uri="{FF2B5EF4-FFF2-40B4-BE49-F238E27FC236}">
                <a16:creationId xmlns:a16="http://schemas.microsoft.com/office/drawing/2014/main" id="{4EB3BCC7-D7E0-D4C6-5C50-41A0442B8652}"/>
              </a:ext>
            </a:extLst>
          </p:cNvPr>
          <p:cNvSpPr>
            <a:spLocks noGrp="1"/>
          </p:cNvSpPr>
          <p:nvPr>
            <p:ph idx="1"/>
          </p:nvPr>
        </p:nvSpPr>
        <p:spPr/>
        <p:txBody>
          <a:bodyPr/>
          <a:lstStyle/>
          <a:p>
            <a:r>
              <a:rPr lang="en-US"/>
              <a:t>Much like C++</a:t>
            </a:r>
          </a:p>
          <a:p>
            <a:endParaRPr lang="en-US"/>
          </a:p>
          <a:p>
            <a:r>
              <a:rPr lang="en-US"/>
              <a:t>Each element has access protection (not a state like it is in C++)</a:t>
            </a:r>
          </a:p>
          <a:p>
            <a:endParaRPr lang="en-US"/>
          </a:p>
          <a:p>
            <a:r>
              <a:rPr lang="en-US"/>
              <a:t>Can contain: member functions, properties, variables, and events</a:t>
            </a:r>
          </a:p>
          <a:p>
            <a:endParaRPr lang="en-US"/>
          </a:p>
          <a:p>
            <a:r>
              <a:rPr lang="en-US"/>
              <a:t>All class objects inherit the top-level class called "object"</a:t>
            </a:r>
          </a:p>
          <a:p>
            <a:pPr lvl="1"/>
            <a:r>
              <a:rPr lang="en-US"/>
              <a:t>object is essentially a generic variable</a:t>
            </a:r>
          </a:p>
          <a:p>
            <a:endParaRPr lang="en-US"/>
          </a:p>
        </p:txBody>
      </p:sp>
    </p:spTree>
    <p:extLst>
      <p:ext uri="{BB962C8B-B14F-4D97-AF65-F5344CB8AC3E}">
        <p14:creationId xmlns:p14="http://schemas.microsoft.com/office/powerpoint/2010/main" val="18899978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367F-E932-49C2-BE5F-1B1D9BB868D6}"/>
              </a:ext>
            </a:extLst>
          </p:cNvPr>
          <p:cNvSpPr>
            <a:spLocks noGrp="1"/>
          </p:cNvSpPr>
          <p:nvPr>
            <p:ph type="title"/>
          </p:nvPr>
        </p:nvSpPr>
        <p:spPr/>
        <p:txBody>
          <a:bodyPr/>
          <a:lstStyle/>
          <a:p>
            <a:r>
              <a:rPr lang="en-US"/>
              <a:t>Object Oriented Classes in C#</a:t>
            </a:r>
          </a:p>
        </p:txBody>
      </p:sp>
      <p:sp>
        <p:nvSpPr>
          <p:cNvPr id="3" name="Content Placeholder 2">
            <a:extLst>
              <a:ext uri="{FF2B5EF4-FFF2-40B4-BE49-F238E27FC236}">
                <a16:creationId xmlns:a16="http://schemas.microsoft.com/office/drawing/2014/main" id="{4866A75F-6B62-4A46-850B-6CBEF946E2A4}"/>
              </a:ext>
            </a:extLst>
          </p:cNvPr>
          <p:cNvSpPr>
            <a:spLocks noGrp="1"/>
          </p:cNvSpPr>
          <p:nvPr>
            <p:ph idx="1"/>
          </p:nvPr>
        </p:nvSpPr>
        <p:spPr/>
        <p:txBody>
          <a:bodyPr>
            <a:normAutofit/>
          </a:bodyPr>
          <a:lstStyle/>
          <a:p>
            <a:r>
              <a:rPr lang="en-US" sz="2400" dirty="0"/>
              <a:t>Everything is in a class</a:t>
            </a:r>
          </a:p>
          <a:p>
            <a:pPr lvl="1"/>
            <a:r>
              <a:rPr lang="en-US" sz="2000" dirty="0"/>
              <a:t>Can have several types of classes:</a:t>
            </a:r>
          </a:p>
          <a:p>
            <a:pPr lvl="2"/>
            <a:r>
              <a:rPr lang="en-US" sz="1800" dirty="0"/>
              <a:t>abstract – A class that cannot be instantiated, but can be inherited</a:t>
            </a:r>
          </a:p>
          <a:p>
            <a:pPr lvl="2"/>
            <a:r>
              <a:rPr lang="en-US" sz="1800" dirty="0"/>
              <a:t>sealed – A class that cannot be inherited</a:t>
            </a:r>
          </a:p>
          <a:p>
            <a:pPr lvl="2"/>
            <a:r>
              <a:rPr lang="en-US" sz="1800" dirty="0"/>
              <a:t>interface – An outline of a class, with no actual code</a:t>
            </a:r>
          </a:p>
          <a:p>
            <a:pPr lvl="1"/>
            <a:r>
              <a:rPr lang="en-US" sz="2000" dirty="0"/>
              <a:t>Classes have access protection just like C++</a:t>
            </a:r>
          </a:p>
          <a:p>
            <a:pPr lvl="2"/>
            <a:r>
              <a:rPr lang="en-US" dirty="0"/>
              <a:t>internal</a:t>
            </a:r>
          </a:p>
          <a:p>
            <a:pPr lvl="2"/>
            <a:r>
              <a:rPr lang="en-US" sz="1800" dirty="0"/>
              <a:t>public</a:t>
            </a:r>
          </a:p>
          <a:p>
            <a:pPr lvl="2"/>
            <a:r>
              <a:rPr lang="en-US" sz="1800" dirty="0"/>
              <a:t>protected</a:t>
            </a:r>
          </a:p>
          <a:p>
            <a:pPr lvl="2"/>
            <a:r>
              <a:rPr lang="en-US" sz="1800" dirty="0"/>
              <a:t>private</a:t>
            </a:r>
          </a:p>
          <a:p>
            <a:pPr lvl="1"/>
            <a:r>
              <a:rPr lang="en-US" sz="2000" dirty="0"/>
              <a:t>Classes’ method’s definitions are written in the class.</a:t>
            </a:r>
          </a:p>
          <a:p>
            <a:pPr lvl="2"/>
            <a:r>
              <a:rPr lang="en-US" sz="1800" dirty="0"/>
              <a:t>virtual – A method, property, or event that can be overridden by a derived class</a:t>
            </a:r>
          </a:p>
          <a:p>
            <a:pPr lvl="3"/>
            <a:r>
              <a:rPr lang="en-US" dirty="0"/>
              <a:t>Virtual methods invoke the </a:t>
            </a:r>
            <a:r>
              <a:rPr lang="en-US" b="1" dirty="0"/>
              <a:t>derived</a:t>
            </a:r>
            <a:r>
              <a:rPr lang="en-US" dirty="0"/>
              <a:t> </a:t>
            </a:r>
            <a:r>
              <a:rPr lang="en-US" dirty="0" err="1"/>
              <a:t>class'</a:t>
            </a:r>
            <a:r>
              <a:rPr lang="en-US" dirty="0"/>
              <a:t> methods even when passed as the </a:t>
            </a:r>
            <a:r>
              <a:rPr lang="en-US" b="1" dirty="0"/>
              <a:t>base</a:t>
            </a:r>
            <a:r>
              <a:rPr lang="en-US" dirty="0"/>
              <a:t> class.</a:t>
            </a:r>
          </a:p>
          <a:p>
            <a:pPr lvl="1"/>
            <a:endParaRPr lang="en-US" sz="2000" dirty="0"/>
          </a:p>
        </p:txBody>
      </p:sp>
    </p:spTree>
    <p:extLst>
      <p:ext uri="{BB962C8B-B14F-4D97-AF65-F5344CB8AC3E}">
        <p14:creationId xmlns:p14="http://schemas.microsoft.com/office/powerpoint/2010/main" val="3180054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5521-C70D-4E74-A9F9-F003869FD051}"/>
              </a:ext>
            </a:extLst>
          </p:cNvPr>
          <p:cNvSpPr>
            <a:spLocks noGrp="1"/>
          </p:cNvSpPr>
          <p:nvPr>
            <p:ph type="title"/>
          </p:nvPr>
        </p:nvSpPr>
        <p:spPr/>
        <p:txBody>
          <a:bodyPr/>
          <a:lstStyle/>
          <a:p>
            <a:r>
              <a:rPr lang="en-US"/>
              <a:t>Writing a Class</a:t>
            </a:r>
          </a:p>
        </p:txBody>
      </p:sp>
      <p:sp>
        <p:nvSpPr>
          <p:cNvPr id="3" name="Content Placeholder 2">
            <a:extLst>
              <a:ext uri="{FF2B5EF4-FFF2-40B4-BE49-F238E27FC236}">
                <a16:creationId xmlns:a16="http://schemas.microsoft.com/office/drawing/2014/main" id="{07D20A15-3894-4E96-A1C1-D54E54B473F4}"/>
              </a:ext>
            </a:extLst>
          </p:cNvPr>
          <p:cNvSpPr>
            <a:spLocks noGrp="1"/>
          </p:cNvSpPr>
          <p:nvPr>
            <p:ph idx="1"/>
          </p:nvPr>
        </p:nvSpPr>
        <p:spPr/>
        <p:txBody>
          <a:bodyPr>
            <a:normAutofit lnSpcReduction="10000"/>
          </a:bodyPr>
          <a:lstStyle/>
          <a:p>
            <a:pPr marL="0" indent="0">
              <a:buNone/>
            </a:pP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MyClass</a:t>
            </a:r>
            <a:endParaRPr lang="en-US" sz="18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public</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MyClass</a:t>
            </a:r>
            <a:r>
              <a:rPr lang="en-US" sz="18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Constructor that takes 0 arguments</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public string </a:t>
            </a:r>
            <a:r>
              <a:rPr lang="en-US" sz="1800">
                <a:latin typeface="Fira Code" panose="020B0809050000020004" pitchFamily="49" charset="0"/>
                <a:ea typeface="Fira Code" panose="020B0809050000020004" pitchFamily="49" charset="0"/>
                <a:cs typeface="Fira Code" panose="020B0809050000020004" pitchFamily="49" charset="0"/>
              </a:rPr>
              <a:t>Name {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get</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set</a:t>
            </a:r>
            <a:r>
              <a:rPr lang="en-US" sz="1800">
                <a:latin typeface="Fira Code" panose="020B0809050000020004" pitchFamily="49" charset="0"/>
                <a:ea typeface="Fira Code" panose="020B0809050000020004" pitchFamily="49" charset="0"/>
                <a:cs typeface="Fira Code" panose="020B0809050000020004" pitchFamily="49" charset="0"/>
              </a:rPr>
              <a:t>; }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Property that is R/W</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private int </a:t>
            </a:r>
            <a:r>
              <a:rPr lang="en-US" sz="1800">
                <a:latin typeface="Fira Code" panose="020B0809050000020004" pitchFamily="49" charset="0"/>
                <a:ea typeface="Fira Code" panose="020B0809050000020004" pitchFamily="49" charset="0"/>
                <a:cs typeface="Fira Code" panose="020B0809050000020004" pitchFamily="49" charset="0"/>
              </a:rPr>
              <a:t>Secret;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Variable that is private</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public </a:t>
            </a:r>
            <a:r>
              <a:rPr lang="en-US" sz="1800" err="1">
                <a:solidFill>
                  <a:srgbClr val="0070C0"/>
                </a:solidFill>
                <a:latin typeface="Fira Code" panose="020B0809050000020004" pitchFamily="49" charset="0"/>
                <a:ea typeface="Fira Code" panose="020B0809050000020004" pitchFamily="49" charset="0"/>
                <a:cs typeface="Fira Code" panose="020B0809050000020004" pitchFamily="49" charset="0"/>
              </a:rPr>
              <a:t>readonly</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 int </a:t>
            </a:r>
            <a:r>
              <a:rPr lang="en-US" sz="1800">
                <a:latin typeface="Fira Code" panose="020B0809050000020004" pitchFamily="49" charset="0"/>
                <a:ea typeface="Fira Code" panose="020B0809050000020004" pitchFamily="49" charset="0"/>
                <a:cs typeface="Fira Code" panose="020B0809050000020004" pitchFamily="49" charset="0"/>
              </a:rPr>
              <a:t>year;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Public / </a:t>
            </a:r>
            <a:r>
              <a:rPr lang="en-US" sz="1800" err="1">
                <a:solidFill>
                  <a:srgbClr val="00B050"/>
                </a:solidFill>
                <a:latin typeface="Fira Code" panose="020B0809050000020004" pitchFamily="49" charset="0"/>
                <a:ea typeface="Fira Code" panose="020B0809050000020004" pitchFamily="49" charset="0"/>
                <a:cs typeface="Fira Code" panose="020B0809050000020004" pitchFamily="49" charset="0"/>
              </a:rPr>
              <a:t>readonly</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integer</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223294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4D4F-8131-4E5B-BE97-CA8711777BCD}"/>
              </a:ext>
            </a:extLst>
          </p:cNvPr>
          <p:cNvSpPr>
            <a:spLocks noGrp="1"/>
          </p:cNvSpPr>
          <p:nvPr>
            <p:ph type="title"/>
          </p:nvPr>
        </p:nvSpPr>
        <p:spPr/>
        <p:txBody>
          <a:bodyPr/>
          <a:lstStyle/>
          <a:p>
            <a:r>
              <a:rPr lang="en-US"/>
              <a:t>Class Access Protection</a:t>
            </a:r>
          </a:p>
        </p:txBody>
      </p:sp>
      <p:sp>
        <p:nvSpPr>
          <p:cNvPr id="3" name="Content Placeholder 2">
            <a:extLst>
              <a:ext uri="{FF2B5EF4-FFF2-40B4-BE49-F238E27FC236}">
                <a16:creationId xmlns:a16="http://schemas.microsoft.com/office/drawing/2014/main" id="{ECC3969F-218A-421A-9248-ED205051E10D}"/>
              </a:ext>
            </a:extLst>
          </p:cNvPr>
          <p:cNvSpPr>
            <a:spLocks noGrp="1"/>
          </p:cNvSpPr>
          <p:nvPr>
            <p:ph idx="1"/>
          </p:nvPr>
        </p:nvSpPr>
        <p:spPr/>
        <p:txBody>
          <a:bodyPr>
            <a:normAutofit/>
          </a:bodyPr>
          <a:lstStyle/>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err="1">
                <a:latin typeface="Fira Code" panose="020B0809050000020004" pitchFamily="49" charset="0"/>
                <a:ea typeface="Fira Code" panose="020B0809050000020004" pitchFamily="49" charset="0"/>
                <a:cs typeface="Fira Code" panose="020B0809050000020004" pitchFamily="49" charset="0"/>
              </a:rPr>
              <a:t>MyClass</a:t>
            </a:r>
            <a:r>
              <a:rPr lang="en-US" sz="2400">
                <a:latin typeface="Fira Code" panose="020B0809050000020004" pitchFamily="49" charset="0"/>
                <a:ea typeface="Fira Code" panose="020B0809050000020004" pitchFamily="49" charset="0"/>
                <a:cs typeface="Fira Code" panose="020B0809050000020004" pitchFamily="49" charset="0"/>
              </a:rPr>
              <a:t> { }   </a:t>
            </a:r>
            <a:r>
              <a:rPr lang="en-US" sz="2400"/>
              <a:t>(is the same as   </a:t>
            </a:r>
            <a:r>
              <a:rPr lang="en-US" sz="2400">
                <a:solidFill>
                  <a:srgbClr val="0070C0"/>
                </a:solidFill>
              </a:rPr>
              <a:t>internal class </a:t>
            </a:r>
            <a:r>
              <a:rPr lang="en-US" sz="2400" err="1"/>
              <a:t>MyClass</a:t>
            </a:r>
            <a:r>
              <a:rPr lang="en-US" sz="2400"/>
              <a:t> {} )</a:t>
            </a:r>
          </a:p>
          <a:p>
            <a:pPr marL="0" indent="0">
              <a:buNone/>
            </a:pPr>
            <a:r>
              <a:rPr lang="en-US" sz="2400"/>
              <a:t>	This class can only be seen by your "assembly"</a:t>
            </a:r>
          </a:p>
          <a:p>
            <a:pPr marL="0" indent="0">
              <a:buNone/>
            </a:pPr>
            <a:r>
              <a:rPr lang="en-US" sz="2400"/>
              <a:t>		Assemblies are what C# call libraries</a:t>
            </a:r>
          </a:p>
          <a:p>
            <a:pPr marL="0" indent="0">
              <a:buNone/>
            </a:pPr>
            <a:endParaRPr lang="en-US" sz="2400"/>
          </a:p>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public class </a:t>
            </a:r>
            <a:r>
              <a:rPr lang="en-US" sz="2400" err="1">
                <a:latin typeface="Fira Code" panose="020B0809050000020004" pitchFamily="49" charset="0"/>
                <a:ea typeface="Fira Code" panose="020B0809050000020004" pitchFamily="49" charset="0"/>
                <a:cs typeface="Fira Code" panose="020B0809050000020004" pitchFamily="49" charset="0"/>
              </a:rPr>
              <a:t>MyClass</a:t>
            </a:r>
            <a:r>
              <a:rPr lang="en-US" sz="2400">
                <a:latin typeface="Fira Code" panose="020B0809050000020004" pitchFamily="49" charset="0"/>
                <a:ea typeface="Fira Code" panose="020B0809050000020004" pitchFamily="49" charset="0"/>
                <a:cs typeface="Fira Code" panose="020B0809050000020004" pitchFamily="49" charset="0"/>
              </a:rPr>
              <a:t> { }</a:t>
            </a:r>
          </a:p>
          <a:p>
            <a:pPr marL="0" indent="0">
              <a:buNone/>
            </a:pPr>
            <a:r>
              <a:rPr lang="en-US" sz="2400"/>
              <a:t>	This class can be seen by any library or any other programmer's code that imports your library.</a:t>
            </a:r>
          </a:p>
        </p:txBody>
      </p:sp>
    </p:spTree>
    <p:extLst>
      <p:ext uri="{BB962C8B-B14F-4D97-AF65-F5344CB8AC3E}">
        <p14:creationId xmlns:p14="http://schemas.microsoft.com/office/powerpoint/2010/main" val="741513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3A85B-10CC-C8EC-603A-A08C8A704D78}"/>
              </a:ext>
            </a:extLst>
          </p:cNvPr>
          <p:cNvSpPr>
            <a:spLocks noGrp="1"/>
          </p:cNvSpPr>
          <p:nvPr>
            <p:ph type="title"/>
          </p:nvPr>
        </p:nvSpPr>
        <p:spPr/>
        <p:txBody>
          <a:bodyPr/>
          <a:lstStyle/>
          <a:p>
            <a:r>
              <a:rPr lang="en-US">
                <a:ea typeface="Calibri Light"/>
                <a:cs typeface="Calibri Light"/>
              </a:rPr>
              <a:t>Class vs Struct</a:t>
            </a:r>
            <a:endParaRPr lang="en-US"/>
          </a:p>
        </p:txBody>
      </p:sp>
      <p:sp>
        <p:nvSpPr>
          <p:cNvPr id="3" name="Content Placeholder 2">
            <a:extLst>
              <a:ext uri="{FF2B5EF4-FFF2-40B4-BE49-F238E27FC236}">
                <a16:creationId xmlns:a16="http://schemas.microsoft.com/office/drawing/2014/main" id="{D22D34DB-EA50-65D6-3AB9-7D9776F71A59}"/>
              </a:ext>
            </a:extLst>
          </p:cNvPr>
          <p:cNvSpPr>
            <a:spLocks noGrp="1"/>
          </p:cNvSpPr>
          <p:nvPr>
            <p:ph idx="1"/>
          </p:nvPr>
        </p:nvSpPr>
        <p:spPr/>
        <p:txBody>
          <a:bodyPr vert="horz" lIns="91440" tIns="45720" rIns="91440" bIns="45720" rtlCol="0" anchor="t">
            <a:normAutofit/>
          </a:bodyPr>
          <a:lstStyle/>
          <a:p>
            <a:r>
              <a:rPr lang="en-US">
                <a:ea typeface="Calibri"/>
                <a:cs typeface="Calibri"/>
              </a:rPr>
              <a:t>Classes are reference based.</a:t>
            </a:r>
          </a:p>
          <a:p>
            <a:pPr lvl="1">
              <a:buFont typeface="Courier New" panose="020B0604020202020204" pitchFamily="34" charset="0"/>
              <a:buChar char="o"/>
            </a:pPr>
            <a:r>
              <a:rPr lang="en-US">
                <a:ea typeface="Calibri"/>
                <a:cs typeface="Calibri"/>
              </a:rPr>
              <a:t>When a class is created – it is considered a reference (heap based).</a:t>
            </a:r>
          </a:p>
          <a:p>
            <a:pPr lvl="1">
              <a:buFont typeface="Courier New" panose="020B0604020202020204" pitchFamily="34" charset="0"/>
              <a:buChar char="o"/>
            </a:pPr>
            <a:r>
              <a:rPr lang="en-US">
                <a:ea typeface="Calibri"/>
                <a:cs typeface="Calibri"/>
              </a:rPr>
              <a:t>When a class is passed – it is passed as a pointer.</a:t>
            </a:r>
          </a:p>
          <a:p>
            <a:endParaRPr lang="en-US">
              <a:ea typeface="Calibri"/>
              <a:cs typeface="Calibri"/>
            </a:endParaRPr>
          </a:p>
          <a:p>
            <a:r>
              <a:rPr lang="en-US">
                <a:ea typeface="Calibri"/>
                <a:cs typeface="Calibri"/>
              </a:rPr>
              <a:t>Structs are value based.</a:t>
            </a:r>
          </a:p>
          <a:p>
            <a:pPr lvl="1">
              <a:buFont typeface="Courier New" panose="020B0604020202020204" pitchFamily="34" charset="0"/>
              <a:buChar char="o"/>
            </a:pPr>
            <a:r>
              <a:rPr lang="en-US">
                <a:ea typeface="Calibri"/>
                <a:cs typeface="Calibri"/>
              </a:rPr>
              <a:t>When a struct is created – it is considered a value (stack based).</a:t>
            </a:r>
          </a:p>
          <a:p>
            <a:pPr lvl="1">
              <a:buFont typeface="Courier New" panose="020B0604020202020204" pitchFamily="34" charset="0"/>
              <a:buChar char="o"/>
            </a:pPr>
            <a:r>
              <a:rPr lang="en-US">
                <a:ea typeface="Calibri"/>
                <a:cs typeface="Calibri"/>
              </a:rPr>
              <a:t>When a struct is passed – it is passed by value.</a:t>
            </a:r>
          </a:p>
        </p:txBody>
      </p:sp>
    </p:spTree>
    <p:extLst>
      <p:ext uri="{BB962C8B-B14F-4D97-AF65-F5344CB8AC3E}">
        <p14:creationId xmlns:p14="http://schemas.microsoft.com/office/powerpoint/2010/main" val="3561067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187B-1804-4DC0-A242-DBCCE0E192FF}"/>
              </a:ext>
            </a:extLst>
          </p:cNvPr>
          <p:cNvSpPr>
            <a:spLocks noGrp="1"/>
          </p:cNvSpPr>
          <p:nvPr>
            <p:ph type="title"/>
          </p:nvPr>
        </p:nvSpPr>
        <p:spPr/>
        <p:txBody>
          <a:bodyPr/>
          <a:lstStyle/>
          <a:p>
            <a:r>
              <a:rPr lang="en-US"/>
              <a:t>Access Protection</a:t>
            </a:r>
          </a:p>
        </p:txBody>
      </p:sp>
      <p:sp>
        <p:nvSpPr>
          <p:cNvPr id="3" name="Content Placeholder 2">
            <a:extLst>
              <a:ext uri="{FF2B5EF4-FFF2-40B4-BE49-F238E27FC236}">
                <a16:creationId xmlns:a16="http://schemas.microsoft.com/office/drawing/2014/main" id="{00C1C223-B8A3-4E38-B970-55EBA6AE50F8}"/>
              </a:ext>
            </a:extLst>
          </p:cNvPr>
          <p:cNvSpPr>
            <a:spLocks noGrp="1"/>
          </p:cNvSpPr>
          <p:nvPr>
            <p:ph idx="1"/>
          </p:nvPr>
        </p:nvSpPr>
        <p:spPr/>
        <p:txBody>
          <a:bodyPr>
            <a:normAutofit lnSpcReduction="10000"/>
          </a:bodyPr>
          <a:lstStyle/>
          <a:p>
            <a:r>
              <a:rPr lang="en-US" sz="2400"/>
              <a:t>The </a:t>
            </a:r>
            <a:r>
              <a:rPr lang="en-US" sz="2400" err="1">
                <a:solidFill>
                  <a:srgbClr val="0070C0"/>
                </a:solidFill>
              </a:rPr>
              <a:t>readonly</a:t>
            </a:r>
            <a:r>
              <a:rPr lang="en-US" sz="2400"/>
              <a:t> keyword allows a variable to be written once in either the declaration or constructor.</a:t>
            </a:r>
          </a:p>
          <a:p>
            <a:pPr lvl="1"/>
            <a:r>
              <a:rPr lang="en-US" sz="2000">
                <a:solidFill>
                  <a:srgbClr val="0070C0"/>
                </a:solidFill>
              </a:rPr>
              <a:t>public </a:t>
            </a:r>
            <a:r>
              <a:rPr lang="en-US" sz="2000" err="1">
                <a:solidFill>
                  <a:srgbClr val="0070C0"/>
                </a:solidFill>
              </a:rPr>
              <a:t>readonly</a:t>
            </a:r>
            <a:r>
              <a:rPr lang="en-US" sz="2000">
                <a:solidFill>
                  <a:srgbClr val="0070C0"/>
                </a:solidFill>
              </a:rPr>
              <a:t> </a:t>
            </a:r>
            <a:r>
              <a:rPr lang="en-US" sz="2000" err="1">
                <a:solidFill>
                  <a:srgbClr val="0070C0"/>
                </a:solidFill>
              </a:rPr>
              <a:t>int</a:t>
            </a:r>
            <a:r>
              <a:rPr lang="en-US" sz="2000">
                <a:solidFill>
                  <a:srgbClr val="0070C0"/>
                </a:solidFill>
              </a:rPr>
              <a:t> </a:t>
            </a:r>
            <a:r>
              <a:rPr lang="en-US" sz="2000"/>
              <a:t>variable = 22;</a:t>
            </a:r>
          </a:p>
          <a:p>
            <a:pPr lvl="2"/>
            <a:r>
              <a:rPr lang="en-US" sz="1800"/>
              <a:t>OR</a:t>
            </a:r>
          </a:p>
          <a:p>
            <a:pPr lvl="1"/>
            <a:r>
              <a:rPr lang="en-US" sz="2000">
                <a:solidFill>
                  <a:srgbClr val="0070C0"/>
                </a:solidFill>
              </a:rPr>
              <a:t>public </a:t>
            </a:r>
            <a:r>
              <a:rPr lang="en-US" sz="2000" err="1">
                <a:solidFill>
                  <a:srgbClr val="0070C0"/>
                </a:solidFill>
              </a:rPr>
              <a:t>readonly</a:t>
            </a:r>
            <a:r>
              <a:rPr lang="en-US" sz="2000">
                <a:solidFill>
                  <a:srgbClr val="0070C0"/>
                </a:solidFill>
              </a:rPr>
              <a:t> </a:t>
            </a:r>
            <a:r>
              <a:rPr lang="en-US" sz="2000" err="1">
                <a:solidFill>
                  <a:srgbClr val="0070C0"/>
                </a:solidFill>
              </a:rPr>
              <a:t>int</a:t>
            </a:r>
            <a:r>
              <a:rPr lang="en-US" sz="2000">
                <a:solidFill>
                  <a:srgbClr val="0070C0"/>
                </a:solidFill>
              </a:rPr>
              <a:t> </a:t>
            </a:r>
            <a:r>
              <a:rPr lang="en-US" sz="2000"/>
              <a:t>variable;</a:t>
            </a:r>
          </a:p>
          <a:p>
            <a:pPr lvl="1"/>
            <a:r>
              <a:rPr lang="en-US" sz="2000">
                <a:solidFill>
                  <a:srgbClr val="0070C0"/>
                </a:solidFill>
              </a:rPr>
              <a:t>public</a:t>
            </a:r>
            <a:r>
              <a:rPr lang="en-US" sz="2000"/>
              <a:t> </a:t>
            </a:r>
            <a:r>
              <a:rPr lang="en-US" sz="2000" err="1"/>
              <a:t>MyClass</a:t>
            </a:r>
            <a:r>
              <a:rPr lang="en-US" sz="2000"/>
              <a:t>() { variable = 22; }</a:t>
            </a:r>
          </a:p>
          <a:p>
            <a:pPr lvl="1"/>
            <a:endParaRPr lang="en-US" sz="2000"/>
          </a:p>
          <a:p>
            <a:r>
              <a:rPr lang="en-US" sz="2400"/>
              <a:t>The </a:t>
            </a:r>
            <a:r>
              <a:rPr lang="en-US" sz="2400">
                <a:solidFill>
                  <a:srgbClr val="0070C0"/>
                </a:solidFill>
              </a:rPr>
              <a:t>static</a:t>
            </a:r>
            <a:r>
              <a:rPr lang="en-US" sz="2400"/>
              <a:t> keyword allows a method to be available without an instance of the class. This means it cannot access member variables not specifically passed to it:</a:t>
            </a:r>
          </a:p>
          <a:p>
            <a:pPr lvl="1"/>
            <a:r>
              <a:rPr lang="en-US" sz="2000">
                <a:solidFill>
                  <a:srgbClr val="0070C0"/>
                </a:solidFill>
              </a:rPr>
              <a:t>public static void </a:t>
            </a:r>
            <a:r>
              <a:rPr lang="en-US" sz="2000" err="1"/>
              <a:t>MyMethod</a:t>
            </a:r>
            <a:r>
              <a:rPr lang="en-US" sz="2000"/>
              <a:t>() { }</a:t>
            </a:r>
          </a:p>
        </p:txBody>
      </p:sp>
    </p:spTree>
    <p:extLst>
      <p:ext uri="{BB962C8B-B14F-4D97-AF65-F5344CB8AC3E}">
        <p14:creationId xmlns:p14="http://schemas.microsoft.com/office/powerpoint/2010/main" val="29313186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859793-E077-4BBB-B983-4C8515E4FFB9}"/>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3102478" y="592900"/>
            <a:ext cx="8828102" cy="6003109"/>
          </a:xfrm>
          <a:prstGeom prst="rect">
            <a:avLst/>
          </a:prstGeom>
        </p:spPr>
      </p:pic>
      <p:sp>
        <p:nvSpPr>
          <p:cNvPr id="2" name="Title 1">
            <a:extLst>
              <a:ext uri="{FF2B5EF4-FFF2-40B4-BE49-F238E27FC236}">
                <a16:creationId xmlns:a16="http://schemas.microsoft.com/office/drawing/2014/main" id="{D7474960-8413-4F6E-BC02-A80CD943074E}"/>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sz="2600" kern="1200">
                <a:solidFill>
                  <a:schemeClr val="bg1"/>
                </a:solidFill>
                <a:latin typeface="+mj-lt"/>
                <a:ea typeface="+mj-ea"/>
                <a:cs typeface="+mj-cs"/>
              </a:rPr>
              <a:t>Default Access Protection / Restrictions</a:t>
            </a:r>
          </a:p>
        </p:txBody>
      </p:sp>
    </p:spTree>
    <p:extLst>
      <p:ext uri="{BB962C8B-B14F-4D97-AF65-F5344CB8AC3E}">
        <p14:creationId xmlns:p14="http://schemas.microsoft.com/office/powerpoint/2010/main" val="19442594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D15F-F93E-432D-EE64-F9FFEE4DED9F}"/>
              </a:ext>
            </a:extLst>
          </p:cNvPr>
          <p:cNvSpPr>
            <a:spLocks noGrp="1"/>
          </p:cNvSpPr>
          <p:nvPr>
            <p:ph type="title"/>
          </p:nvPr>
        </p:nvSpPr>
        <p:spPr/>
        <p:txBody>
          <a:bodyPr/>
          <a:lstStyle/>
          <a:p>
            <a:r>
              <a:rPr lang="en-US"/>
              <a:t>Indexer</a:t>
            </a:r>
          </a:p>
        </p:txBody>
      </p:sp>
      <p:sp>
        <p:nvSpPr>
          <p:cNvPr id="3" name="Content Placeholder 2">
            <a:extLst>
              <a:ext uri="{FF2B5EF4-FFF2-40B4-BE49-F238E27FC236}">
                <a16:creationId xmlns:a16="http://schemas.microsoft.com/office/drawing/2014/main" id="{1AA3656B-A4F4-7B53-5F61-2B5FE690FD9D}"/>
              </a:ext>
            </a:extLst>
          </p:cNvPr>
          <p:cNvSpPr>
            <a:spLocks noGrp="1"/>
          </p:cNvSpPr>
          <p:nvPr>
            <p:ph idx="1"/>
          </p:nvPr>
        </p:nvSpPr>
        <p:spPr/>
        <p:txBody>
          <a:bodyPr>
            <a:noAutofit/>
          </a:bodyPr>
          <a:lstStyle/>
          <a:p>
            <a:r>
              <a:rPr lang="en-US" sz="1600"/>
              <a:t>An indexer is what C# calls the [] operator.</a:t>
            </a:r>
          </a:p>
          <a:p>
            <a:r>
              <a:rPr lang="en-US" sz="1600"/>
              <a:t>The indexer has a special syntax using "this"</a:t>
            </a:r>
          </a:p>
          <a:p>
            <a:endParaRPr lang="en-US" sz="1600"/>
          </a:p>
          <a:p>
            <a:pPr marL="0" indent="0">
              <a:buNone/>
            </a:pP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err="1">
                <a:latin typeface="Fira Code" panose="020B0809050000020004" pitchFamily="49" charset="0"/>
                <a:ea typeface="Fira Code" panose="020B0809050000020004" pitchFamily="49" charset="0"/>
                <a:cs typeface="Fira Code" panose="020B0809050000020004" pitchFamily="49" charset="0"/>
              </a:rPr>
              <a:t>MyClass</a:t>
            </a:r>
            <a:r>
              <a:rPr lang="en-US" sz="1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private</a:t>
            </a: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err="1">
                <a:latin typeface="Fira Code" panose="020B0809050000020004" pitchFamily="49" charset="0"/>
                <a:ea typeface="Fira Code" panose="020B0809050000020004" pitchFamily="49" charset="0"/>
                <a:cs typeface="Fira Code" panose="020B0809050000020004" pitchFamily="49" charset="0"/>
              </a:rPr>
              <a:t>myArray</a:t>
            </a:r>
            <a:r>
              <a:rPr lang="en-US" sz="1600">
                <a:latin typeface="Fira Code" panose="020B0809050000020004" pitchFamily="49" charset="0"/>
                <a:ea typeface="Fira Code" panose="020B0809050000020004" pitchFamily="49" charset="0"/>
                <a:cs typeface="Fira Code" panose="020B0809050000020004" pitchFamily="49" charset="0"/>
              </a:rPr>
              <a:t> = {1, 2, 3, 4, 5, 6};</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public int this</a:t>
            </a:r>
            <a:r>
              <a:rPr lang="en-US" sz="1600">
                <a:latin typeface="Fira Code" panose="020B0809050000020004" pitchFamily="49" charset="0"/>
                <a:ea typeface="Fira Code" panose="020B0809050000020004" pitchFamily="49" charset="0"/>
                <a:cs typeface="Fira Code" panose="020B0809050000020004" pitchFamily="49" charset="0"/>
              </a:rPr>
              <a:t>[</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1600">
                <a:latin typeface="Fira Code" panose="020B0809050000020004" pitchFamily="49" charset="0"/>
                <a:ea typeface="Fira Code" panose="020B0809050000020004" pitchFamily="49" charset="0"/>
                <a:cs typeface="Fira Code" panose="020B0809050000020004" pitchFamily="49" charset="0"/>
              </a:rPr>
              <a:t> index] {</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get</a:t>
            </a:r>
            <a:r>
              <a:rPr lang="en-US" sz="1600">
                <a:latin typeface="Fira Code" panose="020B0809050000020004" pitchFamily="49" charset="0"/>
                <a:ea typeface="Fira Code" panose="020B0809050000020004" pitchFamily="49" charset="0"/>
                <a:cs typeface="Fira Code" panose="020B0809050000020004" pitchFamily="49" charset="0"/>
              </a:rPr>
              <a:t> {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return</a:t>
            </a: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err="1">
                <a:latin typeface="Fira Code" panose="020B0809050000020004" pitchFamily="49" charset="0"/>
                <a:ea typeface="Fira Code" panose="020B0809050000020004" pitchFamily="49" charset="0"/>
                <a:cs typeface="Fira Code" panose="020B0809050000020004" pitchFamily="49" charset="0"/>
              </a:rPr>
              <a:t>myArray</a:t>
            </a:r>
            <a:r>
              <a:rPr lang="en-US" sz="1600">
                <a:latin typeface="Fira Code" panose="020B0809050000020004" pitchFamily="49" charset="0"/>
                <a:ea typeface="Fira Code" panose="020B0809050000020004" pitchFamily="49" charset="0"/>
                <a:cs typeface="Fira Code" panose="020B0809050000020004" pitchFamily="49" charset="0"/>
              </a:rPr>
              <a:t>[index]; }</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set</a:t>
            </a:r>
            <a:r>
              <a:rPr lang="en-US" sz="1600">
                <a:latin typeface="Fira Code" panose="020B0809050000020004" pitchFamily="49" charset="0"/>
                <a:ea typeface="Fira Code" panose="020B0809050000020004" pitchFamily="49" charset="0"/>
                <a:cs typeface="Fira Code" panose="020B0809050000020004" pitchFamily="49" charset="0"/>
              </a:rPr>
              <a:t> { </a:t>
            </a:r>
            <a:r>
              <a:rPr lang="en-US" sz="1600" err="1">
                <a:latin typeface="Fira Code" panose="020B0809050000020004" pitchFamily="49" charset="0"/>
                <a:ea typeface="Fira Code" panose="020B0809050000020004" pitchFamily="49" charset="0"/>
                <a:cs typeface="Fira Code" panose="020B0809050000020004" pitchFamily="49" charset="0"/>
              </a:rPr>
              <a:t>myArray</a:t>
            </a:r>
            <a:r>
              <a:rPr lang="en-US" sz="1600">
                <a:latin typeface="Fira Code" panose="020B0809050000020004" pitchFamily="49" charset="0"/>
                <a:ea typeface="Fira Code" panose="020B0809050000020004" pitchFamily="49" charset="0"/>
                <a:cs typeface="Fira Code" panose="020B0809050000020004" pitchFamily="49" charset="0"/>
              </a:rPr>
              <a:t>[index] =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value</a:t>
            </a:r>
            <a:r>
              <a:rPr lang="en-US" sz="1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6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600" err="1">
                <a:latin typeface="Fira Code" panose="020B0809050000020004" pitchFamily="49" charset="0"/>
                <a:ea typeface="Fira Code" panose="020B0809050000020004" pitchFamily="49" charset="0"/>
                <a:cs typeface="Fira Code" panose="020B0809050000020004" pitchFamily="49" charset="0"/>
              </a:rPr>
              <a:t>MyClass</a:t>
            </a:r>
            <a:r>
              <a:rPr lang="en-US" sz="1600">
                <a:latin typeface="Fira Code" panose="020B0809050000020004" pitchFamily="49" charset="0"/>
                <a:ea typeface="Fira Code" panose="020B0809050000020004" pitchFamily="49" charset="0"/>
                <a:cs typeface="Fira Code" panose="020B0809050000020004" pitchFamily="49" charset="0"/>
              </a:rPr>
              <a:t> mc = </a:t>
            </a:r>
            <a:r>
              <a:rPr lang="en-US" sz="1600">
                <a:solidFill>
                  <a:srgbClr val="0070C0"/>
                </a:solidFill>
                <a:latin typeface="Fira Code" panose="020B0809050000020004" pitchFamily="49" charset="0"/>
                <a:ea typeface="Fira Code" panose="020B0809050000020004" pitchFamily="49" charset="0"/>
                <a:cs typeface="Fira Code" panose="020B0809050000020004" pitchFamily="49" charset="0"/>
              </a:rPr>
              <a:t>new</a:t>
            </a:r>
            <a:r>
              <a:rPr lang="en-US" sz="1600">
                <a:latin typeface="Fira Code" panose="020B0809050000020004" pitchFamily="49" charset="0"/>
                <a:ea typeface="Fira Code" panose="020B0809050000020004" pitchFamily="49" charset="0"/>
                <a:cs typeface="Fira Code" panose="020B0809050000020004" pitchFamily="49" charset="0"/>
              </a:rPr>
              <a:t> </a:t>
            </a:r>
            <a:r>
              <a:rPr lang="en-US" sz="1600" err="1">
                <a:latin typeface="Fira Code" panose="020B0809050000020004" pitchFamily="49" charset="0"/>
                <a:ea typeface="Fira Code" panose="020B0809050000020004" pitchFamily="49" charset="0"/>
                <a:cs typeface="Fira Code" panose="020B0809050000020004" pitchFamily="49" charset="0"/>
              </a:rPr>
              <a:t>MyClass</a:t>
            </a:r>
            <a:r>
              <a:rPr lang="en-US" sz="16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600" err="1">
                <a:latin typeface="Fira Code" panose="020B0809050000020004" pitchFamily="49" charset="0"/>
                <a:ea typeface="Fira Code" panose="020B0809050000020004" pitchFamily="49" charset="0"/>
                <a:cs typeface="Fira Code" panose="020B0809050000020004" pitchFamily="49" charset="0"/>
              </a:rPr>
              <a:t>Console.WriteLine</a:t>
            </a:r>
            <a:r>
              <a:rPr lang="en-US" sz="1600">
                <a:latin typeface="Fira Code" panose="020B0809050000020004" pitchFamily="49" charset="0"/>
                <a:ea typeface="Fira Code" panose="020B0809050000020004" pitchFamily="49" charset="0"/>
                <a:cs typeface="Fira Code" panose="020B0809050000020004" pitchFamily="49" charset="0"/>
              </a:rPr>
              <a:t>(mc[0]); </a:t>
            </a:r>
            <a:r>
              <a:rPr lang="en-US" sz="1600">
                <a:solidFill>
                  <a:srgbClr val="00B050"/>
                </a:solidFill>
                <a:latin typeface="Fira Code" panose="020B0809050000020004" pitchFamily="49" charset="0"/>
                <a:ea typeface="Fira Code" panose="020B0809050000020004" pitchFamily="49" charset="0"/>
                <a:cs typeface="Fira Code" panose="020B0809050000020004" pitchFamily="49" charset="0"/>
              </a:rPr>
              <a:t>// Prints 1</a:t>
            </a:r>
          </a:p>
          <a:p>
            <a:pPr marL="0" indent="0">
              <a:buNone/>
            </a:pPr>
            <a:r>
              <a:rPr lang="en-US" sz="1600" err="1">
                <a:latin typeface="Fira Code" panose="020B0809050000020004" pitchFamily="49" charset="0"/>
                <a:ea typeface="Fira Code" panose="020B0809050000020004" pitchFamily="49" charset="0"/>
                <a:cs typeface="Fira Code" panose="020B0809050000020004" pitchFamily="49" charset="0"/>
              </a:rPr>
              <a:t>Console.WriteLine</a:t>
            </a:r>
            <a:r>
              <a:rPr lang="en-US" sz="1600">
                <a:latin typeface="Fira Code" panose="020B0809050000020004" pitchFamily="49" charset="0"/>
                <a:ea typeface="Fira Code" panose="020B0809050000020004" pitchFamily="49" charset="0"/>
                <a:cs typeface="Fira Code" panose="020B0809050000020004" pitchFamily="49" charset="0"/>
              </a:rPr>
              <a:t>(mc[4]); </a:t>
            </a:r>
            <a:r>
              <a:rPr lang="en-US" sz="1600">
                <a:solidFill>
                  <a:srgbClr val="00B050"/>
                </a:solidFill>
                <a:latin typeface="Fira Code" panose="020B0809050000020004" pitchFamily="49" charset="0"/>
                <a:ea typeface="Fira Code" panose="020B0809050000020004" pitchFamily="49" charset="0"/>
                <a:cs typeface="Fira Code" panose="020B0809050000020004" pitchFamily="49" charset="0"/>
              </a:rPr>
              <a:t>// Prints 5</a:t>
            </a:r>
          </a:p>
          <a:p>
            <a:endParaRPr lang="en-US" sz="1600"/>
          </a:p>
        </p:txBody>
      </p:sp>
    </p:spTree>
    <p:extLst>
      <p:ext uri="{BB962C8B-B14F-4D97-AF65-F5344CB8AC3E}">
        <p14:creationId xmlns:p14="http://schemas.microsoft.com/office/powerpoint/2010/main" val="40609231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EF00-CEE5-B0F6-BEB8-B8C644EF51C0}"/>
              </a:ext>
            </a:extLst>
          </p:cNvPr>
          <p:cNvSpPr>
            <a:spLocks noGrp="1"/>
          </p:cNvSpPr>
          <p:nvPr>
            <p:ph type="title"/>
          </p:nvPr>
        </p:nvSpPr>
        <p:spPr/>
        <p:txBody>
          <a:bodyPr/>
          <a:lstStyle/>
          <a:p>
            <a:r>
              <a:rPr lang="en-US" dirty="0"/>
              <a:t>Factory Pattern</a:t>
            </a:r>
          </a:p>
        </p:txBody>
      </p:sp>
      <p:sp>
        <p:nvSpPr>
          <p:cNvPr id="3" name="Content Placeholder 2">
            <a:extLst>
              <a:ext uri="{FF2B5EF4-FFF2-40B4-BE49-F238E27FC236}">
                <a16:creationId xmlns:a16="http://schemas.microsoft.com/office/drawing/2014/main" id="{A8319BAF-4F8A-07E2-6CCA-694BD0C5CCF0}"/>
              </a:ext>
            </a:extLst>
          </p:cNvPr>
          <p:cNvSpPr>
            <a:spLocks noGrp="1"/>
          </p:cNvSpPr>
          <p:nvPr>
            <p:ph idx="1"/>
          </p:nvPr>
        </p:nvSpPr>
        <p:spPr/>
        <p:txBody>
          <a:bodyPr/>
          <a:lstStyle/>
          <a:p>
            <a:r>
              <a:rPr lang="en-US" dirty="0"/>
              <a:t>Chaining methods to act upon a class is sometimes referred to as a </a:t>
            </a:r>
            <a:r>
              <a:rPr lang="en-US" b="1" dirty="0"/>
              <a:t>factory pattern</a:t>
            </a:r>
            <a:r>
              <a:rPr lang="en-US" dirty="0"/>
              <a:t>.</a:t>
            </a:r>
          </a:p>
          <a:p>
            <a:endParaRPr lang="en-US" dirty="0"/>
          </a:p>
          <a:p>
            <a:r>
              <a:rPr lang="en-US" dirty="0"/>
              <a:t>Example: </a:t>
            </a:r>
            <a:r>
              <a:rPr lang="en-US" dirty="0" err="1">
                <a:latin typeface="Fira Code" panose="020B0809050000020004" pitchFamily="49" charset="0"/>
                <a:ea typeface="Fira Code" panose="020B0809050000020004" pitchFamily="49" charset="0"/>
              </a:rPr>
              <a:t>a.Map</a:t>
            </a:r>
            <a:r>
              <a:rPr lang="en-US" dirty="0">
                <a:latin typeface="Fira Code" panose="020B0809050000020004" pitchFamily="49" charset="0"/>
                <a:ea typeface="Fira Code" panose="020B0809050000020004" pitchFamily="49" charset="0"/>
              </a:rPr>
              <a:t>(</a:t>
            </a:r>
            <a:r>
              <a:rPr lang="en-US" dirty="0" err="1">
                <a:latin typeface="Fira Code" panose="020B0809050000020004" pitchFamily="49" charset="0"/>
                <a:ea typeface="Fira Code" panose="020B0809050000020004" pitchFamily="49" charset="0"/>
              </a:rPr>
              <a:t>i</a:t>
            </a:r>
            <a:r>
              <a:rPr lang="en-US" dirty="0">
                <a:latin typeface="Fira Code" panose="020B0809050000020004" pitchFamily="49" charset="0"/>
                <a:ea typeface="Fira Code" panose="020B0809050000020004" pitchFamily="49" charset="0"/>
              </a:rPr>
              <a:t> =&gt; </a:t>
            </a:r>
            <a:r>
              <a:rPr lang="en-US" dirty="0" err="1">
                <a:latin typeface="Fira Code" panose="020B0809050000020004" pitchFamily="49" charset="0"/>
                <a:ea typeface="Fira Code" panose="020B0809050000020004" pitchFamily="49" charset="0"/>
              </a:rPr>
              <a:t>i</a:t>
            </a:r>
            <a:r>
              <a:rPr lang="en-US" dirty="0">
                <a:latin typeface="Fira Code" panose="020B0809050000020004" pitchFamily="49" charset="0"/>
                <a:ea typeface="Fira Code" panose="020B0809050000020004" pitchFamily="49" charset="0"/>
              </a:rPr>
              <a:t> * 20).Reduce()</a:t>
            </a:r>
          </a:p>
          <a:p>
            <a:endParaRPr lang="en-US" dirty="0"/>
          </a:p>
          <a:p>
            <a:r>
              <a:rPr lang="en-US" dirty="0"/>
              <a:t>Requires methods to return a reference of the class.</a:t>
            </a:r>
          </a:p>
        </p:txBody>
      </p:sp>
    </p:spTree>
    <p:extLst>
      <p:ext uri="{BB962C8B-B14F-4D97-AF65-F5344CB8AC3E}">
        <p14:creationId xmlns:p14="http://schemas.microsoft.com/office/powerpoint/2010/main" val="1696879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AD10-B704-2122-AA59-9708BBE8A204}"/>
              </a:ext>
            </a:extLst>
          </p:cNvPr>
          <p:cNvSpPr>
            <a:spLocks noGrp="1"/>
          </p:cNvSpPr>
          <p:nvPr>
            <p:ph type="title"/>
          </p:nvPr>
        </p:nvSpPr>
        <p:spPr/>
        <p:txBody>
          <a:bodyPr/>
          <a:lstStyle/>
          <a:p>
            <a:r>
              <a:rPr lang="en-US"/>
              <a:t>Collections Generics</a:t>
            </a:r>
          </a:p>
        </p:txBody>
      </p:sp>
      <p:sp>
        <p:nvSpPr>
          <p:cNvPr id="3" name="Content Placeholder 2">
            <a:extLst>
              <a:ext uri="{FF2B5EF4-FFF2-40B4-BE49-F238E27FC236}">
                <a16:creationId xmlns:a16="http://schemas.microsoft.com/office/drawing/2014/main" id="{E193F1FD-46B0-A563-A50E-236F785B97F7}"/>
              </a:ext>
            </a:extLst>
          </p:cNvPr>
          <p:cNvSpPr>
            <a:spLocks noGrp="1"/>
          </p:cNvSpPr>
          <p:nvPr>
            <p:ph idx="1"/>
          </p:nvPr>
        </p:nvSpPr>
        <p:spPr/>
        <p:txBody>
          <a:bodyPr>
            <a:noAutofit/>
          </a:bodyPr>
          <a:lstStyle/>
          <a:p>
            <a:r>
              <a:rPr lang="en-US" sz="2000" err="1">
                <a:hlinkClick r:id="rId2"/>
              </a:rPr>
              <a:t>System.Collections.Generic</a:t>
            </a:r>
            <a:endParaRPr lang="en-US" sz="2000"/>
          </a:p>
          <a:p>
            <a:pPr lvl="1"/>
            <a:r>
              <a:rPr lang="en-US" sz="1800">
                <a:latin typeface="Fira Code" pitchFamily="1" charset="0"/>
                <a:ea typeface="Fira Code" pitchFamily="1" charset="0"/>
                <a:cs typeface="Fira Code" pitchFamily="1" charset="0"/>
              </a:rPr>
              <a:t>List&lt;</a:t>
            </a:r>
            <a:r>
              <a:rPr lang="en-US" sz="1800" i="1">
                <a:latin typeface="Fira Code" pitchFamily="1" charset="0"/>
                <a:ea typeface="Fira Code" pitchFamily="1" charset="0"/>
                <a:cs typeface="Fira Code" pitchFamily="1" charset="0"/>
              </a:rPr>
              <a:t>type</a:t>
            </a:r>
            <a:r>
              <a:rPr lang="en-US" sz="1800">
                <a:latin typeface="Fira Code" pitchFamily="1" charset="0"/>
                <a:ea typeface="Fira Code" pitchFamily="1" charset="0"/>
                <a:cs typeface="Fira Code" pitchFamily="1" charset="0"/>
              </a:rPr>
              <a:t>&gt;</a:t>
            </a:r>
          </a:p>
          <a:p>
            <a:pPr lvl="2"/>
            <a:r>
              <a:rPr lang="en-US" sz="1400">
                <a:latin typeface="Fira Code" pitchFamily="1" charset="0"/>
                <a:ea typeface="Fira Code" pitchFamily="1" charset="0"/>
                <a:cs typeface="Fira Code" pitchFamily="1" charset="0"/>
              </a:rPr>
              <a:t>LinkedList&lt;</a:t>
            </a:r>
            <a:r>
              <a:rPr lang="en-US" sz="1400" i="1">
                <a:latin typeface="Fira Code" pitchFamily="1" charset="0"/>
                <a:ea typeface="Fira Code" pitchFamily="1" charset="0"/>
                <a:cs typeface="Fira Code" pitchFamily="1" charset="0"/>
              </a:rPr>
              <a:t>type</a:t>
            </a:r>
            <a:r>
              <a:rPr lang="en-US" sz="1400">
                <a:latin typeface="Fira Code" pitchFamily="1" charset="0"/>
                <a:ea typeface="Fira Code" pitchFamily="1" charset="0"/>
                <a:cs typeface="Fira Code" pitchFamily="1" charset="0"/>
              </a:rPr>
              <a:t>&gt;</a:t>
            </a:r>
          </a:p>
          <a:p>
            <a:pPr lvl="2"/>
            <a:endParaRPr lang="en-US" sz="1400">
              <a:latin typeface="Fira Code" pitchFamily="1" charset="0"/>
              <a:ea typeface="Fira Code" pitchFamily="1" charset="0"/>
              <a:cs typeface="Fira Code" pitchFamily="1" charset="0"/>
            </a:endParaRPr>
          </a:p>
          <a:p>
            <a:pPr lvl="1"/>
            <a:r>
              <a:rPr lang="en-US" sz="1800">
                <a:latin typeface="Fira Code" pitchFamily="1" charset="0"/>
                <a:ea typeface="Fira Code" pitchFamily="1" charset="0"/>
                <a:cs typeface="Fira Code" pitchFamily="1" charset="0"/>
              </a:rPr>
              <a:t>HashSet&lt;</a:t>
            </a:r>
            <a:r>
              <a:rPr lang="en-US" sz="1800" i="1">
                <a:latin typeface="Fira Code" pitchFamily="1" charset="0"/>
                <a:ea typeface="Fira Code" pitchFamily="1" charset="0"/>
                <a:cs typeface="Fira Code" pitchFamily="1" charset="0"/>
              </a:rPr>
              <a:t>type</a:t>
            </a:r>
            <a:r>
              <a:rPr lang="en-US" sz="1800">
                <a:latin typeface="Fira Code" pitchFamily="1" charset="0"/>
                <a:ea typeface="Fira Code" pitchFamily="1" charset="0"/>
                <a:cs typeface="Fira Code" pitchFamily="1" charset="0"/>
              </a:rPr>
              <a:t>&gt;</a:t>
            </a:r>
          </a:p>
          <a:p>
            <a:pPr lvl="2"/>
            <a:r>
              <a:rPr lang="en-US" sz="1400" err="1">
                <a:latin typeface="Fira Code" pitchFamily="1" charset="0"/>
                <a:ea typeface="Fira Code" pitchFamily="1" charset="0"/>
                <a:cs typeface="Fira Code" pitchFamily="1" charset="0"/>
              </a:rPr>
              <a:t>SortedSet</a:t>
            </a:r>
            <a:r>
              <a:rPr lang="en-US" sz="1400">
                <a:latin typeface="Fira Code" pitchFamily="1" charset="0"/>
                <a:ea typeface="Fira Code" pitchFamily="1" charset="0"/>
                <a:cs typeface="Fira Code" pitchFamily="1" charset="0"/>
              </a:rPr>
              <a:t>&lt;</a:t>
            </a:r>
            <a:r>
              <a:rPr lang="en-US" sz="1400" i="1">
                <a:latin typeface="Fira Code" pitchFamily="1" charset="0"/>
                <a:ea typeface="Fira Code" pitchFamily="1" charset="0"/>
                <a:cs typeface="Fira Code" pitchFamily="1" charset="0"/>
              </a:rPr>
              <a:t>type</a:t>
            </a:r>
            <a:r>
              <a:rPr lang="en-US" sz="1400">
                <a:latin typeface="Fira Code" pitchFamily="1" charset="0"/>
                <a:ea typeface="Fira Code" pitchFamily="1" charset="0"/>
                <a:cs typeface="Fira Code" pitchFamily="1" charset="0"/>
              </a:rPr>
              <a:t>&gt;</a:t>
            </a:r>
          </a:p>
          <a:p>
            <a:pPr marL="457200" lvl="1" indent="0">
              <a:buNone/>
            </a:pPr>
            <a:endParaRPr lang="en-US" sz="1800">
              <a:latin typeface="Fira Code" pitchFamily="1" charset="0"/>
              <a:ea typeface="Fira Code" pitchFamily="1" charset="0"/>
              <a:cs typeface="Fira Code" pitchFamily="1" charset="0"/>
            </a:endParaRPr>
          </a:p>
          <a:p>
            <a:pPr lvl="1"/>
            <a:r>
              <a:rPr lang="en-US" sz="1800">
                <a:latin typeface="Fira Code" pitchFamily="1" charset="0"/>
                <a:ea typeface="Fira Code" pitchFamily="1" charset="0"/>
                <a:cs typeface="Fira Code" pitchFamily="1" charset="0"/>
              </a:rPr>
              <a:t>Queue&lt;</a:t>
            </a:r>
            <a:r>
              <a:rPr lang="en-US" sz="1800" i="1">
                <a:latin typeface="Fira Code" pitchFamily="1" charset="0"/>
                <a:ea typeface="Fira Code" pitchFamily="1" charset="0"/>
                <a:cs typeface="Fira Code" pitchFamily="1" charset="0"/>
              </a:rPr>
              <a:t>type</a:t>
            </a:r>
            <a:r>
              <a:rPr lang="en-US" sz="1800">
                <a:latin typeface="Fira Code" pitchFamily="1" charset="0"/>
                <a:ea typeface="Fira Code" pitchFamily="1" charset="0"/>
                <a:cs typeface="Fira Code" pitchFamily="1" charset="0"/>
              </a:rPr>
              <a:t>&gt;</a:t>
            </a:r>
          </a:p>
          <a:p>
            <a:pPr lvl="1"/>
            <a:endParaRPr lang="en-US" sz="1800">
              <a:latin typeface="Fira Code" pitchFamily="1" charset="0"/>
              <a:ea typeface="Fira Code" pitchFamily="1" charset="0"/>
              <a:cs typeface="Fira Code" pitchFamily="1" charset="0"/>
            </a:endParaRPr>
          </a:p>
          <a:p>
            <a:pPr lvl="1"/>
            <a:r>
              <a:rPr lang="en-US" sz="1800">
                <a:latin typeface="Fira Code" pitchFamily="1" charset="0"/>
                <a:ea typeface="Fira Code" pitchFamily="1" charset="0"/>
                <a:cs typeface="Fira Code" pitchFamily="1" charset="0"/>
              </a:rPr>
              <a:t>Stack&lt;</a:t>
            </a:r>
            <a:r>
              <a:rPr lang="en-US" sz="1800" i="1">
                <a:latin typeface="Fira Code" pitchFamily="1" charset="0"/>
                <a:ea typeface="Fira Code" pitchFamily="1" charset="0"/>
                <a:cs typeface="Fira Code" pitchFamily="1" charset="0"/>
              </a:rPr>
              <a:t>type</a:t>
            </a:r>
            <a:r>
              <a:rPr lang="en-US" sz="1800">
                <a:latin typeface="Fira Code" pitchFamily="1" charset="0"/>
                <a:ea typeface="Fira Code" pitchFamily="1" charset="0"/>
                <a:cs typeface="Fira Code" pitchFamily="1" charset="0"/>
              </a:rPr>
              <a:t>&gt;</a:t>
            </a:r>
          </a:p>
          <a:p>
            <a:pPr lvl="1"/>
            <a:endParaRPr lang="en-US" sz="1800">
              <a:latin typeface="Fira Code" pitchFamily="1" charset="0"/>
              <a:ea typeface="Fira Code" pitchFamily="1" charset="0"/>
              <a:cs typeface="Fira Code" pitchFamily="1" charset="0"/>
            </a:endParaRPr>
          </a:p>
          <a:p>
            <a:pPr lvl="1"/>
            <a:r>
              <a:rPr lang="en-US" sz="1800">
                <a:latin typeface="Fira Code" pitchFamily="1" charset="0"/>
                <a:ea typeface="Fira Code" pitchFamily="1" charset="0"/>
                <a:cs typeface="Fira Code" pitchFamily="1" charset="0"/>
              </a:rPr>
              <a:t>Dictionary&lt;</a:t>
            </a:r>
            <a:r>
              <a:rPr lang="en-US" sz="1800" i="1" err="1">
                <a:latin typeface="Fira Code" pitchFamily="1" charset="0"/>
                <a:ea typeface="Fira Code" pitchFamily="1" charset="0"/>
                <a:cs typeface="Fira Code" pitchFamily="1" charset="0"/>
              </a:rPr>
              <a:t>keytype</a:t>
            </a:r>
            <a:r>
              <a:rPr lang="en-US" sz="1800" i="1">
                <a:latin typeface="Fira Code" pitchFamily="1" charset="0"/>
                <a:ea typeface="Fira Code" pitchFamily="1" charset="0"/>
                <a:cs typeface="Fira Code" pitchFamily="1" charset="0"/>
              </a:rPr>
              <a:t>, </a:t>
            </a:r>
            <a:r>
              <a:rPr lang="en-US" sz="1800" i="1" err="1">
                <a:latin typeface="Fira Code" pitchFamily="1" charset="0"/>
                <a:ea typeface="Fira Code" pitchFamily="1" charset="0"/>
                <a:cs typeface="Fira Code" pitchFamily="1" charset="0"/>
              </a:rPr>
              <a:t>valuetype</a:t>
            </a:r>
            <a:r>
              <a:rPr lang="en-US" sz="1800">
                <a:latin typeface="Fira Code" pitchFamily="1" charset="0"/>
                <a:ea typeface="Fira Code" pitchFamily="1" charset="0"/>
                <a:cs typeface="Fira Code" pitchFamily="1" charset="0"/>
              </a:rPr>
              <a:t>&gt;</a:t>
            </a:r>
          </a:p>
          <a:p>
            <a:endParaRPr lang="en-US" sz="2000"/>
          </a:p>
        </p:txBody>
      </p:sp>
    </p:spTree>
    <p:extLst>
      <p:ext uri="{BB962C8B-B14F-4D97-AF65-F5344CB8AC3E}">
        <p14:creationId xmlns:p14="http://schemas.microsoft.com/office/powerpoint/2010/main" val="22117741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CF9B-7CCE-55C7-187D-814A87DFDC8A}"/>
              </a:ext>
            </a:extLst>
          </p:cNvPr>
          <p:cNvSpPr>
            <a:spLocks noGrp="1"/>
          </p:cNvSpPr>
          <p:nvPr>
            <p:ph type="title"/>
          </p:nvPr>
        </p:nvSpPr>
        <p:spPr/>
        <p:txBody>
          <a:bodyPr/>
          <a:lstStyle/>
          <a:p>
            <a:r>
              <a:rPr lang="en-US"/>
              <a:t>Example List</a:t>
            </a:r>
          </a:p>
        </p:txBody>
      </p:sp>
      <p:sp>
        <p:nvSpPr>
          <p:cNvPr id="3" name="Content Placeholder 2">
            <a:extLst>
              <a:ext uri="{FF2B5EF4-FFF2-40B4-BE49-F238E27FC236}">
                <a16:creationId xmlns:a16="http://schemas.microsoft.com/office/drawing/2014/main" id="{35C6514B-DE3D-8EFA-5DDD-44C4BEC581D1}"/>
              </a:ext>
            </a:extLst>
          </p:cNvPr>
          <p:cNvSpPr>
            <a:spLocks noGrp="1"/>
          </p:cNvSpPr>
          <p:nvPr>
            <p:ph idx="1"/>
          </p:nvPr>
        </p:nvSpPr>
        <p:spPr/>
        <p:txBody>
          <a:bodyPr>
            <a:noAutofit/>
          </a:bodyPr>
          <a:lstStyle/>
          <a:p>
            <a:pPr marL="0" indent="0">
              <a:buNone/>
            </a:pP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using </a:t>
            </a:r>
            <a:r>
              <a:rPr lang="en-US" sz="1800" err="1">
                <a:latin typeface="Fira Code" panose="020B0809050000020004" pitchFamily="49" charset="0"/>
                <a:ea typeface="Fira Code" panose="020B0809050000020004" pitchFamily="49" charset="0"/>
                <a:cs typeface="Fira Code" panose="020B0809050000020004" pitchFamily="49" charset="0"/>
              </a:rPr>
              <a:t>System.Collections.Generic</a:t>
            </a: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public static void </a:t>
            </a:r>
            <a:r>
              <a:rPr lang="en-US" sz="1800" err="1">
                <a:latin typeface="Fira Code" panose="020B0809050000020004" pitchFamily="49" charset="0"/>
                <a:ea typeface="Fira Code" panose="020B0809050000020004" pitchFamily="49" charset="0"/>
                <a:cs typeface="Fira Code" panose="020B0809050000020004" pitchFamily="49" charset="0"/>
              </a:rPr>
              <a:t>MyFunction</a:t>
            </a:r>
            <a:r>
              <a:rPr lang="en-US" sz="18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List&lt;</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double</a:t>
            </a:r>
            <a:r>
              <a:rPr lang="en-US" sz="1800">
                <a:latin typeface="Fira Code" panose="020B0809050000020004" pitchFamily="49" charset="0"/>
                <a:ea typeface="Fira Code" panose="020B0809050000020004" pitchFamily="49" charset="0"/>
                <a:cs typeface="Fira Code" panose="020B0809050000020004" pitchFamily="49" charset="0"/>
              </a:rPr>
              <a:t>&gt; </a:t>
            </a:r>
            <a:r>
              <a:rPr lang="en-US" sz="1800" err="1">
                <a:latin typeface="Fira Code" panose="020B0809050000020004" pitchFamily="49" charset="0"/>
                <a:ea typeface="Fira Code" panose="020B0809050000020004" pitchFamily="49" charset="0"/>
                <a:cs typeface="Fira Code" panose="020B0809050000020004" pitchFamily="49" charset="0"/>
              </a:rPr>
              <a:t>list_of_doubles</a:t>
            </a:r>
            <a:r>
              <a:rPr lang="en-US" sz="1800">
                <a:latin typeface="Fira Code" panose="020B0809050000020004" pitchFamily="49" charset="0"/>
                <a:ea typeface="Fira Code" panose="020B0809050000020004" pitchFamily="49" charset="0"/>
                <a:cs typeface="Fira Code" panose="020B0809050000020004" pitchFamily="49" charset="0"/>
              </a:rPr>
              <a:t> =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new</a:t>
            </a:r>
            <a:r>
              <a:rPr lang="en-US" sz="1800">
                <a:latin typeface="Fira Code" panose="020B0809050000020004" pitchFamily="49" charset="0"/>
                <a:ea typeface="Fira Code" panose="020B0809050000020004" pitchFamily="49" charset="0"/>
                <a:cs typeface="Fira Code" panose="020B0809050000020004" pitchFamily="49" charset="0"/>
              </a:rPr>
              <a:t> List&lt;</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double</a:t>
            </a:r>
            <a:r>
              <a:rPr lang="en-US" sz="1800">
                <a:latin typeface="Fira Code" panose="020B0809050000020004" pitchFamily="49" charset="0"/>
                <a:ea typeface="Fira Code" panose="020B0809050000020004" pitchFamily="49" charset="0"/>
                <a:cs typeface="Fira Code" panose="020B0809050000020004" pitchFamily="49" charset="0"/>
              </a:rPr>
              <a:t>&gt;();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for</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i</a:t>
            </a:r>
            <a:r>
              <a:rPr lang="en-US" sz="1800">
                <a:latin typeface="Fira Code" panose="020B0809050000020004" pitchFamily="49" charset="0"/>
                <a:ea typeface="Fira Code" panose="020B0809050000020004" pitchFamily="49" charset="0"/>
                <a:cs typeface="Fira Code" panose="020B0809050000020004" pitchFamily="49" charset="0"/>
              </a:rPr>
              <a:t> = 0;i &lt; 100000;i++) {</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list_of_doubles.Add</a:t>
            </a:r>
            <a:r>
              <a:rPr lang="en-US" sz="1800">
                <a:latin typeface="Fira Code" panose="020B0809050000020004" pitchFamily="49" charset="0"/>
                <a:ea typeface="Fira Code" panose="020B0809050000020004" pitchFamily="49" charset="0"/>
                <a:cs typeface="Fira Code" panose="020B0809050000020004" pitchFamily="49" charset="0"/>
              </a:rPr>
              <a:t>(</a:t>
            </a:r>
            <a:r>
              <a:rPr lang="en-US" sz="1800" err="1">
                <a:latin typeface="Fira Code" panose="020B0809050000020004" pitchFamily="49" charset="0"/>
                <a:ea typeface="Fira Code" panose="020B0809050000020004" pitchFamily="49" charset="0"/>
                <a:cs typeface="Fira Code" panose="020B0809050000020004" pitchFamily="49" charset="0"/>
              </a:rPr>
              <a:t>i</a:t>
            </a: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Console.WriteLine</a:t>
            </a:r>
            <a:r>
              <a:rPr lang="en-US" sz="1800">
                <a:latin typeface="Fira Code" panose="020B0809050000020004" pitchFamily="49" charset="0"/>
                <a:ea typeface="Fira Code" panose="020B0809050000020004" pitchFamily="49" charset="0"/>
                <a:cs typeface="Fira Code" panose="020B0809050000020004" pitchFamily="49" charset="0"/>
              </a:rPr>
              <a:t>(</a:t>
            </a:r>
            <a:r>
              <a:rPr lang="en-US" sz="1800" err="1">
                <a:latin typeface="Fira Code" panose="020B0809050000020004" pitchFamily="49" charset="0"/>
                <a:ea typeface="Fira Code" panose="020B0809050000020004" pitchFamily="49" charset="0"/>
                <a:cs typeface="Fira Code" panose="020B0809050000020004" pitchFamily="49" charset="0"/>
              </a:rPr>
              <a:t>list_of_doubles.Count</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 of elements</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Console.WriteLine</a:t>
            </a:r>
            <a:r>
              <a:rPr lang="en-US" sz="1800">
                <a:latin typeface="Fira Code" panose="020B0809050000020004" pitchFamily="49" charset="0"/>
                <a:ea typeface="Fira Code" panose="020B0809050000020004" pitchFamily="49" charset="0"/>
                <a:cs typeface="Fira Code" panose="020B0809050000020004" pitchFamily="49" charset="0"/>
              </a:rPr>
              <a:t>(</a:t>
            </a:r>
            <a:r>
              <a:rPr lang="en-US" sz="1800" err="1">
                <a:latin typeface="Fira Code" panose="020B0809050000020004" pitchFamily="49" charset="0"/>
                <a:ea typeface="Fira Code" panose="020B0809050000020004" pitchFamily="49" charset="0"/>
                <a:cs typeface="Fira Code" panose="020B0809050000020004" pitchFamily="49" charset="0"/>
              </a:rPr>
              <a:t>list_of_doubles</a:t>
            </a:r>
            <a:r>
              <a:rPr lang="en-US" sz="1800">
                <a:latin typeface="Fira Code" panose="020B0809050000020004" pitchFamily="49" charset="0"/>
                <a:ea typeface="Fira Code" panose="020B0809050000020004" pitchFamily="49" charset="0"/>
                <a:cs typeface="Fira Code" panose="020B0809050000020004" pitchFamily="49" charset="0"/>
              </a:rPr>
              <a:t>[0]);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First double</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list_of_double.Sort</a:t>
            </a: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foreach</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double</a:t>
            </a:r>
            <a:r>
              <a:rPr lang="en-US" sz="1800">
                <a:latin typeface="Fira Code" panose="020B0809050000020004" pitchFamily="49" charset="0"/>
                <a:ea typeface="Fira Code" panose="020B0809050000020004" pitchFamily="49" charset="0"/>
                <a:cs typeface="Fira Code" panose="020B0809050000020004" pitchFamily="49" charset="0"/>
              </a:rPr>
              <a:t> d </a:t>
            </a:r>
            <a:r>
              <a:rPr lang="en-US" sz="1800">
                <a:solidFill>
                  <a:srgbClr val="0070C0"/>
                </a:solidFill>
                <a:latin typeface="Fira Code" panose="020B0809050000020004" pitchFamily="49" charset="0"/>
                <a:ea typeface="Fira Code" panose="020B0809050000020004" pitchFamily="49" charset="0"/>
                <a:cs typeface="Fira Code" panose="020B0809050000020004" pitchFamily="49" charset="0"/>
              </a:rPr>
              <a:t>in</a:t>
            </a: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list_of_doubles</a:t>
            </a:r>
            <a:r>
              <a:rPr lang="en-US" sz="18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		</a:t>
            </a:r>
            <a:r>
              <a:rPr lang="en-US" sz="1800" err="1">
                <a:latin typeface="Fira Code" panose="020B0809050000020004" pitchFamily="49" charset="0"/>
                <a:ea typeface="Fira Code" panose="020B0809050000020004" pitchFamily="49" charset="0"/>
                <a:cs typeface="Fira Code" panose="020B0809050000020004" pitchFamily="49" charset="0"/>
              </a:rPr>
              <a:t>Console.WriteLine</a:t>
            </a:r>
            <a:r>
              <a:rPr lang="en-US" sz="1800">
                <a:latin typeface="Fira Code" panose="020B0809050000020004" pitchFamily="49" charset="0"/>
                <a:ea typeface="Fira Code" panose="020B0809050000020004" pitchFamily="49" charset="0"/>
                <a:cs typeface="Fira Code" panose="020B0809050000020004" pitchFamily="49" charset="0"/>
              </a:rPr>
              <a:t>(d); </a:t>
            </a:r>
            <a:r>
              <a:rPr lang="en-US" sz="1800">
                <a:solidFill>
                  <a:srgbClr val="00B050"/>
                </a:solidFill>
                <a:latin typeface="Fira Code" panose="020B0809050000020004" pitchFamily="49" charset="0"/>
                <a:ea typeface="Fira Code" panose="020B0809050000020004" pitchFamily="49" charset="0"/>
                <a:cs typeface="Fira Code" panose="020B0809050000020004" pitchFamily="49" charset="0"/>
              </a:rPr>
              <a:t>// Print out every double in the list</a:t>
            </a:r>
          </a:p>
          <a:p>
            <a:pPr marL="0" indent="0">
              <a:buNone/>
            </a:pPr>
            <a:r>
              <a:rPr lang="en-US" sz="1800">
                <a:latin typeface="Fira Code" panose="020B0809050000020004" pitchFamily="49" charset="0"/>
                <a:ea typeface="Fira Code" panose="020B0809050000020004" pitchFamily="49" charset="0"/>
                <a:cs typeface="Fira Code" panose="020B0809050000020004" pitchFamily="49" charset="0"/>
              </a:rPr>
              <a:t>}</a:t>
            </a:r>
          </a:p>
          <a:p>
            <a:endParaRPr lang="en-US" sz="180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618853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0E4C4-CCAF-44B6-93C3-B40FA88CD416}"/>
              </a:ext>
            </a:extLst>
          </p:cNvPr>
          <p:cNvSpPr>
            <a:spLocks noGrp="1"/>
          </p:cNvSpPr>
          <p:nvPr>
            <p:ph type="title"/>
          </p:nvPr>
        </p:nvSpPr>
        <p:spPr/>
        <p:txBody>
          <a:bodyPr/>
          <a:lstStyle/>
          <a:p>
            <a:r>
              <a:rPr lang="en-US"/>
              <a:t>Inheritance</a:t>
            </a:r>
          </a:p>
        </p:txBody>
      </p:sp>
      <p:sp>
        <p:nvSpPr>
          <p:cNvPr id="3" name="Content Placeholder 2">
            <a:extLst>
              <a:ext uri="{FF2B5EF4-FFF2-40B4-BE49-F238E27FC236}">
                <a16:creationId xmlns:a16="http://schemas.microsoft.com/office/drawing/2014/main" id="{7BD49304-6EDD-4DC5-BF78-4686E7E0E385}"/>
              </a:ext>
            </a:extLst>
          </p:cNvPr>
          <p:cNvSpPr>
            <a:spLocks noGrp="1"/>
          </p:cNvSpPr>
          <p:nvPr>
            <p:ph idx="1"/>
          </p:nvPr>
        </p:nvSpPr>
        <p:spPr/>
        <p:txBody>
          <a:bodyPr>
            <a:normAutofit fontScale="92500" lnSpcReduction="20000"/>
          </a:bodyPr>
          <a:lstStyle/>
          <a:p>
            <a:r>
              <a:rPr lang="en-US" sz="2400"/>
              <a:t>Much like C++, classes, abstract classes, and interfaces can be derived or “inherited”. The syntax is simply a colon after the name of a class or more separated by a comma.</a:t>
            </a:r>
          </a:p>
          <a:p>
            <a:endParaRPr lang="en-US" sz="2400"/>
          </a:p>
          <a:p>
            <a:r>
              <a:rPr lang="en-US" sz="2400"/>
              <a:t>Multiple inheritance is not allowed in C#. However, you can implement multiple interfaces.</a:t>
            </a:r>
          </a:p>
          <a:p>
            <a:endParaRPr lang="en-US" sz="2400"/>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2200">
                <a:latin typeface="Fira Code" panose="020B0809050000020004" pitchFamily="49" charset="0"/>
                <a:ea typeface="Fira Code" panose="020B0809050000020004" pitchFamily="49" charset="0"/>
                <a:cs typeface="Fira Code" panose="020B0809050000020004" pitchFamily="49" charset="0"/>
              </a:rPr>
              <a:t> Derived : </a:t>
            </a:r>
            <a:r>
              <a:rPr lang="en-US" sz="2200" err="1">
                <a:latin typeface="Fira Code" panose="020B0809050000020004" pitchFamily="49" charset="0"/>
                <a:ea typeface="Fira Code" panose="020B0809050000020004" pitchFamily="49" charset="0"/>
                <a:cs typeface="Fira Code" panose="020B0809050000020004" pitchFamily="49" charset="0"/>
              </a:rPr>
              <a:t>SomeBaseClass</a:t>
            </a:r>
            <a:r>
              <a:rPr lang="en-US" sz="22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This class now has all of the members of </a:t>
            </a:r>
            <a:r>
              <a:rPr lang="en-US" sz="2200" err="1">
                <a:solidFill>
                  <a:srgbClr val="00B050"/>
                </a:solidFill>
                <a:latin typeface="Fira Code" panose="020B0809050000020004" pitchFamily="49" charset="0"/>
                <a:ea typeface="Fira Code" panose="020B0809050000020004" pitchFamily="49" charset="0"/>
                <a:cs typeface="Fira Code" panose="020B0809050000020004" pitchFamily="49" charset="0"/>
              </a:rPr>
              <a:t>SomeBaseClass</a:t>
            </a:r>
            <a:endPar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2703158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EE04-3FC1-4CB7-9C39-06FC28F71489}"/>
              </a:ext>
            </a:extLst>
          </p:cNvPr>
          <p:cNvSpPr>
            <a:spLocks noGrp="1"/>
          </p:cNvSpPr>
          <p:nvPr>
            <p:ph type="title"/>
          </p:nvPr>
        </p:nvSpPr>
        <p:spPr/>
        <p:txBody>
          <a:bodyPr/>
          <a:lstStyle/>
          <a:p>
            <a:r>
              <a:rPr lang="en-US"/>
              <a:t>Interface</a:t>
            </a:r>
          </a:p>
        </p:txBody>
      </p:sp>
      <p:sp>
        <p:nvSpPr>
          <p:cNvPr id="3" name="Content Placeholder 2">
            <a:extLst>
              <a:ext uri="{FF2B5EF4-FFF2-40B4-BE49-F238E27FC236}">
                <a16:creationId xmlns:a16="http://schemas.microsoft.com/office/drawing/2014/main" id="{53DD058B-E1C7-4864-9F08-2CB2150714DD}"/>
              </a:ext>
            </a:extLst>
          </p:cNvPr>
          <p:cNvSpPr>
            <a:spLocks noGrp="1"/>
          </p:cNvSpPr>
          <p:nvPr>
            <p:ph idx="1"/>
          </p:nvPr>
        </p:nvSpPr>
        <p:spPr>
          <a:xfrm>
            <a:off x="838200" y="1825625"/>
            <a:ext cx="10515600" cy="4732338"/>
          </a:xfrm>
        </p:spPr>
        <p:txBody>
          <a:bodyPr>
            <a:normAutofit fontScale="62500" lnSpcReduction="20000"/>
          </a:bodyPr>
          <a:lstStyle/>
          <a:p>
            <a:r>
              <a:rPr lang="en-US" dirty="0"/>
              <a:t>Interfaces contain the “signature” of a method, property, or event.</a:t>
            </a:r>
          </a:p>
          <a:p>
            <a:pPr lvl="1"/>
            <a:r>
              <a:rPr lang="en-US" dirty="0"/>
              <a:t>C# programmers typically put a capital I in front of the name to denote that it is an interface: </a:t>
            </a:r>
            <a:r>
              <a:rPr lang="en-US" dirty="0" err="1"/>
              <a:t>IMyInterface</a:t>
            </a:r>
            <a:endParaRPr lang="en-US" dirty="0"/>
          </a:p>
          <a:p>
            <a:endParaRPr lang="en-US" dirty="0"/>
          </a:p>
          <a:p>
            <a:pPr marL="0" indent="0">
              <a:buNone/>
            </a:pPr>
            <a:r>
              <a:rPr lang="en-US" sz="2200" dirty="0">
                <a:solidFill>
                  <a:srgbClr val="0070C0"/>
                </a:solidFill>
                <a:latin typeface="Fira Code" panose="020B0809050000020004" pitchFamily="49" charset="0"/>
                <a:ea typeface="Fira Code" panose="020B0809050000020004" pitchFamily="49" charset="0"/>
                <a:cs typeface="Fira Code" panose="020B0809050000020004" pitchFamily="49" charset="0"/>
              </a:rPr>
              <a:t>interface</a:t>
            </a: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err="1">
                <a:latin typeface="Fira Code" panose="020B0809050000020004" pitchFamily="49" charset="0"/>
                <a:ea typeface="Fira Code" panose="020B0809050000020004" pitchFamily="49" charset="0"/>
                <a:cs typeface="Fira Code" panose="020B0809050000020004" pitchFamily="49" charset="0"/>
              </a:rPr>
              <a:t>IMyInterface</a:t>
            </a:r>
            <a:r>
              <a:rPr lang="en-US" sz="2200" dirty="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a:solidFill>
                  <a:srgbClr val="0070C0"/>
                </a:solidFill>
                <a:latin typeface="Fira Code" panose="020B0809050000020004" pitchFamily="49" charset="0"/>
                <a:ea typeface="Fira Code" panose="020B0809050000020004" pitchFamily="49" charset="0"/>
                <a:cs typeface="Fira Code" panose="020B0809050000020004" pitchFamily="49" charset="0"/>
              </a:rPr>
              <a:t>void</a:t>
            </a: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err="1">
                <a:latin typeface="Fira Code" panose="020B0809050000020004" pitchFamily="49" charset="0"/>
                <a:ea typeface="Fira Code" panose="020B0809050000020004" pitchFamily="49" charset="0"/>
                <a:cs typeface="Fira Code" panose="020B0809050000020004" pitchFamily="49" charset="0"/>
              </a:rPr>
              <a:t>SomeMethod</a:t>
            </a: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a:solidFill>
                  <a:srgbClr val="00B050"/>
                </a:solidFill>
                <a:latin typeface="Fira Code" panose="020B0809050000020004" pitchFamily="49" charset="0"/>
                <a:ea typeface="Fira Code" panose="020B0809050000020004" pitchFamily="49" charset="0"/>
                <a:cs typeface="Fira Code" panose="020B0809050000020004" pitchFamily="49" charset="0"/>
              </a:rPr>
              <a:t>// Notice no code goes here</a:t>
            </a:r>
          </a:p>
          <a:p>
            <a:pPr marL="0" indent="0">
              <a:buNone/>
            </a:pPr>
            <a:r>
              <a:rPr lang="en-US" sz="2200" dirty="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sz="2200" dirty="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200" dirty="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err="1">
                <a:latin typeface="Fira Code" panose="020B0809050000020004" pitchFamily="49" charset="0"/>
                <a:ea typeface="Fira Code" panose="020B0809050000020004" pitchFamily="49" charset="0"/>
                <a:cs typeface="Fira Code" panose="020B0809050000020004" pitchFamily="49" charset="0"/>
              </a:rPr>
              <a:t>MyClassThatImplementsIMyInterface</a:t>
            </a:r>
            <a:r>
              <a:rPr lang="en-US" sz="2200" dirty="0">
                <a:latin typeface="Fira Code" panose="020B0809050000020004" pitchFamily="49" charset="0"/>
                <a:ea typeface="Fira Code" panose="020B0809050000020004" pitchFamily="49" charset="0"/>
                <a:cs typeface="Fira Code" panose="020B0809050000020004" pitchFamily="49" charset="0"/>
              </a:rPr>
              <a:t> : </a:t>
            </a:r>
            <a:r>
              <a:rPr lang="en-US" sz="2200" dirty="0" err="1">
                <a:latin typeface="Fira Code" panose="020B0809050000020004" pitchFamily="49" charset="0"/>
                <a:ea typeface="Fira Code" panose="020B0809050000020004" pitchFamily="49" charset="0"/>
                <a:cs typeface="Fira Code" panose="020B0809050000020004" pitchFamily="49" charset="0"/>
              </a:rPr>
              <a:t>IMyInterface</a:t>
            </a:r>
            <a:r>
              <a:rPr lang="en-US" sz="2200" dirty="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a:solidFill>
                  <a:srgbClr val="00B050"/>
                </a:solidFill>
                <a:latin typeface="Fira Code" panose="020B0809050000020004" pitchFamily="49" charset="0"/>
                <a:ea typeface="Fira Code" panose="020B0809050000020004" pitchFamily="49" charset="0"/>
                <a:cs typeface="Fira Code" panose="020B0809050000020004" pitchFamily="49" charset="0"/>
              </a:rPr>
              <a:t>// This class is telling C# that it will implement all methods in </a:t>
            </a:r>
            <a:r>
              <a:rPr lang="en-US" sz="2200" dirty="0" err="1">
                <a:solidFill>
                  <a:srgbClr val="00B050"/>
                </a:solidFill>
                <a:latin typeface="Fira Code" panose="020B0809050000020004" pitchFamily="49" charset="0"/>
                <a:ea typeface="Fira Code" panose="020B0809050000020004" pitchFamily="49" charset="0"/>
                <a:cs typeface="Fira Code" panose="020B0809050000020004" pitchFamily="49" charset="0"/>
              </a:rPr>
              <a:t>IMyInterface</a:t>
            </a:r>
            <a:endParaRPr lang="en-US" sz="2200" dirty="0">
              <a:solidFill>
                <a:srgbClr val="00B050"/>
              </a:solidFill>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a:solidFill>
                  <a:srgbClr val="0070C0"/>
                </a:solidFill>
                <a:latin typeface="Fira Code" panose="020B0809050000020004" pitchFamily="49" charset="0"/>
                <a:ea typeface="Fira Code" panose="020B0809050000020004" pitchFamily="49" charset="0"/>
                <a:cs typeface="Fira Code" panose="020B0809050000020004" pitchFamily="49" charset="0"/>
              </a:rPr>
              <a:t>void</a:t>
            </a:r>
            <a:r>
              <a:rPr lang="en-US" sz="2200" dirty="0">
                <a:latin typeface="Fira Code" panose="020B0809050000020004" pitchFamily="49" charset="0"/>
                <a:ea typeface="Fira Code" panose="020B0809050000020004" pitchFamily="49" charset="0"/>
                <a:cs typeface="Fira Code" panose="020B0809050000020004" pitchFamily="49" charset="0"/>
              </a:rPr>
              <a:t> </a:t>
            </a:r>
            <a:r>
              <a:rPr lang="en-US" sz="2200" dirty="0" err="1">
                <a:latin typeface="Fira Code" panose="020B0809050000020004" pitchFamily="49" charset="0"/>
                <a:ea typeface="Fira Code" panose="020B0809050000020004" pitchFamily="49" charset="0"/>
                <a:cs typeface="Fira Code" panose="020B0809050000020004" pitchFamily="49" charset="0"/>
              </a:rPr>
              <a:t>SomeMethod</a:t>
            </a:r>
            <a:r>
              <a:rPr lang="en-US" sz="2200" dirty="0">
                <a:latin typeface="Fira Code" panose="020B0809050000020004" pitchFamily="49" charset="0"/>
                <a:ea typeface="Fira Code" panose="020B0809050000020004" pitchFamily="49" charset="0"/>
                <a:cs typeface="Fira Code" panose="020B0809050000020004" pitchFamily="49" charset="0"/>
              </a:rPr>
              <a:t>() { </a:t>
            </a:r>
            <a:r>
              <a:rPr lang="en-US" sz="2200" dirty="0">
                <a:solidFill>
                  <a:srgbClr val="00B050"/>
                </a:solidFill>
                <a:latin typeface="Fira Code" panose="020B0809050000020004" pitchFamily="49" charset="0"/>
                <a:ea typeface="Fira Code" panose="020B0809050000020004" pitchFamily="49" charset="0"/>
                <a:cs typeface="Fira Code" panose="020B0809050000020004" pitchFamily="49" charset="0"/>
              </a:rPr>
              <a:t>// This implements </a:t>
            </a:r>
            <a:r>
              <a:rPr lang="en-US" sz="2200" dirty="0" err="1">
                <a:solidFill>
                  <a:srgbClr val="00B050"/>
                </a:solidFill>
                <a:latin typeface="Fira Code" panose="020B0809050000020004" pitchFamily="49" charset="0"/>
                <a:ea typeface="Fira Code" panose="020B0809050000020004" pitchFamily="49" charset="0"/>
                <a:cs typeface="Fira Code" panose="020B0809050000020004" pitchFamily="49" charset="0"/>
              </a:rPr>
              <a:t>IMyInterface.SomeMethod</a:t>
            </a:r>
            <a:r>
              <a:rPr lang="en-US" sz="2200" dirty="0">
                <a:solidFill>
                  <a:srgbClr val="00B050"/>
                </a:solidFill>
                <a:latin typeface="Fira Code" panose="020B0809050000020004" pitchFamily="49" charset="0"/>
                <a:ea typeface="Fira Code" panose="020B0809050000020004" pitchFamily="49" charset="0"/>
                <a:cs typeface="Fira Code" panose="020B0809050000020004" pitchFamily="49" charset="0"/>
              </a:rPr>
              <a:t> </a:t>
            </a:r>
            <a:r>
              <a:rPr lang="en-US" sz="2200" dirty="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200" dirty="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dirty="0"/>
          </a:p>
          <a:p>
            <a:pPr marL="0" indent="0">
              <a:buNone/>
            </a:pPr>
            <a:r>
              <a:rPr lang="en-US" dirty="0"/>
              <a:t>All interface members are public and cannot be changed. Notice there is no "public void </a:t>
            </a:r>
            <a:r>
              <a:rPr lang="en-US" dirty="0" err="1"/>
              <a:t>SomeMethod</a:t>
            </a:r>
            <a:r>
              <a:rPr lang="en-US" dirty="0"/>
              <a:t>()" in the class. Doing so would cause a compiler error.</a:t>
            </a:r>
          </a:p>
        </p:txBody>
      </p:sp>
    </p:spTree>
    <p:extLst>
      <p:ext uri="{BB962C8B-B14F-4D97-AF65-F5344CB8AC3E}">
        <p14:creationId xmlns:p14="http://schemas.microsoft.com/office/powerpoint/2010/main" val="18204720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E915-3A15-4106-8797-7F15863501A3}"/>
              </a:ext>
            </a:extLst>
          </p:cNvPr>
          <p:cNvSpPr>
            <a:spLocks noGrp="1"/>
          </p:cNvSpPr>
          <p:nvPr>
            <p:ph type="title"/>
          </p:nvPr>
        </p:nvSpPr>
        <p:spPr/>
        <p:txBody>
          <a:bodyPr/>
          <a:lstStyle/>
          <a:p>
            <a:r>
              <a:rPr lang="en-US"/>
              <a:t>Override</a:t>
            </a:r>
          </a:p>
        </p:txBody>
      </p:sp>
      <p:sp>
        <p:nvSpPr>
          <p:cNvPr id="3" name="Content Placeholder 2">
            <a:extLst>
              <a:ext uri="{FF2B5EF4-FFF2-40B4-BE49-F238E27FC236}">
                <a16:creationId xmlns:a16="http://schemas.microsoft.com/office/drawing/2014/main" id="{1CC8F14D-BF3C-4226-A7D4-E4BDE397716F}"/>
              </a:ext>
            </a:extLst>
          </p:cNvPr>
          <p:cNvSpPr>
            <a:spLocks noGrp="1"/>
          </p:cNvSpPr>
          <p:nvPr>
            <p:ph idx="1"/>
          </p:nvPr>
        </p:nvSpPr>
        <p:spPr>
          <a:xfrm>
            <a:off x="838200" y="1825624"/>
            <a:ext cx="10515600" cy="4803775"/>
          </a:xfrm>
        </p:spPr>
        <p:txBody>
          <a:bodyPr>
            <a:normAutofit fontScale="62500" lnSpcReduction="20000"/>
          </a:bodyPr>
          <a:lstStyle/>
          <a:p>
            <a:r>
              <a:rPr lang="en-US"/>
              <a:t>The override keyword is required to modify an abstract or virtual implementation of a method, property, event, or indexer.</a:t>
            </a:r>
          </a:p>
          <a:p>
            <a:pPr lvl="1"/>
            <a:r>
              <a:rPr lang="en-US">
                <a:solidFill>
                  <a:srgbClr val="FF0000"/>
                </a:solidFill>
              </a:rPr>
              <a:t>You cannot override a non-virtual or non-abstract method!</a:t>
            </a:r>
          </a:p>
          <a:p>
            <a:endParaRPr lang="en-US"/>
          </a:p>
          <a:p>
            <a:pPr marL="0" indent="0">
              <a:buNone/>
            </a:pPr>
            <a:r>
              <a:rPr lang="en-US" sz="2600">
                <a:solidFill>
                  <a:srgbClr val="0070C0"/>
                </a:solidFill>
                <a:latin typeface="Fira Code" panose="020B0809050000020004" pitchFamily="49" charset="0"/>
                <a:ea typeface="Fira Code" panose="020B0809050000020004" pitchFamily="49" charset="0"/>
                <a:cs typeface="Fira Code" panose="020B0809050000020004" pitchFamily="49" charset="0"/>
              </a:rPr>
              <a:t>abstract class </a:t>
            </a:r>
            <a:r>
              <a:rPr lang="en-US" sz="2600" err="1">
                <a:latin typeface="Fira Code" panose="020B0809050000020004" pitchFamily="49" charset="0"/>
                <a:ea typeface="Fira Code" panose="020B0809050000020004" pitchFamily="49" charset="0"/>
                <a:cs typeface="Fira Code" panose="020B0809050000020004" pitchFamily="49" charset="0"/>
              </a:rPr>
              <a:t>SomeClass</a:t>
            </a:r>
            <a:r>
              <a:rPr lang="en-US" sz="2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	</a:t>
            </a:r>
            <a:r>
              <a:rPr lang="en-US" sz="2600">
                <a:solidFill>
                  <a:srgbClr val="0070C0"/>
                </a:solidFill>
                <a:latin typeface="Fira Code" panose="020B0809050000020004" pitchFamily="49" charset="0"/>
                <a:ea typeface="Fira Code" panose="020B0809050000020004" pitchFamily="49" charset="0"/>
                <a:cs typeface="Fira Code" panose="020B0809050000020004" pitchFamily="49" charset="0"/>
              </a:rPr>
              <a:t>abstract public </a:t>
            </a:r>
            <a:r>
              <a:rPr lang="en-US" sz="2600" err="1">
                <a:latin typeface="Fira Code" panose="020B0809050000020004" pitchFamily="49" charset="0"/>
                <a:ea typeface="Fira Code" panose="020B0809050000020004" pitchFamily="49" charset="0"/>
                <a:cs typeface="Fira Code" panose="020B0809050000020004" pitchFamily="49" charset="0"/>
              </a:rPr>
              <a:t>int</a:t>
            </a:r>
            <a:r>
              <a:rPr lang="en-US" sz="2600">
                <a:latin typeface="Fira Code" panose="020B0809050000020004" pitchFamily="49" charset="0"/>
                <a:ea typeface="Fira Code" panose="020B0809050000020004" pitchFamily="49" charset="0"/>
                <a:cs typeface="Fira Code" panose="020B0809050000020004" pitchFamily="49" charset="0"/>
              </a:rPr>
              <a:t> </a:t>
            </a:r>
            <a:r>
              <a:rPr lang="en-US" sz="2600" err="1">
                <a:latin typeface="Fira Code" panose="020B0809050000020004" pitchFamily="49" charset="0"/>
                <a:ea typeface="Fira Code" panose="020B0809050000020004" pitchFamily="49" charset="0"/>
                <a:cs typeface="Fira Code" panose="020B0809050000020004" pitchFamily="49" charset="0"/>
              </a:rPr>
              <a:t>SomeMethod</a:t>
            </a:r>
            <a:r>
              <a:rPr lang="en-US" sz="26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sz="26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6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2600">
                <a:latin typeface="Fira Code" panose="020B0809050000020004" pitchFamily="49" charset="0"/>
                <a:ea typeface="Fira Code" panose="020B0809050000020004" pitchFamily="49" charset="0"/>
                <a:cs typeface="Fira Code" panose="020B0809050000020004" pitchFamily="49" charset="0"/>
              </a:rPr>
              <a:t> </a:t>
            </a:r>
            <a:r>
              <a:rPr lang="en-US" sz="2600" err="1">
                <a:latin typeface="Fira Code" panose="020B0809050000020004" pitchFamily="49" charset="0"/>
                <a:ea typeface="Fira Code" panose="020B0809050000020004" pitchFamily="49" charset="0"/>
                <a:cs typeface="Fira Code" panose="020B0809050000020004" pitchFamily="49" charset="0"/>
              </a:rPr>
              <a:t>MyClass</a:t>
            </a:r>
            <a:r>
              <a:rPr lang="en-US" sz="2600">
                <a:latin typeface="Fira Code" panose="020B0809050000020004" pitchFamily="49" charset="0"/>
                <a:ea typeface="Fira Code" panose="020B0809050000020004" pitchFamily="49" charset="0"/>
                <a:cs typeface="Fira Code" panose="020B0809050000020004" pitchFamily="49" charset="0"/>
              </a:rPr>
              <a:t> : </a:t>
            </a:r>
            <a:r>
              <a:rPr lang="en-US" sz="2600" err="1">
                <a:latin typeface="Fira Code" panose="020B0809050000020004" pitchFamily="49" charset="0"/>
                <a:ea typeface="Fira Code" panose="020B0809050000020004" pitchFamily="49" charset="0"/>
                <a:cs typeface="Fira Code" panose="020B0809050000020004" pitchFamily="49" charset="0"/>
              </a:rPr>
              <a:t>SomeClass</a:t>
            </a:r>
            <a:r>
              <a:rPr lang="en-US" sz="2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	</a:t>
            </a:r>
            <a:r>
              <a:rPr lang="en-US" sz="2600">
                <a:solidFill>
                  <a:srgbClr val="0070C0"/>
                </a:solidFill>
                <a:latin typeface="Fira Code" panose="020B0809050000020004" pitchFamily="49" charset="0"/>
                <a:ea typeface="Fira Code" panose="020B0809050000020004" pitchFamily="49" charset="0"/>
                <a:cs typeface="Fira Code" panose="020B0809050000020004" pitchFamily="49" charset="0"/>
              </a:rPr>
              <a:t>public override </a:t>
            </a:r>
            <a:r>
              <a:rPr lang="en-US" sz="2600" err="1">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2600">
                <a:solidFill>
                  <a:srgbClr val="0070C0"/>
                </a:solidFill>
                <a:latin typeface="Fira Code" panose="020B0809050000020004" pitchFamily="49" charset="0"/>
                <a:ea typeface="Fira Code" panose="020B0809050000020004" pitchFamily="49" charset="0"/>
                <a:cs typeface="Fira Code" panose="020B0809050000020004" pitchFamily="49" charset="0"/>
              </a:rPr>
              <a:t> </a:t>
            </a:r>
            <a:r>
              <a:rPr lang="en-US" sz="2600" err="1">
                <a:latin typeface="Fira Code" panose="020B0809050000020004" pitchFamily="49" charset="0"/>
                <a:ea typeface="Fira Code" panose="020B0809050000020004" pitchFamily="49" charset="0"/>
                <a:cs typeface="Fira Code" panose="020B0809050000020004" pitchFamily="49" charset="0"/>
              </a:rPr>
              <a:t>SomeMethod</a:t>
            </a:r>
            <a:r>
              <a:rPr lang="en-US" sz="2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		</a:t>
            </a:r>
            <a:r>
              <a:rPr lang="en-US" sz="2600">
                <a:solidFill>
                  <a:srgbClr val="00B050"/>
                </a:solidFill>
                <a:latin typeface="Fira Code" panose="020B0809050000020004" pitchFamily="49" charset="0"/>
                <a:ea typeface="Fira Code" panose="020B0809050000020004" pitchFamily="49" charset="0"/>
                <a:cs typeface="Fira Code" panose="020B0809050000020004" pitchFamily="49" charset="0"/>
              </a:rPr>
              <a:t>// override is required here to tell C# that </a:t>
            </a:r>
          </a:p>
          <a:p>
            <a:pPr marL="0" indent="0">
              <a:buNone/>
            </a:pPr>
            <a:r>
              <a:rPr lang="en-US" sz="2600">
                <a:solidFill>
                  <a:srgbClr val="00B050"/>
                </a:solidFill>
                <a:latin typeface="Fira Code" panose="020B0809050000020004" pitchFamily="49" charset="0"/>
                <a:ea typeface="Fira Code" panose="020B0809050000020004" pitchFamily="49" charset="0"/>
                <a:cs typeface="Fira Code" panose="020B0809050000020004" pitchFamily="49" charset="0"/>
              </a:rPr>
              <a:t>               // you know you’re overriding the</a:t>
            </a:r>
          </a:p>
          <a:p>
            <a:pPr marL="0" indent="0">
              <a:buNone/>
            </a:pPr>
            <a:r>
              <a:rPr lang="en-US" sz="2600">
                <a:solidFill>
                  <a:srgbClr val="00B050"/>
                </a:solidFill>
                <a:latin typeface="Fira Code" panose="020B0809050000020004" pitchFamily="49" charset="0"/>
                <a:ea typeface="Fira Code" panose="020B0809050000020004" pitchFamily="49" charset="0"/>
                <a:cs typeface="Fira Code" panose="020B0809050000020004" pitchFamily="49" charset="0"/>
              </a:rPr>
              <a:t>		// abstract class’ method</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6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608557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DF123-183F-4FD4-B17D-7CB64F43B6E4}"/>
              </a:ext>
            </a:extLst>
          </p:cNvPr>
          <p:cNvSpPr>
            <a:spLocks noGrp="1"/>
          </p:cNvSpPr>
          <p:nvPr>
            <p:ph type="title"/>
          </p:nvPr>
        </p:nvSpPr>
        <p:spPr/>
        <p:txBody>
          <a:bodyPr/>
          <a:lstStyle/>
          <a:p>
            <a:r>
              <a:rPr lang="en-US"/>
              <a:t>New</a:t>
            </a:r>
          </a:p>
        </p:txBody>
      </p:sp>
      <p:sp>
        <p:nvSpPr>
          <p:cNvPr id="3" name="Content Placeholder 2">
            <a:extLst>
              <a:ext uri="{FF2B5EF4-FFF2-40B4-BE49-F238E27FC236}">
                <a16:creationId xmlns:a16="http://schemas.microsoft.com/office/drawing/2014/main" id="{D7ED00E6-343C-4109-A43E-79905DE9E7FE}"/>
              </a:ext>
            </a:extLst>
          </p:cNvPr>
          <p:cNvSpPr>
            <a:spLocks noGrp="1"/>
          </p:cNvSpPr>
          <p:nvPr>
            <p:ph idx="1"/>
          </p:nvPr>
        </p:nvSpPr>
        <p:spPr>
          <a:xfrm>
            <a:off x="838200" y="1825625"/>
            <a:ext cx="10515600" cy="4732338"/>
          </a:xfrm>
        </p:spPr>
        <p:txBody>
          <a:bodyPr>
            <a:normAutofit fontScale="62500" lnSpcReduction="20000"/>
          </a:bodyPr>
          <a:lstStyle/>
          <a:p>
            <a:r>
              <a:rPr lang="en-US"/>
              <a:t>What if I don’t want to override a base class’ method, and instead, I want to create a brand new one?</a:t>
            </a:r>
          </a:p>
          <a:p>
            <a:pPr lvl="1"/>
            <a:r>
              <a:rPr lang="en-US"/>
              <a:t>Use the new keyword</a:t>
            </a:r>
          </a:p>
          <a:p>
            <a:pPr lvl="1"/>
            <a:endParaRPr lang="en-US"/>
          </a:p>
          <a:p>
            <a:pPr marL="0" indent="0">
              <a:buNone/>
            </a:pPr>
            <a:r>
              <a:rPr lang="en-US">
                <a:solidFill>
                  <a:srgbClr val="0070C0"/>
                </a:solidFill>
                <a:latin typeface="Fira Code" panose="020B0809050000020004" pitchFamily="49" charset="0"/>
                <a:ea typeface="Fira Code" panose="020B0809050000020004" pitchFamily="49" charset="0"/>
                <a:cs typeface="Fira Code" panose="020B0809050000020004" pitchFamily="49" charset="0"/>
              </a:rPr>
              <a:t>public class </a:t>
            </a:r>
            <a:r>
              <a:rPr lang="en-US">
                <a:latin typeface="Fira Code" panose="020B0809050000020004" pitchFamily="49" charset="0"/>
                <a:ea typeface="Fira Code" panose="020B0809050000020004" pitchFamily="49" charset="0"/>
                <a:cs typeface="Fira Code" panose="020B0809050000020004" pitchFamily="49" charset="0"/>
              </a:rPr>
              <a:t>Base {</a:t>
            </a:r>
          </a:p>
          <a:p>
            <a:pPr marL="0" indent="0">
              <a:buNone/>
            </a:pPr>
            <a:r>
              <a:rPr lang="en-US">
                <a:latin typeface="Fira Code" panose="020B0809050000020004" pitchFamily="49" charset="0"/>
                <a:ea typeface="Fira Code" panose="020B0809050000020004" pitchFamily="49" charset="0"/>
                <a:cs typeface="Fira Code" panose="020B0809050000020004" pitchFamily="49" charset="0"/>
              </a:rPr>
              <a:t>	</a:t>
            </a:r>
            <a:r>
              <a:rPr lang="en-US">
                <a:solidFill>
                  <a:srgbClr val="0070C0"/>
                </a:solidFill>
                <a:latin typeface="Fira Code" panose="020B0809050000020004" pitchFamily="49" charset="0"/>
                <a:ea typeface="Fira Code" panose="020B0809050000020004" pitchFamily="49" charset="0"/>
                <a:cs typeface="Fira Code" panose="020B0809050000020004" pitchFamily="49" charset="0"/>
              </a:rPr>
              <a:t>public virtual void</a:t>
            </a:r>
            <a:r>
              <a:rPr lang="en-US">
                <a:latin typeface="Fira Code" panose="020B0809050000020004" pitchFamily="49" charset="0"/>
                <a:ea typeface="Fira Code" panose="020B0809050000020004" pitchFamily="49" charset="0"/>
                <a:cs typeface="Fira Code" panose="020B0809050000020004" pitchFamily="49" charset="0"/>
              </a:rPr>
              <a:t> </a:t>
            </a:r>
            <a:r>
              <a:rPr lang="en-US" err="1">
                <a:latin typeface="Fira Code" panose="020B0809050000020004" pitchFamily="49" charset="0"/>
                <a:ea typeface="Fira Code" panose="020B0809050000020004" pitchFamily="49" charset="0"/>
                <a:cs typeface="Fira Code" panose="020B0809050000020004" pitchFamily="49" charset="0"/>
              </a:rPr>
              <a:t>Func</a:t>
            </a:r>
            <a:r>
              <a:rPr lang="en-US">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a:solidFill>
                  <a:srgbClr val="0070C0"/>
                </a:solidFill>
                <a:latin typeface="Fira Code" panose="020B0809050000020004" pitchFamily="49" charset="0"/>
                <a:ea typeface="Fira Code" panose="020B0809050000020004" pitchFamily="49" charset="0"/>
                <a:cs typeface="Fira Code" panose="020B0809050000020004" pitchFamily="49" charset="0"/>
              </a:rPr>
              <a:t>public class </a:t>
            </a:r>
            <a:r>
              <a:rPr lang="en-US">
                <a:latin typeface="Fira Code" panose="020B0809050000020004" pitchFamily="49" charset="0"/>
                <a:ea typeface="Fira Code" panose="020B0809050000020004" pitchFamily="49" charset="0"/>
                <a:cs typeface="Fira Code" panose="020B0809050000020004" pitchFamily="49" charset="0"/>
              </a:rPr>
              <a:t>Derived : Base {</a:t>
            </a:r>
          </a:p>
          <a:p>
            <a:pPr marL="0" indent="0">
              <a:buNone/>
            </a:pPr>
            <a:r>
              <a:rPr lang="en-US">
                <a:latin typeface="Fira Code" panose="020B0809050000020004" pitchFamily="49" charset="0"/>
                <a:ea typeface="Fira Code" panose="020B0809050000020004" pitchFamily="49" charset="0"/>
                <a:cs typeface="Fira Code" panose="020B0809050000020004" pitchFamily="49" charset="0"/>
              </a:rPr>
              <a:t>	</a:t>
            </a:r>
            <a:r>
              <a:rPr lang="en-US">
                <a:solidFill>
                  <a:srgbClr val="0070C0"/>
                </a:solidFill>
                <a:latin typeface="Fira Code" panose="020B0809050000020004" pitchFamily="49" charset="0"/>
                <a:ea typeface="Fira Code" panose="020B0809050000020004" pitchFamily="49" charset="0"/>
                <a:cs typeface="Fira Code" panose="020B0809050000020004" pitchFamily="49" charset="0"/>
              </a:rPr>
              <a:t>public new void </a:t>
            </a:r>
            <a:r>
              <a:rPr lang="en-US" err="1">
                <a:latin typeface="Fira Code" panose="020B0809050000020004" pitchFamily="49" charset="0"/>
                <a:ea typeface="Fira Code" panose="020B0809050000020004" pitchFamily="49" charset="0"/>
                <a:cs typeface="Fira Code" panose="020B0809050000020004" pitchFamily="49" charset="0"/>
              </a:rPr>
              <a:t>Func</a:t>
            </a:r>
            <a:r>
              <a:rPr lang="en-US">
                <a:latin typeface="Fira Code" panose="020B0809050000020004" pitchFamily="49" charset="0"/>
                <a:ea typeface="Fira Code" panose="020B0809050000020004" pitchFamily="49" charset="0"/>
                <a:cs typeface="Fira Code" panose="020B0809050000020004" pitchFamily="49" charset="0"/>
              </a:rPr>
              <a:t>() { }</a:t>
            </a:r>
          </a:p>
          <a:p>
            <a:pPr marL="0" indent="0">
              <a:buNone/>
            </a:pPr>
            <a:r>
              <a:rPr lang="en-US">
                <a:latin typeface="Fira Code" panose="020B0809050000020004" pitchFamily="49" charset="0"/>
                <a:ea typeface="Fira Code" panose="020B0809050000020004" pitchFamily="49" charset="0"/>
                <a:cs typeface="Fira Code" panose="020B0809050000020004" pitchFamily="49" charset="0"/>
              </a:rPr>
              <a:t>}</a:t>
            </a:r>
          </a:p>
          <a:p>
            <a:pPr marL="0" indent="0">
              <a:buNone/>
            </a:pPr>
            <a:endParaRPr lang="en-US"/>
          </a:p>
          <a:p>
            <a:r>
              <a:rPr lang="en-US" err="1"/>
              <a:t>Derived.Func</a:t>
            </a:r>
            <a:r>
              <a:rPr lang="en-US"/>
              <a:t>() is now a totally new function, which hides </a:t>
            </a:r>
            <a:r>
              <a:rPr lang="en-US" err="1"/>
              <a:t>Base.Func</a:t>
            </a:r>
            <a:r>
              <a:rPr lang="en-US"/>
              <a:t>()</a:t>
            </a:r>
          </a:p>
          <a:p>
            <a:pPr lvl="1"/>
            <a:r>
              <a:rPr lang="en-US"/>
              <a:t>You can still call </a:t>
            </a:r>
            <a:r>
              <a:rPr lang="en-US" err="1"/>
              <a:t>Base.Func</a:t>
            </a:r>
            <a:r>
              <a:rPr lang="en-US"/>
              <a:t>() from Derived, you just have to specify it as “</a:t>
            </a:r>
            <a:r>
              <a:rPr lang="en-US" err="1"/>
              <a:t>Base.Func</a:t>
            </a:r>
            <a:r>
              <a:rPr lang="en-US"/>
              <a:t>()”</a:t>
            </a:r>
          </a:p>
          <a:p>
            <a:r>
              <a:rPr lang="en-US"/>
              <a:t>DO NOT use override and new together. It makes no sense and will cause a compiler error</a:t>
            </a:r>
          </a:p>
        </p:txBody>
      </p:sp>
    </p:spTree>
    <p:extLst>
      <p:ext uri="{BB962C8B-B14F-4D97-AF65-F5344CB8AC3E}">
        <p14:creationId xmlns:p14="http://schemas.microsoft.com/office/powerpoint/2010/main" val="36081958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2369-AB53-4C38-966F-1E53CE5476E2}"/>
              </a:ext>
            </a:extLst>
          </p:cNvPr>
          <p:cNvSpPr>
            <a:spLocks noGrp="1"/>
          </p:cNvSpPr>
          <p:nvPr>
            <p:ph type="title"/>
          </p:nvPr>
        </p:nvSpPr>
        <p:spPr/>
        <p:txBody>
          <a:bodyPr/>
          <a:lstStyle/>
          <a:p>
            <a:r>
              <a:rPr lang="en-US"/>
              <a:t>Accessing Base Classes</a:t>
            </a:r>
          </a:p>
        </p:txBody>
      </p:sp>
      <p:sp>
        <p:nvSpPr>
          <p:cNvPr id="3" name="Content Placeholder 2">
            <a:extLst>
              <a:ext uri="{FF2B5EF4-FFF2-40B4-BE49-F238E27FC236}">
                <a16:creationId xmlns:a16="http://schemas.microsoft.com/office/drawing/2014/main" id="{A1CC3572-65CE-46E6-8353-B3B26AA301F5}"/>
              </a:ext>
            </a:extLst>
          </p:cNvPr>
          <p:cNvSpPr>
            <a:spLocks noGrp="1"/>
          </p:cNvSpPr>
          <p:nvPr>
            <p:ph idx="1"/>
          </p:nvPr>
        </p:nvSpPr>
        <p:spPr/>
        <p:txBody>
          <a:bodyPr>
            <a:normAutofit/>
          </a:bodyPr>
          <a:lstStyle/>
          <a:p>
            <a:r>
              <a:rPr lang="en-US" sz="2400"/>
              <a:t>“as” keyword</a:t>
            </a:r>
          </a:p>
          <a:p>
            <a:endParaRPr lang="en-US" sz="2400"/>
          </a:p>
          <a:p>
            <a:r>
              <a:rPr lang="en-US" sz="2400" err="1">
                <a:solidFill>
                  <a:srgbClr val="0070C0"/>
                </a:solidFill>
              </a:rPr>
              <a:t>var</a:t>
            </a:r>
            <a:r>
              <a:rPr lang="en-US" sz="2400"/>
              <a:t> </a:t>
            </a:r>
            <a:r>
              <a:rPr lang="en-US" sz="2400" err="1"/>
              <a:t>i</a:t>
            </a:r>
            <a:r>
              <a:rPr lang="en-US" sz="2400"/>
              <a:t> = </a:t>
            </a:r>
            <a:r>
              <a:rPr lang="en-US" sz="2400" err="1"/>
              <a:t>someobject</a:t>
            </a:r>
            <a:r>
              <a:rPr lang="en-US" sz="2400"/>
              <a:t> </a:t>
            </a:r>
            <a:r>
              <a:rPr lang="en-US" sz="2400">
                <a:solidFill>
                  <a:srgbClr val="0070C0"/>
                </a:solidFill>
              </a:rPr>
              <a:t>as</a:t>
            </a:r>
            <a:r>
              <a:rPr lang="en-US" sz="2400"/>
              <a:t> String;</a:t>
            </a:r>
          </a:p>
          <a:p>
            <a:pPr lvl="1"/>
            <a:r>
              <a:rPr lang="en-US" sz="2000"/>
              <a:t>the “as” attempts to typecast </a:t>
            </a:r>
            <a:r>
              <a:rPr lang="en-US" sz="2000" err="1"/>
              <a:t>someobject</a:t>
            </a:r>
            <a:r>
              <a:rPr lang="en-US" sz="2000"/>
              <a:t> into a String using dynamic casting</a:t>
            </a:r>
          </a:p>
          <a:p>
            <a:pPr lvl="1"/>
            <a:endParaRPr lang="en-US" sz="2000"/>
          </a:p>
          <a:p>
            <a:r>
              <a:rPr lang="en-US" sz="2400"/>
              <a:t>IF the “as” keyword cannot dynamically cast, then </a:t>
            </a:r>
            <a:r>
              <a:rPr lang="en-US" sz="2400" err="1"/>
              <a:t>var</a:t>
            </a:r>
            <a:r>
              <a:rPr lang="en-US" sz="2400"/>
              <a:t> </a:t>
            </a:r>
            <a:r>
              <a:rPr lang="en-US" sz="2400" err="1"/>
              <a:t>i</a:t>
            </a:r>
            <a:r>
              <a:rPr lang="en-US" sz="2400"/>
              <a:t> will be </a:t>
            </a:r>
            <a:r>
              <a:rPr lang="en-US" sz="2400">
                <a:solidFill>
                  <a:srgbClr val="0070C0"/>
                </a:solidFill>
              </a:rPr>
              <a:t>null</a:t>
            </a:r>
            <a:r>
              <a:rPr lang="en-US" sz="2400"/>
              <a:t>.</a:t>
            </a:r>
          </a:p>
          <a:p>
            <a:pPr lvl="1"/>
            <a:r>
              <a:rPr lang="en-US" sz="2000"/>
              <a:t>Use conventional typecasting to have C# throw an exception</a:t>
            </a:r>
          </a:p>
          <a:p>
            <a:pPr lvl="2"/>
            <a:r>
              <a:rPr lang="en-US" sz="1800"/>
              <a:t>var </a:t>
            </a:r>
            <a:r>
              <a:rPr lang="en-US" sz="1800" err="1"/>
              <a:t>i</a:t>
            </a:r>
            <a:r>
              <a:rPr lang="en-US" sz="1800"/>
              <a:t> = (string)</a:t>
            </a:r>
            <a:r>
              <a:rPr lang="en-US" sz="1800" err="1"/>
              <a:t>someobject</a:t>
            </a:r>
            <a:r>
              <a:rPr lang="en-US" sz="1800"/>
              <a:t>;</a:t>
            </a:r>
          </a:p>
        </p:txBody>
      </p:sp>
    </p:spTree>
    <p:extLst>
      <p:ext uri="{BB962C8B-B14F-4D97-AF65-F5344CB8AC3E}">
        <p14:creationId xmlns:p14="http://schemas.microsoft.com/office/powerpoint/2010/main" val="8459371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34534-7C2E-4F0B-8E96-6764843D6299}"/>
              </a:ext>
            </a:extLst>
          </p:cNvPr>
          <p:cNvSpPr>
            <a:spLocks noGrp="1"/>
          </p:cNvSpPr>
          <p:nvPr>
            <p:ph type="title"/>
          </p:nvPr>
        </p:nvSpPr>
        <p:spPr/>
        <p:txBody>
          <a:bodyPr/>
          <a:lstStyle/>
          <a:p>
            <a:r>
              <a:rPr lang="en-US"/>
              <a:t>Events</a:t>
            </a:r>
          </a:p>
        </p:txBody>
      </p:sp>
      <p:sp>
        <p:nvSpPr>
          <p:cNvPr id="3" name="Content Placeholder 2">
            <a:extLst>
              <a:ext uri="{FF2B5EF4-FFF2-40B4-BE49-F238E27FC236}">
                <a16:creationId xmlns:a16="http://schemas.microsoft.com/office/drawing/2014/main" id="{70F2109A-8398-45A4-8B8F-321D1F2234D0}"/>
              </a:ext>
            </a:extLst>
          </p:cNvPr>
          <p:cNvSpPr>
            <a:spLocks noGrp="1"/>
          </p:cNvSpPr>
          <p:nvPr>
            <p:ph idx="1"/>
          </p:nvPr>
        </p:nvSpPr>
        <p:spPr/>
        <p:txBody>
          <a:bodyPr>
            <a:normAutofit/>
          </a:bodyPr>
          <a:lstStyle/>
          <a:p>
            <a:r>
              <a:rPr lang="en-US" sz="2400"/>
              <a:t>Events allow a delegate (function) to be "registered". When the event is signaled, each function registered gets called.</a:t>
            </a:r>
          </a:p>
          <a:p>
            <a:endParaRPr lang="en-US" sz="2400"/>
          </a:p>
          <a:p>
            <a:r>
              <a:rPr lang="en-US" sz="2400"/>
              <a:t>Events must have a delegate to denote the type of arguments the event handlers receive</a:t>
            </a:r>
          </a:p>
          <a:p>
            <a:endParaRPr lang="en-US" sz="2400"/>
          </a:p>
          <a:p>
            <a:r>
              <a:rPr lang="en-US" sz="2400"/>
              <a:t>Events must have an "event" for observers to subscribe to</a:t>
            </a:r>
          </a:p>
          <a:p>
            <a:endParaRPr lang="en-US" sz="2400"/>
          </a:p>
          <a:p>
            <a:endParaRPr lang="en-US" sz="2400"/>
          </a:p>
          <a:p>
            <a:endParaRPr lang="en-US" sz="2400"/>
          </a:p>
          <a:p>
            <a:endParaRPr lang="en-US" sz="2400"/>
          </a:p>
        </p:txBody>
      </p:sp>
    </p:spTree>
    <p:extLst>
      <p:ext uri="{BB962C8B-B14F-4D97-AF65-F5344CB8AC3E}">
        <p14:creationId xmlns:p14="http://schemas.microsoft.com/office/powerpoint/2010/main" val="12432722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AC30-23C0-428B-8FB4-E6867F42E08F}"/>
              </a:ext>
            </a:extLst>
          </p:cNvPr>
          <p:cNvSpPr>
            <a:spLocks noGrp="1"/>
          </p:cNvSpPr>
          <p:nvPr>
            <p:ph type="title"/>
          </p:nvPr>
        </p:nvSpPr>
        <p:spPr/>
        <p:txBody>
          <a:bodyPr/>
          <a:lstStyle/>
          <a:p>
            <a:r>
              <a:rPr lang="en-US"/>
              <a:t>Event Example</a:t>
            </a:r>
          </a:p>
        </p:txBody>
      </p:sp>
      <p:sp>
        <p:nvSpPr>
          <p:cNvPr id="3" name="Content Placeholder 2">
            <a:extLst>
              <a:ext uri="{FF2B5EF4-FFF2-40B4-BE49-F238E27FC236}">
                <a16:creationId xmlns:a16="http://schemas.microsoft.com/office/drawing/2014/main" id="{AD1D6B8C-4F7F-43C2-B67A-0D0DEA04D429}"/>
              </a:ext>
            </a:extLst>
          </p:cNvPr>
          <p:cNvSpPr>
            <a:spLocks noGrp="1"/>
          </p:cNvSpPr>
          <p:nvPr>
            <p:ph idx="1"/>
          </p:nvPr>
        </p:nvSpPr>
        <p:spPr/>
        <p:txBody>
          <a:bodyPr>
            <a:noAutofit/>
          </a:bodyPr>
          <a:lstStyle/>
          <a:p>
            <a:pPr marL="0" indent="0">
              <a:buNone/>
            </a:pP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err="1">
                <a:latin typeface="Fira Code" panose="020B0809050000020004" pitchFamily="49" charset="0"/>
                <a:ea typeface="Fira Code" panose="020B0809050000020004" pitchFamily="49" charset="0"/>
                <a:cs typeface="Fira Code" panose="020B0809050000020004" pitchFamily="49" charset="0"/>
              </a:rPr>
              <a:t>MyClass</a:t>
            </a:r>
            <a:r>
              <a:rPr lang="en-US" sz="20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 This delegate shows that any event handler we subscribe</a:t>
            </a:r>
          </a:p>
          <a:p>
            <a:pPr marL="0" indent="0">
              <a:buNone/>
            </a:pP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 will take a generic sender and </a:t>
            </a:r>
            <a:r>
              <a:rPr lang="en-US" sz="2000" err="1">
                <a:solidFill>
                  <a:srgbClr val="00B050"/>
                </a:solidFill>
                <a:latin typeface="Fira Code" panose="020B0809050000020004" pitchFamily="49" charset="0"/>
                <a:ea typeface="Fira Code" panose="020B0809050000020004" pitchFamily="49" charset="0"/>
                <a:cs typeface="Fira Code" panose="020B0809050000020004" pitchFamily="49" charset="0"/>
              </a:rPr>
              <a:t>EventArgs</a:t>
            </a: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arguments</a:t>
            </a: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public delegate </a:t>
            </a:r>
            <a:r>
              <a:rPr lang="en-US" sz="2000" err="1">
                <a:solidFill>
                  <a:srgbClr val="7030A0"/>
                </a:solidFill>
                <a:latin typeface="Fira Code" panose="020B0809050000020004" pitchFamily="49" charset="0"/>
                <a:ea typeface="Fira Code" panose="020B0809050000020004" pitchFamily="49" charset="0"/>
                <a:cs typeface="Fira Code" panose="020B0809050000020004" pitchFamily="49" charset="0"/>
              </a:rPr>
              <a:t>EventHandler</a:t>
            </a:r>
            <a:r>
              <a:rPr lang="en-US" sz="2000">
                <a:latin typeface="Fira Code" panose="020B0809050000020004" pitchFamily="49" charset="0"/>
                <a:ea typeface="Fira Code" panose="020B0809050000020004" pitchFamily="49" charset="0"/>
                <a:cs typeface="Fira Code" panose="020B0809050000020004" pitchFamily="49" charset="0"/>
              </a:rPr>
              <a:t>(object sender, </a:t>
            </a:r>
            <a:r>
              <a:rPr lang="en-US" sz="2000" err="1">
                <a:latin typeface="Fira Code" panose="020B0809050000020004" pitchFamily="49" charset="0"/>
                <a:ea typeface="Fira Code" panose="020B0809050000020004" pitchFamily="49" charset="0"/>
                <a:cs typeface="Fira Code" panose="020B0809050000020004" pitchFamily="49" charset="0"/>
              </a:rPr>
              <a:t>EventArgs</a:t>
            </a:r>
            <a:r>
              <a:rPr lang="en-US" sz="2000">
                <a:latin typeface="Fira Code" panose="020B0809050000020004" pitchFamily="49" charset="0"/>
                <a:ea typeface="Fira Code" panose="020B0809050000020004" pitchFamily="49" charset="0"/>
                <a:cs typeface="Fira Code" panose="020B0809050000020004" pitchFamily="49" charset="0"/>
              </a:rPr>
              <a:t> e);</a:t>
            </a:r>
          </a:p>
          <a:p>
            <a:pPr marL="0" indent="0">
              <a:buNone/>
            </a:pP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 The event keyword creates the event. We put </a:t>
            </a:r>
            <a:r>
              <a:rPr lang="en-US" sz="2000" err="1">
                <a:solidFill>
                  <a:srgbClr val="00B050"/>
                </a:solidFill>
                <a:latin typeface="Fira Code" panose="020B0809050000020004" pitchFamily="49" charset="0"/>
                <a:ea typeface="Fira Code" panose="020B0809050000020004" pitchFamily="49" charset="0"/>
                <a:cs typeface="Fira Code" panose="020B0809050000020004" pitchFamily="49" charset="0"/>
              </a:rPr>
              <a:t>EventHandler</a:t>
            </a:r>
            <a:endPar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 so that when we subscribe to </a:t>
            </a:r>
            <a:r>
              <a:rPr lang="en-US" sz="2000" err="1">
                <a:solidFill>
                  <a:srgbClr val="00B050"/>
                </a:solidFill>
                <a:latin typeface="Fira Code" panose="020B0809050000020004" pitchFamily="49" charset="0"/>
                <a:ea typeface="Fira Code" panose="020B0809050000020004" pitchFamily="49" charset="0"/>
                <a:cs typeface="Fira Code" panose="020B0809050000020004" pitchFamily="49" charset="0"/>
              </a:rPr>
              <a:t>SomeEvent</a:t>
            </a: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we know which</a:t>
            </a:r>
          </a:p>
          <a:p>
            <a:pPr marL="0" indent="0">
              <a:buNone/>
            </a:pPr>
            <a:r>
              <a:rPr lang="en-US" sz="2000">
                <a:solidFill>
                  <a:srgbClr val="00B050"/>
                </a:solidFill>
                <a:latin typeface="Fira Code" panose="020B0809050000020004" pitchFamily="49" charset="0"/>
                <a:ea typeface="Fira Code" panose="020B0809050000020004" pitchFamily="49" charset="0"/>
                <a:cs typeface="Fira Code" panose="020B0809050000020004" pitchFamily="49" charset="0"/>
              </a:rPr>
              <a:t>	// arguments we'll get (sender and e).</a:t>
            </a: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a:solidFill>
                  <a:srgbClr val="0070C0"/>
                </a:solidFill>
                <a:latin typeface="Fira Code" panose="020B0809050000020004" pitchFamily="49" charset="0"/>
                <a:ea typeface="Fira Code" panose="020B0809050000020004" pitchFamily="49" charset="0"/>
                <a:cs typeface="Fira Code" panose="020B0809050000020004" pitchFamily="49" charset="0"/>
              </a:rPr>
              <a:t>public event </a:t>
            </a:r>
            <a:r>
              <a:rPr lang="en-US" sz="2000" err="1">
                <a:solidFill>
                  <a:srgbClr val="7030A0"/>
                </a:solidFill>
                <a:latin typeface="Fira Code" panose="020B0809050000020004" pitchFamily="49" charset="0"/>
                <a:ea typeface="Fira Code" panose="020B0809050000020004" pitchFamily="49" charset="0"/>
                <a:cs typeface="Fira Code" panose="020B0809050000020004" pitchFamily="49" charset="0"/>
              </a:rPr>
              <a:t>EventHandler</a:t>
            </a:r>
            <a:r>
              <a:rPr lang="en-US" sz="2000">
                <a:latin typeface="Fira Code" panose="020B0809050000020004" pitchFamily="49" charset="0"/>
                <a:ea typeface="Fira Code" panose="020B0809050000020004" pitchFamily="49" charset="0"/>
                <a:cs typeface="Fira Code" panose="020B0809050000020004" pitchFamily="49" charset="0"/>
              </a:rPr>
              <a:t> </a:t>
            </a:r>
            <a:r>
              <a:rPr lang="en-US" sz="2000" err="1">
                <a:latin typeface="Fira Code" panose="020B0809050000020004" pitchFamily="49" charset="0"/>
                <a:ea typeface="Fira Code" panose="020B0809050000020004" pitchFamily="49" charset="0"/>
                <a:cs typeface="Fira Code" panose="020B0809050000020004" pitchFamily="49" charset="0"/>
              </a:rPr>
              <a:t>SomeEvent</a:t>
            </a:r>
            <a:r>
              <a:rPr lang="en-US" sz="20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0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33106393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9924-988E-4361-B04D-1F01D812D541}"/>
              </a:ext>
            </a:extLst>
          </p:cNvPr>
          <p:cNvSpPr>
            <a:spLocks noGrp="1"/>
          </p:cNvSpPr>
          <p:nvPr>
            <p:ph type="title"/>
          </p:nvPr>
        </p:nvSpPr>
        <p:spPr/>
        <p:txBody>
          <a:bodyPr/>
          <a:lstStyle/>
          <a:p>
            <a:r>
              <a:rPr lang="en-US"/>
              <a:t>Calling Event Handlers</a:t>
            </a:r>
          </a:p>
        </p:txBody>
      </p:sp>
      <p:sp>
        <p:nvSpPr>
          <p:cNvPr id="3" name="Content Placeholder 2">
            <a:extLst>
              <a:ext uri="{FF2B5EF4-FFF2-40B4-BE49-F238E27FC236}">
                <a16:creationId xmlns:a16="http://schemas.microsoft.com/office/drawing/2014/main" id="{BC8B33D9-C22B-4AB5-B6A0-79E9E01104E5}"/>
              </a:ext>
            </a:extLst>
          </p:cNvPr>
          <p:cNvSpPr>
            <a:spLocks noGrp="1"/>
          </p:cNvSpPr>
          <p:nvPr>
            <p:ph idx="1"/>
          </p:nvPr>
        </p:nvSpPr>
        <p:spPr/>
        <p:txBody>
          <a:bodyPr>
            <a:normAutofit fontScale="92500" lnSpcReduction="20000"/>
          </a:bodyPr>
          <a:lstStyle/>
          <a:p>
            <a:r>
              <a:rPr lang="en-US"/>
              <a:t>You can call all of the event handlers subscribed to an event by calling the event as a function:</a:t>
            </a:r>
          </a:p>
          <a:p>
            <a:endParaRPr lang="en-US"/>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public event </a:t>
            </a:r>
            <a:r>
              <a:rPr lang="en-US" sz="2200" err="1">
                <a:latin typeface="Fira Code" panose="020B0809050000020004" pitchFamily="49" charset="0"/>
                <a:ea typeface="Fira Code" panose="020B0809050000020004" pitchFamily="49" charset="0"/>
                <a:cs typeface="Fira Code" panose="020B0809050000020004" pitchFamily="49" charset="0"/>
              </a:rPr>
              <a:t>EventHandler</a:t>
            </a: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err="1">
                <a:solidFill>
                  <a:srgbClr val="7030A0"/>
                </a:solidFill>
                <a:latin typeface="Fira Code" panose="020B0809050000020004" pitchFamily="49" charset="0"/>
                <a:ea typeface="Fira Code" panose="020B0809050000020004" pitchFamily="49" charset="0"/>
                <a:cs typeface="Fira Code" panose="020B0809050000020004" pitchFamily="49" charset="0"/>
              </a:rPr>
              <a:t>SomeEvent</a:t>
            </a:r>
            <a:r>
              <a:rPr lang="en-US" sz="22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public void </a:t>
            </a:r>
            <a:r>
              <a:rPr lang="en-US" sz="2200" err="1">
                <a:latin typeface="Fira Code" panose="020B0809050000020004" pitchFamily="49" charset="0"/>
                <a:ea typeface="Fira Code" panose="020B0809050000020004" pitchFamily="49" charset="0"/>
                <a:cs typeface="Fira Code" panose="020B0809050000020004" pitchFamily="49" charset="0"/>
              </a:rPr>
              <a:t>SendEvent</a:t>
            </a:r>
            <a:r>
              <a:rPr lang="en-US" sz="22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 This means we have subscribers</a:t>
            </a:r>
            <a:endParaRPr lang="en-US" sz="22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if</a:t>
            </a: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err="1">
                <a:solidFill>
                  <a:srgbClr val="7030A0"/>
                </a:solidFill>
                <a:latin typeface="Fira Code" panose="020B0809050000020004" pitchFamily="49" charset="0"/>
                <a:ea typeface="Fira Code" panose="020B0809050000020004" pitchFamily="49" charset="0"/>
                <a:cs typeface="Fira Code" panose="020B0809050000020004" pitchFamily="49" charset="0"/>
              </a:rPr>
              <a:t>SomeEvent</a:t>
            </a:r>
            <a:r>
              <a:rPr lang="en-US" sz="2200">
                <a:latin typeface="Fira Code" panose="020B0809050000020004" pitchFamily="49" charset="0"/>
                <a:ea typeface="Fira Code" panose="020B0809050000020004" pitchFamily="49" charset="0"/>
                <a:cs typeface="Fira Code" panose="020B0809050000020004" pitchFamily="49" charset="0"/>
              </a:rPr>
              <a:t> != </a:t>
            </a: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null</a:t>
            </a:r>
            <a:r>
              <a:rPr lang="en-US" sz="22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 This calls all event handlers</a:t>
            </a: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err="1">
                <a:solidFill>
                  <a:srgbClr val="7030A0"/>
                </a:solidFill>
                <a:latin typeface="Fira Code" panose="020B0809050000020004" pitchFamily="49" charset="0"/>
                <a:ea typeface="Fira Code" panose="020B0809050000020004" pitchFamily="49" charset="0"/>
                <a:cs typeface="Fira Code" panose="020B0809050000020004" pitchFamily="49" charset="0"/>
              </a:rPr>
              <a:t>SomeEvent</a:t>
            </a:r>
            <a:r>
              <a:rPr lang="en-US" sz="2200">
                <a:latin typeface="Fira Code" panose="020B0809050000020004" pitchFamily="49" charset="0"/>
                <a:ea typeface="Fira Code" panose="020B0809050000020004" pitchFamily="49" charset="0"/>
                <a:cs typeface="Fira Code" panose="020B0809050000020004" pitchFamily="49" charset="0"/>
              </a:rPr>
              <a:t>(</a:t>
            </a: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this</a:t>
            </a: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new</a:t>
            </a: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err="1">
                <a:latin typeface="Fira Code" panose="020B0809050000020004" pitchFamily="49" charset="0"/>
                <a:ea typeface="Fira Code" panose="020B0809050000020004" pitchFamily="49" charset="0"/>
                <a:cs typeface="Fira Code" panose="020B0809050000020004" pitchFamily="49" charset="0"/>
              </a:rPr>
              <a:t>EventArgs</a:t>
            </a:r>
            <a:r>
              <a:rPr lang="en-US" sz="2200">
                <a:latin typeface="Fira Code" panose="020B0809050000020004" pitchFamily="49" charset="0"/>
                <a:ea typeface="Fira Code" panose="020B0809050000020004" pitchFamily="49" charset="0"/>
                <a:cs typeface="Fira Code" panose="020B0809050000020004" pitchFamily="49" charset="0"/>
              </a:rPr>
              <a:t>()); </a:t>
            </a:r>
            <a:endPar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28616343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47F21-C57D-B6C8-A9D2-459DD0A9595B}"/>
              </a:ext>
            </a:extLst>
          </p:cNvPr>
          <p:cNvSpPr>
            <a:spLocks noGrp="1"/>
          </p:cNvSpPr>
          <p:nvPr>
            <p:ph type="title"/>
          </p:nvPr>
        </p:nvSpPr>
        <p:spPr/>
        <p:txBody>
          <a:bodyPr/>
          <a:lstStyle/>
          <a:p>
            <a:r>
              <a:rPr lang="en-US" dirty="0">
                <a:ea typeface="Calibri Light"/>
                <a:cs typeface="Calibri Light"/>
              </a:rPr>
              <a:t>Lambda Functions</a:t>
            </a:r>
          </a:p>
        </p:txBody>
      </p:sp>
      <p:sp>
        <p:nvSpPr>
          <p:cNvPr id="3" name="Content Placeholder 2">
            <a:extLst>
              <a:ext uri="{FF2B5EF4-FFF2-40B4-BE49-F238E27FC236}">
                <a16:creationId xmlns:a16="http://schemas.microsoft.com/office/drawing/2014/main" id="{DCD3CD3F-1E44-EEBB-687C-0EC147588CB0}"/>
              </a:ext>
            </a:extLst>
          </p:cNvPr>
          <p:cNvSpPr>
            <a:spLocks noGrp="1"/>
          </p:cNvSpPr>
          <p:nvPr>
            <p:ph idx="1"/>
          </p:nvPr>
        </p:nvSpPr>
        <p:spPr/>
        <p:txBody>
          <a:bodyPr vert="horz" lIns="91440" tIns="45720" rIns="91440" bIns="45720" rtlCol="0" anchor="t">
            <a:normAutofit/>
          </a:bodyPr>
          <a:lstStyle/>
          <a:p>
            <a:r>
              <a:rPr lang="en-US" dirty="0">
                <a:ea typeface="Calibri"/>
                <a:cs typeface="Calibri"/>
              </a:rPr>
              <a:t>Functions in C# can be </a:t>
            </a:r>
            <a:r>
              <a:rPr lang="en-US" b="1" dirty="0">
                <a:ea typeface="Calibri"/>
                <a:cs typeface="Calibri"/>
              </a:rPr>
              <a:t>anonymous</a:t>
            </a:r>
            <a:r>
              <a:rPr lang="en-US" dirty="0">
                <a:ea typeface="Calibri"/>
                <a:cs typeface="Calibri"/>
              </a:rPr>
              <a:t> functions, called lambda functions.</a:t>
            </a:r>
          </a:p>
          <a:p>
            <a:pPr lvl="1">
              <a:buFont typeface="Courier New" panose="020B0604020202020204" pitchFamily="34" charset="0"/>
              <a:buChar char="o"/>
            </a:pPr>
            <a:r>
              <a:rPr lang="en-US" dirty="0">
                <a:ea typeface="+mn-lt"/>
                <a:cs typeface="+mn-lt"/>
                <a:hlinkClick r:id="rId2"/>
              </a:rPr>
              <a:t>https://learn.microsoft.com/en-us/dotnet/csharp/language-reference/operators/lambda-expressions</a:t>
            </a:r>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r>
              <a:rPr lang="en-US" dirty="0">
                <a:ea typeface="Calibri"/>
                <a:cs typeface="Calibri"/>
              </a:rPr>
              <a:t>Syntax: </a:t>
            </a:r>
            <a:r>
              <a:rPr lang="en-US" sz="2000" dirty="0">
                <a:latin typeface="Fira Code"/>
                <a:ea typeface="Calibri"/>
                <a:cs typeface="Calibri"/>
              </a:rPr>
              <a:t>(parameter list) =&gt; { return value; }</a:t>
            </a:r>
          </a:p>
          <a:p>
            <a:endParaRPr lang="en-US" sz="2000" dirty="0">
              <a:latin typeface="Fira Code"/>
              <a:ea typeface="Calibri"/>
              <a:cs typeface="Calibri"/>
            </a:endParaRPr>
          </a:p>
          <a:p>
            <a:r>
              <a:rPr lang="en-US" dirty="0">
                <a:latin typeface="Calibri"/>
                <a:ea typeface="Calibri"/>
                <a:cs typeface="Calibri"/>
              </a:rPr>
              <a:t>Useful with delegates to pass as a first-class parameter.</a:t>
            </a:r>
          </a:p>
        </p:txBody>
      </p:sp>
    </p:spTree>
    <p:extLst>
      <p:ext uri="{BB962C8B-B14F-4D97-AF65-F5344CB8AC3E}">
        <p14:creationId xmlns:p14="http://schemas.microsoft.com/office/powerpoint/2010/main" val="26327985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3E07-C8A0-2DC5-7773-8BD507DB8474}"/>
              </a:ext>
            </a:extLst>
          </p:cNvPr>
          <p:cNvSpPr>
            <a:spLocks noGrp="1"/>
          </p:cNvSpPr>
          <p:nvPr>
            <p:ph type="title"/>
          </p:nvPr>
        </p:nvSpPr>
        <p:spPr/>
        <p:txBody>
          <a:bodyPr/>
          <a:lstStyle/>
          <a:p>
            <a:r>
              <a:rPr lang="en-US" dirty="0">
                <a:ea typeface="Calibri Light"/>
                <a:cs typeface="Calibri Light"/>
              </a:rPr>
              <a:t>Lambda Example</a:t>
            </a:r>
            <a:endParaRPr lang="en-US" dirty="0"/>
          </a:p>
        </p:txBody>
      </p:sp>
      <p:sp>
        <p:nvSpPr>
          <p:cNvPr id="3" name="Content Placeholder 2">
            <a:extLst>
              <a:ext uri="{FF2B5EF4-FFF2-40B4-BE49-F238E27FC236}">
                <a16:creationId xmlns:a16="http://schemas.microsoft.com/office/drawing/2014/main" id="{87B4D98F-4E2C-6864-4EA6-4AA2C3AB7FD1}"/>
              </a:ext>
            </a:extLst>
          </p:cNvPr>
          <p:cNvSpPr>
            <a:spLocks noGrp="1"/>
          </p:cNvSpPr>
          <p:nvPr>
            <p:ph idx="1"/>
          </p:nvPr>
        </p:nvSpPr>
        <p:spPr>
          <a:solidFill>
            <a:schemeClr val="tx1">
              <a:lumMod val="85000"/>
              <a:lumOff val="15000"/>
            </a:schemeClr>
          </a:solidFill>
        </p:spPr>
        <p:txBody>
          <a:bodyPr vert="horz" lIns="91440" tIns="45720" rIns="91440" bIns="45720" rtlCol="0" anchor="t">
            <a:normAutofit/>
          </a:bodyPr>
          <a:lstStyle/>
          <a:p>
            <a:pPr>
              <a:buNone/>
            </a:pPr>
            <a:r>
              <a:rPr lang="en-US" dirty="0">
                <a:solidFill>
                  <a:srgbClr val="569CD6"/>
                </a:solidFill>
                <a:latin typeface="Fira Code"/>
                <a:ea typeface="Fira Code"/>
                <a:cs typeface="Fira Code"/>
              </a:rPr>
              <a:t>var</a:t>
            </a:r>
            <a:r>
              <a:rPr lang="en-US" dirty="0">
                <a:solidFill>
                  <a:srgbClr val="D4D4D4"/>
                </a:solidFill>
                <a:latin typeface="Fira Code"/>
                <a:ea typeface="Fira Code"/>
                <a:cs typeface="Fira Code"/>
              </a:rPr>
              <a:t> </a:t>
            </a:r>
            <a:r>
              <a:rPr lang="en-US" dirty="0" err="1">
                <a:solidFill>
                  <a:srgbClr val="9CDCFE"/>
                </a:solidFill>
                <a:latin typeface="Fira Code"/>
                <a:ea typeface="Fira Code"/>
                <a:cs typeface="Fira Code"/>
              </a:rPr>
              <a:t>lst</a:t>
            </a:r>
            <a:r>
              <a:rPr lang="en-US" dirty="0">
                <a:solidFill>
                  <a:srgbClr val="D4D4D4"/>
                </a:solidFill>
                <a:latin typeface="Fira Code"/>
                <a:ea typeface="Fira Code"/>
                <a:cs typeface="Fira Code"/>
              </a:rPr>
              <a:t> = </a:t>
            </a:r>
            <a:r>
              <a:rPr lang="en-US" dirty="0">
                <a:solidFill>
                  <a:srgbClr val="569CD6"/>
                </a:solidFill>
                <a:latin typeface="Fira Code"/>
                <a:ea typeface="Fira Code"/>
                <a:cs typeface="Fira Code"/>
              </a:rPr>
              <a:t>new</a:t>
            </a:r>
            <a:r>
              <a:rPr lang="en-US" dirty="0">
                <a:solidFill>
                  <a:srgbClr val="D4D4D4"/>
                </a:solidFill>
                <a:latin typeface="Fira Code"/>
                <a:ea typeface="Fira Code"/>
                <a:cs typeface="Fira Code"/>
              </a:rPr>
              <a:t> </a:t>
            </a:r>
            <a:r>
              <a:rPr lang="en-US" dirty="0">
                <a:solidFill>
                  <a:srgbClr val="9CDCFE"/>
                </a:solidFill>
                <a:latin typeface="Fira Code"/>
                <a:ea typeface="Fira Code"/>
                <a:cs typeface="Fira Code"/>
              </a:rPr>
              <a:t>List</a:t>
            </a:r>
            <a:r>
              <a:rPr lang="en-US" dirty="0">
                <a:solidFill>
                  <a:srgbClr val="D4D4D4"/>
                </a:solidFill>
                <a:latin typeface="Fira Code"/>
                <a:ea typeface="Fira Code"/>
                <a:cs typeface="Fira Code"/>
              </a:rPr>
              <a:t>&lt;</a:t>
            </a:r>
            <a:r>
              <a:rPr lang="en-US" dirty="0">
                <a:solidFill>
                  <a:srgbClr val="569CD6"/>
                </a:solidFill>
                <a:latin typeface="Fira Code"/>
                <a:ea typeface="Fira Code"/>
                <a:cs typeface="Fira Code"/>
              </a:rPr>
              <a:t>int</a:t>
            </a:r>
            <a:r>
              <a:rPr lang="en-US" dirty="0">
                <a:solidFill>
                  <a:srgbClr val="D4D4D4"/>
                </a:solidFill>
                <a:latin typeface="Fira Code"/>
                <a:ea typeface="Fira Code"/>
                <a:cs typeface="Fira Code"/>
              </a:rPr>
              <a:t>&gt;();</a:t>
            </a:r>
            <a:endParaRPr lang="en-US" dirty="0">
              <a:latin typeface="Fira Code"/>
              <a:ea typeface="Fira Code"/>
              <a:cs typeface="Fira Code"/>
            </a:endParaRPr>
          </a:p>
          <a:p>
            <a:pPr>
              <a:buNone/>
            </a:pPr>
            <a:r>
              <a:rPr lang="en-US" dirty="0" err="1">
                <a:solidFill>
                  <a:srgbClr val="9CDCFE"/>
                </a:solidFill>
                <a:latin typeface="Fira Code"/>
                <a:ea typeface="Fira Code"/>
                <a:cs typeface="Fira Code"/>
              </a:rPr>
              <a:t>lst</a:t>
            </a:r>
            <a:r>
              <a:rPr lang="en-US" dirty="0" err="1">
                <a:solidFill>
                  <a:srgbClr val="D4D4D4"/>
                </a:solidFill>
                <a:latin typeface="Fira Code"/>
                <a:ea typeface="Fira Code"/>
                <a:cs typeface="Fira Code"/>
              </a:rPr>
              <a:t>.</a:t>
            </a:r>
            <a:r>
              <a:rPr lang="en-US" dirty="0" err="1">
                <a:solidFill>
                  <a:srgbClr val="9CDCFE"/>
                </a:solidFill>
                <a:latin typeface="Fira Code"/>
                <a:ea typeface="Fira Code"/>
                <a:cs typeface="Fira Code"/>
              </a:rPr>
              <a:t>Add</a:t>
            </a:r>
            <a:r>
              <a:rPr lang="en-US" dirty="0">
                <a:solidFill>
                  <a:srgbClr val="D4D4D4"/>
                </a:solidFill>
                <a:latin typeface="Fira Code"/>
                <a:ea typeface="Fira Code"/>
                <a:cs typeface="Fira Code"/>
              </a:rPr>
              <a:t>(</a:t>
            </a:r>
            <a:r>
              <a:rPr lang="en-US" dirty="0">
                <a:solidFill>
                  <a:srgbClr val="B5CEA8"/>
                </a:solidFill>
                <a:latin typeface="Fira Code"/>
                <a:ea typeface="Fira Code"/>
                <a:cs typeface="Fira Code"/>
              </a:rPr>
              <a:t>10</a:t>
            </a:r>
            <a:r>
              <a:rPr lang="en-US" dirty="0">
                <a:solidFill>
                  <a:srgbClr val="D4D4D4"/>
                </a:solidFill>
                <a:latin typeface="Fira Code"/>
                <a:ea typeface="Fira Code"/>
                <a:cs typeface="Fira Code"/>
              </a:rPr>
              <a:t>);</a:t>
            </a:r>
            <a:endParaRPr lang="en-US" dirty="0">
              <a:latin typeface="Fira Code"/>
              <a:ea typeface="Fira Code"/>
              <a:cs typeface="Fira Code"/>
            </a:endParaRPr>
          </a:p>
          <a:p>
            <a:pPr>
              <a:buNone/>
            </a:pPr>
            <a:r>
              <a:rPr lang="en-US" dirty="0" err="1">
                <a:solidFill>
                  <a:srgbClr val="9CDCFE"/>
                </a:solidFill>
                <a:latin typeface="Fira Code"/>
                <a:ea typeface="Fira Code"/>
                <a:cs typeface="Fira Code"/>
              </a:rPr>
              <a:t>lst</a:t>
            </a:r>
            <a:r>
              <a:rPr lang="en-US" dirty="0" err="1">
                <a:solidFill>
                  <a:srgbClr val="D4D4D4"/>
                </a:solidFill>
                <a:latin typeface="Fira Code"/>
                <a:ea typeface="Fira Code"/>
                <a:cs typeface="Fira Code"/>
              </a:rPr>
              <a:t>.</a:t>
            </a:r>
            <a:r>
              <a:rPr lang="en-US" dirty="0" err="1">
                <a:solidFill>
                  <a:srgbClr val="9CDCFE"/>
                </a:solidFill>
                <a:latin typeface="Fira Code"/>
                <a:ea typeface="Fira Code"/>
                <a:cs typeface="Fira Code"/>
              </a:rPr>
              <a:t>Add</a:t>
            </a:r>
            <a:r>
              <a:rPr lang="en-US" dirty="0">
                <a:solidFill>
                  <a:srgbClr val="D4D4D4"/>
                </a:solidFill>
                <a:latin typeface="Fira Code"/>
                <a:ea typeface="Fira Code"/>
                <a:cs typeface="Fira Code"/>
              </a:rPr>
              <a:t>(</a:t>
            </a:r>
            <a:r>
              <a:rPr lang="en-US" dirty="0">
                <a:solidFill>
                  <a:srgbClr val="B5CEA8"/>
                </a:solidFill>
                <a:latin typeface="Fira Code"/>
                <a:ea typeface="Fira Code"/>
                <a:cs typeface="Fira Code"/>
              </a:rPr>
              <a:t>20</a:t>
            </a:r>
            <a:r>
              <a:rPr lang="en-US" dirty="0">
                <a:solidFill>
                  <a:srgbClr val="D4D4D4"/>
                </a:solidFill>
                <a:latin typeface="Fira Code"/>
                <a:ea typeface="Fira Code"/>
                <a:cs typeface="Fira Code"/>
              </a:rPr>
              <a:t>);</a:t>
            </a:r>
            <a:endParaRPr lang="en-US" dirty="0">
              <a:latin typeface="Fira Code"/>
              <a:ea typeface="Fira Code"/>
              <a:cs typeface="Fira Code"/>
            </a:endParaRPr>
          </a:p>
          <a:p>
            <a:pPr>
              <a:buNone/>
            </a:pPr>
            <a:r>
              <a:rPr lang="en-US">
                <a:solidFill>
                  <a:srgbClr val="9CDCFE"/>
                </a:solidFill>
                <a:latin typeface="Fira Code"/>
                <a:ea typeface="Fira Code"/>
                <a:cs typeface="Fira Code"/>
              </a:rPr>
              <a:t>lst</a:t>
            </a:r>
            <a:r>
              <a:rPr lang="en-US">
                <a:solidFill>
                  <a:srgbClr val="D4D4D4"/>
                </a:solidFill>
                <a:latin typeface="Fira Code"/>
                <a:ea typeface="Fira Code"/>
                <a:cs typeface="Fira Code"/>
              </a:rPr>
              <a:t>.</a:t>
            </a:r>
            <a:r>
              <a:rPr lang="en-US">
                <a:solidFill>
                  <a:srgbClr val="9CDCFE"/>
                </a:solidFill>
                <a:latin typeface="Fira Code"/>
                <a:ea typeface="Fira Code"/>
                <a:cs typeface="Fira Code"/>
              </a:rPr>
              <a:t>Add</a:t>
            </a:r>
            <a:r>
              <a:rPr lang="en-US">
                <a:solidFill>
                  <a:srgbClr val="D4D4D4"/>
                </a:solidFill>
                <a:latin typeface="Fira Code"/>
                <a:ea typeface="Fira Code"/>
                <a:cs typeface="Fira Code"/>
              </a:rPr>
              <a:t>(</a:t>
            </a:r>
            <a:r>
              <a:rPr lang="en-US">
                <a:solidFill>
                  <a:srgbClr val="B5CEA8"/>
                </a:solidFill>
                <a:latin typeface="Fira Code"/>
                <a:ea typeface="Fira Code"/>
                <a:cs typeface="Fira Code"/>
              </a:rPr>
              <a:t>30</a:t>
            </a:r>
            <a:r>
              <a:rPr lang="en-US">
                <a:solidFill>
                  <a:srgbClr val="D4D4D4"/>
                </a:solidFill>
                <a:latin typeface="Fira Code"/>
                <a:ea typeface="Fira Code"/>
                <a:cs typeface="Fira Code"/>
              </a:rPr>
              <a:t>);</a:t>
            </a:r>
            <a:endParaRPr lang="en-US">
              <a:latin typeface="Fira Code"/>
              <a:ea typeface="Fira Code"/>
              <a:cs typeface="Fira Code"/>
            </a:endParaRPr>
          </a:p>
          <a:p>
            <a:pPr>
              <a:buNone/>
            </a:pPr>
            <a:r>
              <a:rPr lang="en-US" dirty="0" err="1">
                <a:solidFill>
                  <a:srgbClr val="9CDCFE"/>
                </a:solidFill>
                <a:latin typeface="Fira Code"/>
                <a:ea typeface="Fira Code"/>
                <a:cs typeface="Fira Code"/>
              </a:rPr>
              <a:t>lst</a:t>
            </a:r>
            <a:r>
              <a:rPr lang="en-US" dirty="0" err="1">
                <a:solidFill>
                  <a:srgbClr val="D4D4D4"/>
                </a:solidFill>
                <a:latin typeface="Fira Code"/>
                <a:ea typeface="Fira Code"/>
                <a:cs typeface="Fira Code"/>
              </a:rPr>
              <a:t>.</a:t>
            </a:r>
            <a:r>
              <a:rPr lang="en-US" dirty="0" err="1">
                <a:solidFill>
                  <a:srgbClr val="9CDCFE"/>
                </a:solidFill>
                <a:latin typeface="Fira Code"/>
                <a:ea typeface="Fira Code"/>
                <a:cs typeface="Fira Code"/>
              </a:rPr>
              <a:t>Add</a:t>
            </a:r>
            <a:r>
              <a:rPr lang="en-US" dirty="0">
                <a:solidFill>
                  <a:srgbClr val="D4D4D4"/>
                </a:solidFill>
                <a:latin typeface="Fira Code"/>
                <a:ea typeface="Fira Code"/>
                <a:cs typeface="Fira Code"/>
              </a:rPr>
              <a:t>(</a:t>
            </a:r>
            <a:r>
              <a:rPr lang="en-US" dirty="0">
                <a:solidFill>
                  <a:srgbClr val="B5CEA8"/>
                </a:solidFill>
                <a:latin typeface="Fira Code"/>
                <a:ea typeface="Fira Code"/>
                <a:cs typeface="Fira Code"/>
              </a:rPr>
              <a:t>40</a:t>
            </a:r>
            <a:r>
              <a:rPr lang="en-US" dirty="0">
                <a:solidFill>
                  <a:srgbClr val="D4D4D4"/>
                </a:solidFill>
                <a:latin typeface="Fira Code"/>
                <a:ea typeface="Fira Code"/>
                <a:cs typeface="Fira Code"/>
              </a:rPr>
              <a:t>);</a:t>
            </a:r>
            <a:endParaRPr lang="en-US" dirty="0">
              <a:latin typeface="Fira Code"/>
              <a:ea typeface="Fira Code"/>
              <a:cs typeface="Fira Code"/>
            </a:endParaRPr>
          </a:p>
          <a:p>
            <a:pPr>
              <a:buNone/>
            </a:pPr>
            <a:r>
              <a:rPr lang="en-US">
                <a:solidFill>
                  <a:srgbClr val="9CDCFE"/>
                </a:solidFill>
                <a:latin typeface="Fira Code"/>
                <a:ea typeface="Fira Code"/>
                <a:cs typeface="Fira Code"/>
              </a:rPr>
              <a:t>lst</a:t>
            </a:r>
            <a:r>
              <a:rPr lang="en-US">
                <a:solidFill>
                  <a:srgbClr val="D4D4D4"/>
                </a:solidFill>
                <a:latin typeface="Fira Code"/>
                <a:ea typeface="Fira Code"/>
                <a:cs typeface="Fira Code"/>
              </a:rPr>
              <a:t>.</a:t>
            </a:r>
            <a:r>
              <a:rPr lang="en-US">
                <a:solidFill>
                  <a:srgbClr val="9CDCFE"/>
                </a:solidFill>
                <a:latin typeface="Fira Code"/>
                <a:ea typeface="Fira Code"/>
                <a:cs typeface="Fira Code"/>
              </a:rPr>
              <a:t>ForEach</a:t>
            </a:r>
            <a:r>
              <a:rPr lang="en-US">
                <a:solidFill>
                  <a:srgbClr val="D4D4D4"/>
                </a:solidFill>
                <a:latin typeface="Fira Code"/>
                <a:ea typeface="Fira Code"/>
                <a:cs typeface="Fira Code"/>
              </a:rPr>
              <a:t>((</a:t>
            </a:r>
            <a:r>
              <a:rPr lang="en-US">
                <a:solidFill>
                  <a:srgbClr val="9CDCFE"/>
                </a:solidFill>
                <a:latin typeface="Fira Code"/>
                <a:ea typeface="Fira Code"/>
                <a:cs typeface="Fira Code"/>
              </a:rPr>
              <a:t>i</a:t>
            </a:r>
            <a:r>
              <a:rPr lang="en-US">
                <a:solidFill>
                  <a:srgbClr val="D4D4D4"/>
                </a:solidFill>
                <a:latin typeface="Fira Code"/>
                <a:ea typeface="Fira Code"/>
                <a:cs typeface="Fira Code"/>
              </a:rPr>
              <a:t>) =&gt; { </a:t>
            </a:r>
            <a:r>
              <a:rPr lang="en-US" err="1">
                <a:solidFill>
                  <a:srgbClr val="9CDCFE"/>
                </a:solidFill>
                <a:latin typeface="Fira Code"/>
                <a:ea typeface="Fira Code"/>
                <a:cs typeface="Fira Code"/>
              </a:rPr>
              <a:t>Console</a:t>
            </a:r>
            <a:r>
              <a:rPr lang="en-US" err="1">
                <a:solidFill>
                  <a:srgbClr val="D4D4D4"/>
                </a:solidFill>
                <a:latin typeface="Fira Code"/>
                <a:ea typeface="Fira Code"/>
                <a:cs typeface="Fira Code"/>
              </a:rPr>
              <a:t>.</a:t>
            </a:r>
            <a:r>
              <a:rPr lang="en-US" err="1">
                <a:solidFill>
                  <a:srgbClr val="9CDCFE"/>
                </a:solidFill>
                <a:latin typeface="Fira Code"/>
                <a:ea typeface="Fira Code"/>
                <a:cs typeface="Fira Code"/>
              </a:rPr>
              <a:t>WriteLine</a:t>
            </a:r>
            <a:r>
              <a:rPr lang="en-US" dirty="0">
                <a:solidFill>
                  <a:srgbClr val="D4D4D4"/>
                </a:solidFill>
                <a:latin typeface="Fira Code"/>
                <a:ea typeface="Fira Code"/>
                <a:cs typeface="Fira Code"/>
              </a:rPr>
              <a:t>(</a:t>
            </a:r>
            <a:r>
              <a:rPr lang="en-US" err="1">
                <a:solidFill>
                  <a:srgbClr val="9CDCFE"/>
                </a:solidFill>
                <a:latin typeface="Fira Code"/>
                <a:ea typeface="Fira Code"/>
                <a:cs typeface="Fira Code"/>
              </a:rPr>
              <a:t>i</a:t>
            </a:r>
            <a:r>
              <a:rPr lang="en-US" dirty="0">
                <a:solidFill>
                  <a:srgbClr val="D4D4D4"/>
                </a:solidFill>
                <a:latin typeface="Fira Code"/>
                <a:ea typeface="Fira Code"/>
                <a:cs typeface="Fira Code"/>
              </a:rPr>
              <a:t>); });</a:t>
            </a:r>
            <a:endParaRPr lang="en-US" dirty="0">
              <a:latin typeface="Fira Code"/>
              <a:ea typeface="Fira Code"/>
              <a:cs typeface="Fira Code"/>
            </a:endParaRPr>
          </a:p>
          <a:p>
            <a:pPr marL="0" indent="0">
              <a:buNone/>
            </a:pPr>
            <a:endParaRPr lang="en-US" dirty="0">
              <a:latin typeface="Fira Code"/>
              <a:ea typeface="Fira Code"/>
              <a:cs typeface="Fira Code"/>
            </a:endParaRPr>
          </a:p>
        </p:txBody>
      </p:sp>
    </p:spTree>
    <p:extLst>
      <p:ext uri="{BB962C8B-B14F-4D97-AF65-F5344CB8AC3E}">
        <p14:creationId xmlns:p14="http://schemas.microsoft.com/office/powerpoint/2010/main" val="2857486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BC5E-F7B6-4E19-BBB6-AC106B9B06C9}"/>
              </a:ext>
            </a:extLst>
          </p:cNvPr>
          <p:cNvSpPr>
            <a:spLocks noGrp="1"/>
          </p:cNvSpPr>
          <p:nvPr>
            <p:ph type="title"/>
          </p:nvPr>
        </p:nvSpPr>
        <p:spPr/>
        <p:txBody>
          <a:bodyPr/>
          <a:lstStyle/>
          <a:p>
            <a:r>
              <a:rPr lang="en-US"/>
              <a:t>Parallel Programming</a:t>
            </a:r>
          </a:p>
        </p:txBody>
      </p:sp>
      <p:sp>
        <p:nvSpPr>
          <p:cNvPr id="3" name="Content Placeholder 2">
            <a:extLst>
              <a:ext uri="{FF2B5EF4-FFF2-40B4-BE49-F238E27FC236}">
                <a16:creationId xmlns:a16="http://schemas.microsoft.com/office/drawing/2014/main" id="{EBB3E4A5-87B5-4A42-8E17-F58979F9317A}"/>
              </a:ext>
            </a:extLst>
          </p:cNvPr>
          <p:cNvSpPr>
            <a:spLocks noGrp="1"/>
          </p:cNvSpPr>
          <p:nvPr>
            <p:ph idx="1"/>
          </p:nvPr>
        </p:nvSpPr>
        <p:spPr/>
        <p:txBody>
          <a:bodyPr>
            <a:normAutofit/>
          </a:bodyPr>
          <a:lstStyle/>
          <a:p>
            <a:r>
              <a:rPr lang="en-US" sz="2400" err="1"/>
              <a:t>System.Threading</a:t>
            </a:r>
            <a:endParaRPr lang="en-US" sz="2400"/>
          </a:p>
          <a:p>
            <a:r>
              <a:rPr lang="en-US" sz="2400" err="1"/>
              <a:t>System.Threading.Tasks</a:t>
            </a:r>
            <a:endParaRPr lang="en-US" sz="2400"/>
          </a:p>
          <a:p>
            <a:pPr lvl="1"/>
            <a:r>
              <a:rPr lang="en-US" sz="2000"/>
              <a:t>Contains the Task&lt;&gt; objects</a:t>
            </a:r>
          </a:p>
          <a:p>
            <a:pPr lvl="1"/>
            <a:r>
              <a:rPr lang="en-US" sz="2000"/>
              <a:t>Contains the Parallel Class</a:t>
            </a:r>
          </a:p>
          <a:p>
            <a:pPr lvl="2"/>
            <a:r>
              <a:rPr lang="en-US" sz="1800" err="1"/>
              <a:t>Parallel.For</a:t>
            </a:r>
            <a:endParaRPr lang="en-US" sz="1800"/>
          </a:p>
          <a:p>
            <a:pPr lvl="2"/>
            <a:r>
              <a:rPr lang="en-US" sz="1800" err="1"/>
              <a:t>Parallel.ForEach</a:t>
            </a:r>
            <a:endParaRPr lang="en-US" sz="1800"/>
          </a:p>
          <a:p>
            <a:pPr lvl="2"/>
            <a:r>
              <a:rPr lang="en-US" sz="1800" err="1"/>
              <a:t>Parallel.Invoke</a:t>
            </a:r>
            <a:endParaRPr lang="en-US" sz="1800"/>
          </a:p>
          <a:p>
            <a:pPr lvl="2"/>
            <a:endParaRPr lang="en-US" sz="1800"/>
          </a:p>
          <a:p>
            <a:r>
              <a:rPr lang="en-US" sz="2400">
                <a:hlinkClick r:id="rId2"/>
              </a:rPr>
              <a:t>https://learn.microsoft.com/en-us/dotnet/api/system.threading.tasks.parallel</a:t>
            </a:r>
            <a:endParaRPr lang="en-US" sz="2400"/>
          </a:p>
          <a:p>
            <a:endParaRPr lang="en-US" sz="2600"/>
          </a:p>
        </p:txBody>
      </p:sp>
    </p:spTree>
    <p:extLst>
      <p:ext uri="{BB962C8B-B14F-4D97-AF65-F5344CB8AC3E}">
        <p14:creationId xmlns:p14="http://schemas.microsoft.com/office/powerpoint/2010/main" val="813557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0FEFB-8C56-4107-A820-BDF82DB7C5A2}"/>
              </a:ext>
            </a:extLst>
          </p:cNvPr>
          <p:cNvSpPr>
            <a:spLocks noGrp="1"/>
          </p:cNvSpPr>
          <p:nvPr>
            <p:ph type="title"/>
          </p:nvPr>
        </p:nvSpPr>
        <p:spPr/>
        <p:txBody>
          <a:bodyPr/>
          <a:lstStyle/>
          <a:p>
            <a:r>
              <a:rPr lang="en-US"/>
              <a:t>Easiest Invocation</a:t>
            </a:r>
          </a:p>
        </p:txBody>
      </p:sp>
      <p:sp>
        <p:nvSpPr>
          <p:cNvPr id="3" name="Content Placeholder 2">
            <a:extLst>
              <a:ext uri="{FF2B5EF4-FFF2-40B4-BE49-F238E27FC236}">
                <a16:creationId xmlns:a16="http://schemas.microsoft.com/office/drawing/2014/main" id="{48D520DA-C55A-4F3D-AF89-C6656999D4F7}"/>
              </a:ext>
            </a:extLst>
          </p:cNvPr>
          <p:cNvSpPr>
            <a:spLocks noGrp="1"/>
          </p:cNvSpPr>
          <p:nvPr>
            <p:ph idx="1"/>
          </p:nvPr>
        </p:nvSpPr>
        <p:spPr/>
        <p:txBody>
          <a:bodyPr>
            <a:normAutofit/>
          </a:bodyPr>
          <a:lstStyle/>
          <a:p>
            <a:r>
              <a:rPr lang="en-US" sz="2400"/>
              <a:t>Use the Parallel.* suite of functions</a:t>
            </a:r>
          </a:p>
          <a:p>
            <a:pPr lvl="1"/>
            <a:r>
              <a:rPr lang="en-US" sz="2000"/>
              <a:t>C# will automatically manage the threads for you</a:t>
            </a:r>
          </a:p>
          <a:p>
            <a:pPr lvl="1"/>
            <a:r>
              <a:rPr lang="en-US" sz="2000"/>
              <a:t>Must have: </a:t>
            </a:r>
            <a:r>
              <a:rPr lang="en-US" sz="1800">
                <a:latin typeface="Fira Code" pitchFamily="1" charset="0"/>
                <a:ea typeface="Fira Code" pitchFamily="1" charset="0"/>
                <a:cs typeface="Fira Code" pitchFamily="1" charset="0"/>
              </a:rPr>
              <a:t>using </a:t>
            </a:r>
            <a:r>
              <a:rPr lang="en-US" sz="1800" err="1">
                <a:latin typeface="Fira Code" pitchFamily="1" charset="0"/>
                <a:ea typeface="Fira Code" pitchFamily="1" charset="0"/>
                <a:cs typeface="Fira Code" pitchFamily="1" charset="0"/>
              </a:rPr>
              <a:t>System.Threading.Tasks</a:t>
            </a:r>
            <a:r>
              <a:rPr lang="en-US" sz="1800">
                <a:latin typeface="Fira Code" pitchFamily="1" charset="0"/>
                <a:ea typeface="Fira Code" pitchFamily="1" charset="0"/>
                <a:cs typeface="Fira Code" pitchFamily="1" charset="0"/>
              </a:rPr>
              <a:t>;</a:t>
            </a:r>
          </a:p>
          <a:p>
            <a:pPr lvl="1"/>
            <a:endParaRPr lang="en-US" sz="2000"/>
          </a:p>
          <a:p>
            <a:r>
              <a:rPr lang="en-US" sz="2000" err="1">
                <a:latin typeface="Fira Code" pitchFamily="1" charset="0"/>
                <a:ea typeface="Fira Code" pitchFamily="1" charset="0"/>
                <a:cs typeface="Fira Code" pitchFamily="1" charset="0"/>
              </a:rPr>
              <a:t>Parallel.For</a:t>
            </a:r>
            <a:r>
              <a:rPr lang="en-US" sz="2000">
                <a:latin typeface="Fira Code" pitchFamily="1" charset="0"/>
                <a:ea typeface="Fira Code" pitchFamily="1" charset="0"/>
                <a:cs typeface="Fira Code" pitchFamily="1" charset="0"/>
              </a:rPr>
              <a:t>(start, finish, function for each iterator)</a:t>
            </a:r>
            <a:endParaRPr lang="en-US" sz="2400">
              <a:latin typeface="Fira Code" pitchFamily="1" charset="0"/>
              <a:ea typeface="Fira Code" pitchFamily="1" charset="0"/>
              <a:cs typeface="Fira Code" pitchFamily="1" charset="0"/>
            </a:endParaRPr>
          </a:p>
          <a:p>
            <a:pPr lvl="1"/>
            <a:r>
              <a:rPr lang="en-US" sz="2000"/>
              <a:t>start is inclusive, and is usually 0</a:t>
            </a:r>
          </a:p>
          <a:p>
            <a:pPr lvl="1"/>
            <a:r>
              <a:rPr lang="en-US" sz="2000"/>
              <a:t>finish is exclusive, and is usually N</a:t>
            </a:r>
          </a:p>
          <a:p>
            <a:pPr lvl="1"/>
            <a:r>
              <a:rPr lang="en-US" sz="2000"/>
              <a:t>The function is usually a lambda function, which is given the iterator </a:t>
            </a:r>
            <a:r>
              <a:rPr lang="en-US" sz="2000" err="1"/>
              <a:t>i</a:t>
            </a:r>
            <a:endParaRPr lang="en-US" sz="2000"/>
          </a:p>
          <a:p>
            <a:pPr lvl="1"/>
            <a:r>
              <a:rPr lang="en-US" sz="2000" err="1">
                <a:latin typeface="Fira Code" pitchFamily="1" charset="0"/>
                <a:ea typeface="Fira Code" pitchFamily="1" charset="0"/>
                <a:cs typeface="Fira Code" pitchFamily="1" charset="0"/>
              </a:rPr>
              <a:t>Parallel.For</a:t>
            </a:r>
            <a:r>
              <a:rPr lang="en-US" sz="2000">
                <a:latin typeface="Fira Code" pitchFamily="1" charset="0"/>
                <a:ea typeface="Fira Code" pitchFamily="1" charset="0"/>
                <a:cs typeface="Fira Code" pitchFamily="1" charset="0"/>
              </a:rPr>
              <a:t>(0, 10, </a:t>
            </a:r>
            <a:r>
              <a:rPr lang="en-US" sz="2000" err="1">
                <a:latin typeface="Fira Code" pitchFamily="1" charset="0"/>
                <a:ea typeface="Fira Code" pitchFamily="1" charset="0"/>
                <a:cs typeface="Fira Code" pitchFamily="1" charset="0"/>
              </a:rPr>
              <a:t>i</a:t>
            </a:r>
            <a:r>
              <a:rPr lang="en-US" sz="2000">
                <a:latin typeface="Fira Code" pitchFamily="1" charset="0"/>
                <a:ea typeface="Fira Code" pitchFamily="1" charset="0"/>
                <a:cs typeface="Fira Code" pitchFamily="1" charset="0"/>
              </a:rPr>
              <a:t> =&gt; {  });</a:t>
            </a:r>
          </a:p>
          <a:p>
            <a:pPr lvl="2"/>
            <a:r>
              <a:rPr lang="en-US" sz="1800"/>
              <a:t>Executes the lambda function for each iteration in the for loop in parallel.</a:t>
            </a:r>
          </a:p>
          <a:p>
            <a:pPr lvl="1"/>
            <a:endParaRPr lang="en-US" sz="2000"/>
          </a:p>
          <a:p>
            <a:endParaRPr lang="en-US" sz="2400"/>
          </a:p>
        </p:txBody>
      </p:sp>
    </p:spTree>
    <p:extLst>
      <p:ext uri="{BB962C8B-B14F-4D97-AF65-F5344CB8AC3E}">
        <p14:creationId xmlns:p14="http://schemas.microsoft.com/office/powerpoint/2010/main" val="22283842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EA9DB-03BC-4431-8FAC-150A1A8B1F48}"/>
              </a:ext>
            </a:extLst>
          </p:cNvPr>
          <p:cNvSpPr>
            <a:spLocks noGrp="1"/>
          </p:cNvSpPr>
          <p:nvPr>
            <p:ph type="title"/>
          </p:nvPr>
        </p:nvSpPr>
        <p:spPr/>
        <p:txBody>
          <a:bodyPr/>
          <a:lstStyle/>
          <a:p>
            <a:r>
              <a:rPr lang="en-US"/>
              <a:t>Parallel For Example</a:t>
            </a:r>
          </a:p>
        </p:txBody>
      </p:sp>
      <p:sp>
        <p:nvSpPr>
          <p:cNvPr id="3" name="Content Placeholder 2">
            <a:extLst>
              <a:ext uri="{FF2B5EF4-FFF2-40B4-BE49-F238E27FC236}">
                <a16:creationId xmlns:a16="http://schemas.microsoft.com/office/drawing/2014/main" id="{028EAE0F-BA7B-4C3A-9FF4-CE0A4DA03277}"/>
              </a:ext>
            </a:extLst>
          </p:cNvPr>
          <p:cNvSpPr>
            <a:spLocks noGrp="1"/>
          </p:cNvSpPr>
          <p:nvPr>
            <p:ph idx="1"/>
          </p:nvPr>
        </p:nvSpPr>
        <p:spPr>
          <a:xfrm>
            <a:off x="838200" y="1606964"/>
            <a:ext cx="10515600" cy="4351338"/>
          </a:xfrm>
        </p:spPr>
        <p:txBody>
          <a:bodyPr>
            <a:noAutofit/>
          </a:bodyPr>
          <a:lstStyle/>
          <a:p>
            <a:pPr marL="0" indent="0">
              <a:buNone/>
            </a:pPr>
            <a:r>
              <a:rPr lang="en-US" sz="1400">
                <a:solidFill>
                  <a:srgbClr val="0070C0"/>
                </a:solidFill>
                <a:latin typeface="Fira Code" panose="020B0809050000020004" pitchFamily="49" charset="0"/>
                <a:ea typeface="Fira Code" panose="020B0809050000020004" pitchFamily="49" charset="0"/>
                <a:cs typeface="Fira Code" panose="020B0809050000020004" pitchFamily="49" charset="0"/>
              </a:rPr>
              <a:t>using</a:t>
            </a:r>
            <a:r>
              <a:rPr lang="en-US" sz="1400">
                <a:latin typeface="Fira Code" panose="020B0809050000020004" pitchFamily="49" charset="0"/>
                <a:ea typeface="Fira Code" panose="020B0809050000020004" pitchFamily="49" charset="0"/>
                <a:cs typeface="Fira Code" panose="020B0809050000020004" pitchFamily="49" charset="0"/>
              </a:rPr>
              <a:t> </a:t>
            </a:r>
            <a:r>
              <a:rPr lang="en-US" sz="1400" err="1">
                <a:latin typeface="Fira Code" panose="020B0809050000020004" pitchFamily="49" charset="0"/>
                <a:ea typeface="Fira Code" panose="020B0809050000020004" pitchFamily="49" charset="0"/>
                <a:cs typeface="Fira Code" panose="020B0809050000020004" pitchFamily="49" charset="0"/>
              </a:rPr>
              <a:t>System.Threading.Tasks</a:t>
            </a:r>
            <a:r>
              <a:rPr lang="en-US" sz="14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400">
                <a:solidFill>
                  <a:srgbClr val="0070C0"/>
                </a:solidFill>
                <a:latin typeface="Fira Code" panose="020B0809050000020004" pitchFamily="49" charset="0"/>
                <a:ea typeface="Fira Code" panose="020B0809050000020004" pitchFamily="49" charset="0"/>
                <a:cs typeface="Fira Code" panose="020B0809050000020004" pitchFamily="49" charset="0"/>
              </a:rPr>
              <a:t>class</a:t>
            </a:r>
            <a:r>
              <a:rPr lang="en-US" sz="1400">
                <a:latin typeface="Fira Code" panose="020B0809050000020004" pitchFamily="49" charset="0"/>
                <a:ea typeface="Fira Code" panose="020B0809050000020004" pitchFamily="49" charset="0"/>
                <a:cs typeface="Fira Code" panose="020B0809050000020004" pitchFamily="49" charset="0"/>
              </a:rPr>
              <a:t> </a:t>
            </a:r>
            <a:r>
              <a:rPr lang="en-US" sz="1400" err="1">
                <a:latin typeface="Fira Code" panose="020B0809050000020004" pitchFamily="49" charset="0"/>
                <a:ea typeface="Fira Code" panose="020B0809050000020004" pitchFamily="49" charset="0"/>
                <a:cs typeface="Fira Code" panose="020B0809050000020004" pitchFamily="49" charset="0"/>
              </a:rPr>
              <a:t>Px</a:t>
            </a:r>
            <a:r>
              <a:rPr lang="en-US" sz="1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a:t>
            </a:r>
            <a:r>
              <a:rPr lang="en-US" sz="1400">
                <a:solidFill>
                  <a:srgbClr val="0070C0"/>
                </a:solidFill>
                <a:latin typeface="Fira Code" panose="020B0809050000020004" pitchFamily="49" charset="0"/>
                <a:ea typeface="Fira Code" panose="020B0809050000020004" pitchFamily="49" charset="0"/>
                <a:cs typeface="Fira Code" panose="020B0809050000020004" pitchFamily="49" charset="0"/>
              </a:rPr>
              <a:t>public static void </a:t>
            </a:r>
            <a:r>
              <a:rPr lang="en-US" sz="1400">
                <a:latin typeface="Fira Code" panose="020B0809050000020004" pitchFamily="49" charset="0"/>
                <a:ea typeface="Fira Code" panose="020B0809050000020004" pitchFamily="49" charset="0"/>
                <a:cs typeface="Fira Code" panose="020B0809050000020004" pitchFamily="49" charset="0"/>
              </a:rPr>
              <a:t>Main(string[] </a:t>
            </a:r>
            <a:r>
              <a:rPr lang="en-US" sz="1400" err="1">
                <a:latin typeface="Fira Code" panose="020B0809050000020004" pitchFamily="49" charset="0"/>
                <a:ea typeface="Fira Code" panose="020B0809050000020004" pitchFamily="49" charset="0"/>
                <a:cs typeface="Fira Code" panose="020B0809050000020004" pitchFamily="49" charset="0"/>
              </a:rPr>
              <a:t>args</a:t>
            </a:r>
            <a:r>
              <a:rPr lang="en-US" sz="1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a:t>
            </a:r>
            <a:r>
              <a:rPr lang="en-US" sz="1400">
                <a:solidFill>
                  <a:srgbClr val="0070C0"/>
                </a:solidFill>
                <a:latin typeface="Fira Code" panose="020B0809050000020004" pitchFamily="49" charset="0"/>
                <a:ea typeface="Fira Code" panose="020B0809050000020004" pitchFamily="49" charset="0"/>
                <a:cs typeface="Fira Code" panose="020B0809050000020004" pitchFamily="49" charset="0"/>
              </a:rPr>
              <a:t>long</a:t>
            </a:r>
            <a:r>
              <a:rPr lang="en-US" sz="1400">
                <a:latin typeface="Fira Code" panose="020B0809050000020004" pitchFamily="49" charset="0"/>
                <a:ea typeface="Fira Code" panose="020B0809050000020004" pitchFamily="49" charset="0"/>
                <a:cs typeface="Fira Code" panose="020B0809050000020004" pitchFamily="49" charset="0"/>
              </a:rPr>
              <a:t>[] z = </a:t>
            </a:r>
            <a:r>
              <a:rPr lang="en-US" sz="1400">
                <a:solidFill>
                  <a:srgbClr val="0070C0"/>
                </a:solidFill>
                <a:latin typeface="Fira Code" panose="020B0809050000020004" pitchFamily="49" charset="0"/>
                <a:ea typeface="Fira Code" panose="020B0809050000020004" pitchFamily="49" charset="0"/>
                <a:cs typeface="Fira Code" panose="020B0809050000020004" pitchFamily="49" charset="0"/>
              </a:rPr>
              <a:t>new long</a:t>
            </a:r>
            <a:r>
              <a:rPr lang="en-US" sz="1400">
                <a:latin typeface="Fira Code" panose="020B0809050000020004" pitchFamily="49" charset="0"/>
                <a:ea typeface="Fira Code" panose="020B0809050000020004" pitchFamily="49" charset="0"/>
                <a:cs typeface="Fira Code" panose="020B0809050000020004" pitchFamily="49" charset="0"/>
              </a:rPr>
              <a:t>[20];</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The following executes a for loop where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[0..20].</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This means that 21 threads are spawned and ran concurrently</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We use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=&gt; which is the lambda where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is which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the For loop is running</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Be careful because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will NOT be 0, 1, 2, 3, .., 20 in that order.</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a:t>
            </a:r>
            <a:r>
              <a:rPr lang="en-US" sz="1400" err="1">
                <a:latin typeface="Fira Code" panose="020B0809050000020004" pitchFamily="49" charset="0"/>
                <a:ea typeface="Fira Code" panose="020B0809050000020004" pitchFamily="49" charset="0"/>
                <a:cs typeface="Fira Code" panose="020B0809050000020004" pitchFamily="49" charset="0"/>
              </a:rPr>
              <a:t>Parallel.For</a:t>
            </a:r>
            <a:r>
              <a:rPr lang="en-US" sz="1400">
                <a:latin typeface="Fira Code" panose="020B0809050000020004" pitchFamily="49" charset="0"/>
                <a:ea typeface="Fira Code" panose="020B0809050000020004" pitchFamily="49" charset="0"/>
                <a:cs typeface="Fira Code" panose="020B0809050000020004" pitchFamily="49" charset="0"/>
              </a:rPr>
              <a:t>(0, 20, </a:t>
            </a:r>
            <a:r>
              <a:rPr lang="en-US" sz="1400" err="1">
                <a:latin typeface="Fira Code" panose="020B0809050000020004" pitchFamily="49" charset="0"/>
                <a:ea typeface="Fira Code" panose="020B0809050000020004" pitchFamily="49" charset="0"/>
                <a:cs typeface="Fira Code" panose="020B0809050000020004" pitchFamily="49" charset="0"/>
              </a:rPr>
              <a:t>i</a:t>
            </a:r>
            <a:r>
              <a:rPr lang="en-US" sz="1400">
                <a:latin typeface="Fira Code" panose="020B0809050000020004" pitchFamily="49" charset="0"/>
                <a:ea typeface="Fira Code" panose="020B0809050000020004" pitchFamily="49" charset="0"/>
                <a:cs typeface="Fira Code" panose="020B0809050000020004" pitchFamily="49" charset="0"/>
              </a:rPr>
              <a:t> =&gt; {</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z[</a:t>
            </a:r>
            <a:r>
              <a:rPr lang="en-US" sz="1400" err="1">
                <a:latin typeface="Fira Code" panose="020B0809050000020004" pitchFamily="49" charset="0"/>
                <a:ea typeface="Fira Code" panose="020B0809050000020004" pitchFamily="49" charset="0"/>
                <a:cs typeface="Fira Code" panose="020B0809050000020004" pitchFamily="49" charset="0"/>
              </a:rPr>
              <a:t>i</a:t>
            </a:r>
            <a:r>
              <a:rPr lang="en-US" sz="1400">
                <a:latin typeface="Fira Code" panose="020B0809050000020004" pitchFamily="49" charset="0"/>
                <a:ea typeface="Fira Code" panose="020B0809050000020004" pitchFamily="49" charset="0"/>
                <a:cs typeface="Fira Code" panose="020B0809050000020004" pitchFamily="49" charset="0"/>
              </a:rPr>
              <a:t>] = </a:t>
            </a:r>
            <a:r>
              <a:rPr lang="en-US" sz="1400" err="1">
                <a:latin typeface="Fira Code" panose="020B0809050000020004" pitchFamily="49" charset="0"/>
                <a:ea typeface="Fira Code" panose="020B0809050000020004" pitchFamily="49" charset="0"/>
                <a:cs typeface="Fira Code" panose="020B0809050000020004" pitchFamily="49" charset="0"/>
              </a:rPr>
              <a:t>DateTime.Now.Ticks</a:t>
            </a:r>
            <a:r>
              <a:rPr lang="en-US" sz="14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z[0] will store when the parallel for executed this thread with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0</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z[1] will store when the parallel for executed this thread with </a:t>
            </a:r>
            <a:r>
              <a:rPr lang="en-US" sz="14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1</a:t>
            </a:r>
          </a:p>
          <a:p>
            <a:pPr marL="0" indent="0">
              <a:buNone/>
            </a:pPr>
            <a:r>
              <a:rPr lang="en-US" sz="1400">
                <a:solidFill>
                  <a:srgbClr val="00B050"/>
                </a:solidFill>
                <a:latin typeface="Fira Code" panose="020B0809050000020004" pitchFamily="49" charset="0"/>
                <a:ea typeface="Fira Code" panose="020B0809050000020004" pitchFamily="49" charset="0"/>
                <a:cs typeface="Fira Code" panose="020B0809050000020004" pitchFamily="49" charset="0"/>
              </a:rPr>
              <a:t>		// ...etc...</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14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3179837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A42-D3E0-42DC-9763-0F085278A3DE}"/>
              </a:ext>
            </a:extLst>
          </p:cNvPr>
          <p:cNvSpPr>
            <a:spLocks noGrp="1"/>
          </p:cNvSpPr>
          <p:nvPr>
            <p:ph type="title"/>
          </p:nvPr>
        </p:nvSpPr>
        <p:spPr/>
        <p:txBody>
          <a:bodyPr/>
          <a:lstStyle/>
          <a:p>
            <a:r>
              <a:rPr lang="en-US"/>
              <a:t>Task </a:t>
            </a:r>
            <a:r>
              <a:rPr lang="en-US" err="1"/>
              <a:t>Async</a:t>
            </a:r>
            <a:r>
              <a:rPr lang="en-US"/>
              <a:t> Pattern (TAP)</a:t>
            </a:r>
          </a:p>
        </p:txBody>
      </p:sp>
      <p:sp>
        <p:nvSpPr>
          <p:cNvPr id="3" name="Content Placeholder 2">
            <a:extLst>
              <a:ext uri="{FF2B5EF4-FFF2-40B4-BE49-F238E27FC236}">
                <a16:creationId xmlns:a16="http://schemas.microsoft.com/office/drawing/2014/main" id="{875B23D2-492F-4D13-BB79-3829B9082583}"/>
              </a:ext>
            </a:extLst>
          </p:cNvPr>
          <p:cNvSpPr>
            <a:spLocks noGrp="1"/>
          </p:cNvSpPr>
          <p:nvPr>
            <p:ph idx="1"/>
          </p:nvPr>
        </p:nvSpPr>
        <p:spPr/>
        <p:txBody>
          <a:bodyPr/>
          <a:lstStyle/>
          <a:p>
            <a:r>
              <a:rPr lang="en-US"/>
              <a:t>C# offers two keywords for asynchronous function calls:</a:t>
            </a:r>
          </a:p>
          <a:p>
            <a:pPr lvl="1"/>
            <a:r>
              <a:rPr lang="en-US" err="1">
                <a:solidFill>
                  <a:srgbClr val="0070C0"/>
                </a:solidFill>
              </a:rPr>
              <a:t>async</a:t>
            </a:r>
            <a:r>
              <a:rPr lang="en-US"/>
              <a:t> and </a:t>
            </a:r>
            <a:r>
              <a:rPr lang="en-US">
                <a:solidFill>
                  <a:srgbClr val="0070C0"/>
                </a:solidFill>
              </a:rPr>
              <a:t>await</a:t>
            </a:r>
          </a:p>
          <a:p>
            <a:pPr lvl="1"/>
            <a:r>
              <a:rPr lang="en-US"/>
              <a:t>These require using the Task and Task&lt;&gt; objects from </a:t>
            </a:r>
            <a:r>
              <a:rPr lang="en-US" err="1"/>
              <a:t>System.Threading.Tasks</a:t>
            </a:r>
            <a:endParaRPr lang="en-US"/>
          </a:p>
        </p:txBody>
      </p:sp>
    </p:spTree>
    <p:extLst>
      <p:ext uri="{BB962C8B-B14F-4D97-AF65-F5344CB8AC3E}">
        <p14:creationId xmlns:p14="http://schemas.microsoft.com/office/powerpoint/2010/main" val="3155221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69F-8D56-4308-9D3F-62F26962F527}"/>
              </a:ext>
            </a:extLst>
          </p:cNvPr>
          <p:cNvSpPr>
            <a:spLocks noGrp="1"/>
          </p:cNvSpPr>
          <p:nvPr>
            <p:ph type="title"/>
          </p:nvPr>
        </p:nvSpPr>
        <p:spPr/>
        <p:txBody>
          <a:bodyPr/>
          <a:lstStyle/>
          <a:p>
            <a:r>
              <a:rPr lang="en-US"/>
              <a:t>Other Patterns</a:t>
            </a:r>
          </a:p>
        </p:txBody>
      </p:sp>
      <p:sp>
        <p:nvSpPr>
          <p:cNvPr id="3" name="Content Placeholder 2">
            <a:extLst>
              <a:ext uri="{FF2B5EF4-FFF2-40B4-BE49-F238E27FC236}">
                <a16:creationId xmlns:a16="http://schemas.microsoft.com/office/drawing/2014/main" id="{5E34E465-9A18-4462-B9D3-562C14B1713F}"/>
              </a:ext>
            </a:extLst>
          </p:cNvPr>
          <p:cNvSpPr>
            <a:spLocks noGrp="1"/>
          </p:cNvSpPr>
          <p:nvPr>
            <p:ph idx="1"/>
          </p:nvPr>
        </p:nvSpPr>
        <p:spPr/>
        <p:txBody>
          <a:bodyPr>
            <a:normAutofit/>
          </a:bodyPr>
          <a:lstStyle/>
          <a:p>
            <a:r>
              <a:rPr lang="en-US" sz="2400"/>
              <a:t>C# also offers two other patterns (DO NOT USE THESE IN COSC365!)</a:t>
            </a:r>
          </a:p>
          <a:p>
            <a:pPr lvl="1"/>
            <a:r>
              <a:rPr lang="en-US" sz="2000"/>
              <a:t>Event </a:t>
            </a:r>
            <a:r>
              <a:rPr lang="en-US" sz="2000" err="1"/>
              <a:t>Async</a:t>
            </a:r>
            <a:r>
              <a:rPr lang="en-US" sz="2000"/>
              <a:t> Pattern (EAP)</a:t>
            </a:r>
          </a:p>
          <a:p>
            <a:pPr lvl="1"/>
            <a:r>
              <a:rPr lang="en-US" sz="2000"/>
              <a:t>Asynchronous Programming Model (APM)</a:t>
            </a:r>
          </a:p>
          <a:p>
            <a:pPr lvl="1"/>
            <a:endParaRPr lang="en-US" sz="2000"/>
          </a:p>
          <a:p>
            <a:r>
              <a:rPr lang="en-US" sz="2400"/>
              <a:t>These models generate odd code for the newer CLR virtual machines, so they should be avoided, but they still may be used!</a:t>
            </a:r>
          </a:p>
        </p:txBody>
      </p:sp>
    </p:spTree>
    <p:extLst>
      <p:ext uri="{BB962C8B-B14F-4D97-AF65-F5344CB8AC3E}">
        <p14:creationId xmlns:p14="http://schemas.microsoft.com/office/powerpoint/2010/main" val="28609164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0421-8760-498B-8391-AF9EEFB2FEE2}"/>
              </a:ext>
            </a:extLst>
          </p:cNvPr>
          <p:cNvSpPr>
            <a:spLocks noGrp="1"/>
          </p:cNvSpPr>
          <p:nvPr>
            <p:ph type="title"/>
          </p:nvPr>
        </p:nvSpPr>
        <p:spPr/>
        <p:txBody>
          <a:bodyPr/>
          <a:lstStyle/>
          <a:p>
            <a:r>
              <a:rPr lang="en-US" err="1"/>
              <a:t>Task.Run</a:t>
            </a:r>
            <a:endParaRPr lang="en-US"/>
          </a:p>
        </p:txBody>
      </p:sp>
      <p:sp>
        <p:nvSpPr>
          <p:cNvPr id="3" name="Content Placeholder 2">
            <a:extLst>
              <a:ext uri="{FF2B5EF4-FFF2-40B4-BE49-F238E27FC236}">
                <a16:creationId xmlns:a16="http://schemas.microsoft.com/office/drawing/2014/main" id="{DA1C6180-BE4C-4295-A144-B85775485B31}"/>
              </a:ext>
            </a:extLst>
          </p:cNvPr>
          <p:cNvSpPr>
            <a:spLocks noGrp="1"/>
          </p:cNvSpPr>
          <p:nvPr>
            <p:ph idx="1"/>
          </p:nvPr>
        </p:nvSpPr>
        <p:spPr>
          <a:xfrm>
            <a:off x="838200" y="1825625"/>
            <a:ext cx="10515600" cy="4789488"/>
          </a:xfrm>
        </p:spPr>
        <p:txBody>
          <a:bodyPr>
            <a:normAutofit fontScale="85000" lnSpcReduction="20000"/>
          </a:bodyPr>
          <a:lstStyle/>
          <a:p>
            <a:r>
              <a:rPr lang="en-US"/>
              <a:t>In </a:t>
            </a:r>
            <a:r>
              <a:rPr lang="en-US" err="1"/>
              <a:t>System.Threading.Tasks</a:t>
            </a:r>
            <a:endParaRPr lang="en-US"/>
          </a:p>
          <a:p>
            <a:pPr lvl="1"/>
            <a:r>
              <a:rPr lang="en-US" err="1"/>
              <a:t>Task.Run</a:t>
            </a:r>
            <a:r>
              <a:rPr lang="en-US"/>
              <a:t>(() =&gt; { //Do something here });</a:t>
            </a:r>
          </a:p>
          <a:p>
            <a:pPr lvl="2"/>
            <a:r>
              <a:rPr lang="en-US"/>
              <a:t>This will run a new task in its separate thread. </a:t>
            </a:r>
            <a:r>
              <a:rPr lang="en-US" err="1"/>
              <a:t>Task.Run</a:t>
            </a:r>
            <a:r>
              <a:rPr lang="en-US"/>
              <a:t> returns a Task structure or Task&lt;T&gt; structure if you need to return a value from </a:t>
            </a:r>
            <a:r>
              <a:rPr lang="en-US" err="1"/>
              <a:t>Task.Run</a:t>
            </a:r>
            <a:endParaRPr lang="en-US"/>
          </a:p>
          <a:p>
            <a:pPr lvl="2"/>
            <a:endParaRPr lang="en-US"/>
          </a:p>
          <a:p>
            <a:pPr marL="0" indent="0">
              <a:buNone/>
            </a:pP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public </a:t>
            </a:r>
            <a:r>
              <a:rPr lang="en-US" sz="2400" err="1">
                <a:solidFill>
                  <a:srgbClr val="0070C0"/>
                </a:solidFill>
                <a:latin typeface="Fira Code" panose="020B0809050000020004" pitchFamily="49" charset="0"/>
                <a:ea typeface="Fira Code" panose="020B0809050000020004" pitchFamily="49" charset="0"/>
                <a:cs typeface="Fira Code" panose="020B0809050000020004" pitchFamily="49" charset="0"/>
              </a:rPr>
              <a:t>async</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 </a:t>
            </a:r>
            <a:r>
              <a:rPr lang="en-US" sz="2400">
                <a:latin typeface="Fira Code" panose="020B0809050000020004" pitchFamily="49" charset="0"/>
                <a:ea typeface="Fira Code" panose="020B0809050000020004" pitchFamily="49" charset="0"/>
                <a:cs typeface="Fira Code" panose="020B0809050000020004" pitchFamily="49" charset="0"/>
              </a:rPr>
              <a:t>Task&lt;T&gt; </a:t>
            </a:r>
            <a:r>
              <a:rPr lang="en-US" sz="2400" err="1">
                <a:latin typeface="Fira Code" panose="020B0809050000020004" pitchFamily="49" charset="0"/>
                <a:ea typeface="Fira Code" panose="020B0809050000020004" pitchFamily="49" charset="0"/>
                <a:cs typeface="Fira Code" panose="020B0809050000020004" pitchFamily="49" charset="0"/>
              </a:rPr>
              <a:t>MyFunc</a:t>
            </a:r>
            <a:r>
              <a:rPr lang="en-US" sz="2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return await </a:t>
            </a:r>
            <a:r>
              <a:rPr lang="en-US" sz="2400" err="1">
                <a:latin typeface="Fira Code" panose="020B0809050000020004" pitchFamily="49" charset="0"/>
                <a:ea typeface="Fira Code" panose="020B0809050000020004" pitchFamily="49" charset="0"/>
                <a:cs typeface="Fira Code" panose="020B0809050000020004" pitchFamily="49" charset="0"/>
              </a:rPr>
              <a:t>Task.Run</a:t>
            </a:r>
            <a:r>
              <a:rPr lang="en-US" sz="2400">
                <a:latin typeface="Fira Code" panose="020B0809050000020004" pitchFamily="49" charset="0"/>
                <a:ea typeface="Fira Code" panose="020B0809050000020004" pitchFamily="49" charset="0"/>
                <a:cs typeface="Fira Code" panose="020B0809050000020004" pitchFamily="49" charset="0"/>
              </a:rPr>
              <a:t>(() =&gt;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err="1">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2400">
                <a:latin typeface="Fira Code" panose="020B0809050000020004" pitchFamily="49" charset="0"/>
                <a:ea typeface="Fira Code" panose="020B0809050000020004" pitchFamily="49" charset="0"/>
                <a:cs typeface="Fira Code" panose="020B0809050000020004" pitchFamily="49" charset="0"/>
              </a:rPr>
              <a:t> ret = 0;</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for</a:t>
            </a: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int</a:t>
            </a: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err="1">
                <a:latin typeface="Fira Code" panose="020B0809050000020004" pitchFamily="49" charset="0"/>
                <a:ea typeface="Fira Code" panose="020B0809050000020004" pitchFamily="49" charset="0"/>
                <a:cs typeface="Fira Code" panose="020B0809050000020004" pitchFamily="49" charset="0"/>
              </a:rPr>
              <a:t>i</a:t>
            </a:r>
            <a:r>
              <a:rPr lang="en-US" sz="2400">
                <a:latin typeface="Fira Code" panose="020B0809050000020004" pitchFamily="49" charset="0"/>
                <a:ea typeface="Fira Code" panose="020B0809050000020004" pitchFamily="49" charset="0"/>
                <a:cs typeface="Fira Code" panose="020B0809050000020004" pitchFamily="49" charset="0"/>
              </a:rPr>
              <a:t> = 0;i &lt; 10000000;i++)</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ret += </a:t>
            </a:r>
            <a:r>
              <a:rPr lang="en-US" sz="2400" err="1">
                <a:latin typeface="Fira Code" panose="020B0809050000020004" pitchFamily="49" charset="0"/>
                <a:ea typeface="Fira Code" panose="020B0809050000020004" pitchFamily="49" charset="0"/>
                <a:cs typeface="Fira Code" panose="020B0809050000020004" pitchFamily="49" charset="0"/>
              </a:rPr>
              <a:t>i</a:t>
            </a:r>
            <a:r>
              <a:rPr lang="en-US" sz="2400">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r>
              <a:rPr lang="en-US" sz="2400">
                <a:solidFill>
                  <a:srgbClr val="0070C0"/>
                </a:solidFill>
                <a:latin typeface="Fira Code" panose="020B0809050000020004" pitchFamily="49" charset="0"/>
                <a:ea typeface="Fira Code" panose="020B0809050000020004" pitchFamily="49" charset="0"/>
                <a:cs typeface="Fira Code" panose="020B0809050000020004" pitchFamily="49" charset="0"/>
              </a:rPr>
              <a:t>return</a:t>
            </a:r>
            <a:r>
              <a:rPr lang="en-US" sz="2400">
                <a:latin typeface="Fira Code" panose="020B0809050000020004" pitchFamily="49" charset="0"/>
                <a:ea typeface="Fira Code" panose="020B0809050000020004" pitchFamily="49" charset="0"/>
                <a:cs typeface="Fira Code" panose="020B0809050000020004" pitchFamily="49" charset="0"/>
              </a:rPr>
              <a:t> ret;</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400">
                <a:latin typeface="Fira Code" panose="020B0809050000020004" pitchFamily="49" charset="0"/>
                <a:ea typeface="Fira Code" panose="020B0809050000020004" pitchFamily="49" charset="0"/>
                <a:cs typeface="Fira Code" panose="020B0809050000020004" pitchFamily="49" charset="0"/>
              </a:rPr>
              <a:t>}</a:t>
            </a:r>
            <a:endParaRPr lang="en-US">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23446607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9AC3-02AE-4310-890F-107D0C56D7A3}"/>
              </a:ext>
            </a:extLst>
          </p:cNvPr>
          <p:cNvSpPr>
            <a:spLocks noGrp="1"/>
          </p:cNvSpPr>
          <p:nvPr>
            <p:ph type="title"/>
          </p:nvPr>
        </p:nvSpPr>
        <p:spPr/>
        <p:txBody>
          <a:bodyPr/>
          <a:lstStyle/>
          <a:p>
            <a:r>
              <a:rPr lang="en-US"/>
              <a:t>Task and Task&lt;T&gt; structure</a:t>
            </a:r>
          </a:p>
        </p:txBody>
      </p:sp>
      <p:sp>
        <p:nvSpPr>
          <p:cNvPr id="3" name="Content Placeholder 2">
            <a:extLst>
              <a:ext uri="{FF2B5EF4-FFF2-40B4-BE49-F238E27FC236}">
                <a16:creationId xmlns:a16="http://schemas.microsoft.com/office/drawing/2014/main" id="{31F02C03-AEBC-41A0-BA6A-D34FF6AEA22B}"/>
              </a:ext>
            </a:extLst>
          </p:cNvPr>
          <p:cNvSpPr>
            <a:spLocks noGrp="1"/>
          </p:cNvSpPr>
          <p:nvPr>
            <p:ph idx="1"/>
          </p:nvPr>
        </p:nvSpPr>
        <p:spPr/>
        <p:txBody>
          <a:bodyPr/>
          <a:lstStyle/>
          <a:p>
            <a:r>
              <a:rPr lang="en-US"/>
              <a:t>Task&lt;T&gt; structure returns a result in the property .Result</a:t>
            </a:r>
          </a:p>
          <a:p>
            <a:pPr lvl="1"/>
            <a:r>
              <a:rPr lang="en-US"/>
              <a:t>T is a generic type, so I can return a result as any type</a:t>
            </a:r>
          </a:p>
          <a:p>
            <a:pPr lvl="1"/>
            <a:endParaRPr lang="en-US"/>
          </a:p>
          <a:p>
            <a:r>
              <a:rPr lang="en-US"/>
              <a:t>Task and Task&lt;T&gt; have two useful members</a:t>
            </a:r>
          </a:p>
          <a:p>
            <a:pPr lvl="1"/>
            <a:r>
              <a:rPr lang="en-US"/>
              <a:t>The property </a:t>
            </a:r>
            <a:r>
              <a:rPr lang="en-US" err="1"/>
              <a:t>IsCompleted</a:t>
            </a:r>
            <a:r>
              <a:rPr lang="en-US"/>
              <a:t>. Returns true if the task is done, false otherwise</a:t>
            </a:r>
          </a:p>
          <a:p>
            <a:pPr lvl="1"/>
            <a:r>
              <a:rPr lang="en-US"/>
              <a:t>The function .Wait(). This function will pause your current thread until the task is done.</a:t>
            </a:r>
          </a:p>
        </p:txBody>
      </p:sp>
    </p:spTree>
    <p:extLst>
      <p:ext uri="{BB962C8B-B14F-4D97-AF65-F5344CB8AC3E}">
        <p14:creationId xmlns:p14="http://schemas.microsoft.com/office/powerpoint/2010/main" val="5250015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D9F9-80E7-AE0F-449D-BFBCEF618622}"/>
              </a:ext>
            </a:extLst>
          </p:cNvPr>
          <p:cNvSpPr>
            <a:spLocks noGrp="1"/>
          </p:cNvSpPr>
          <p:nvPr>
            <p:ph type="title"/>
          </p:nvPr>
        </p:nvSpPr>
        <p:spPr/>
        <p:txBody>
          <a:bodyPr/>
          <a:lstStyle/>
          <a:p>
            <a:r>
              <a:rPr lang="en-US" dirty="0"/>
              <a:t>Waiting on Tasks</a:t>
            </a:r>
          </a:p>
        </p:txBody>
      </p:sp>
      <p:sp>
        <p:nvSpPr>
          <p:cNvPr id="3" name="Content Placeholder 2">
            <a:extLst>
              <a:ext uri="{FF2B5EF4-FFF2-40B4-BE49-F238E27FC236}">
                <a16:creationId xmlns:a16="http://schemas.microsoft.com/office/drawing/2014/main" id="{72D29905-32D7-B928-6BB5-6899CF847087}"/>
              </a:ext>
            </a:extLst>
          </p:cNvPr>
          <p:cNvSpPr>
            <a:spLocks noGrp="1"/>
          </p:cNvSpPr>
          <p:nvPr>
            <p:ph idx="1"/>
          </p:nvPr>
        </p:nvSpPr>
        <p:spPr>
          <a:xfrm>
            <a:off x="838200" y="1825625"/>
            <a:ext cx="10515600" cy="1325563"/>
          </a:xfrm>
        </p:spPr>
        <p:txBody>
          <a:bodyPr/>
          <a:lstStyle/>
          <a:p>
            <a:r>
              <a:rPr lang="en-US" dirty="0"/>
              <a:t>Eventually, we need to wait for the tasks to complete.</a:t>
            </a:r>
          </a:p>
          <a:p>
            <a:pPr lvl="1"/>
            <a:r>
              <a:rPr lang="en-US" dirty="0" err="1"/>
              <a:t>Task.Wait</a:t>
            </a:r>
            <a:r>
              <a:rPr lang="en-US" dirty="0"/>
              <a:t>()</a:t>
            </a:r>
          </a:p>
          <a:p>
            <a:pPr lvl="1"/>
            <a:r>
              <a:rPr lang="en-US" dirty="0" err="1"/>
              <a:t>Task.WaitAll</a:t>
            </a:r>
            <a:r>
              <a:rPr lang="en-US" dirty="0"/>
              <a:t>(</a:t>
            </a:r>
            <a:r>
              <a:rPr lang="en-US" dirty="0" err="1"/>
              <a:t>task_iterable</a:t>
            </a:r>
            <a:r>
              <a:rPr lang="en-US" dirty="0"/>
              <a:t>);</a:t>
            </a:r>
          </a:p>
        </p:txBody>
      </p:sp>
      <p:sp>
        <p:nvSpPr>
          <p:cNvPr id="4" name="Content Placeholder 2">
            <a:extLst>
              <a:ext uri="{FF2B5EF4-FFF2-40B4-BE49-F238E27FC236}">
                <a16:creationId xmlns:a16="http://schemas.microsoft.com/office/drawing/2014/main" id="{B1A1D287-385B-F47C-673B-28B5B096BF38}"/>
              </a:ext>
            </a:extLst>
          </p:cNvPr>
          <p:cNvSpPr txBox="1">
            <a:spLocks/>
          </p:cNvSpPr>
          <p:nvPr/>
        </p:nvSpPr>
        <p:spPr>
          <a:xfrm>
            <a:off x="838200" y="3028335"/>
            <a:ext cx="10515600" cy="3569110"/>
          </a:xfrm>
          <a:prstGeom prst="rect">
            <a:avLst/>
          </a:prstGeom>
          <a:solidFill>
            <a:schemeClr val="bg2">
              <a:lumMod val="2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000" dirty="0">
                <a:solidFill>
                  <a:srgbClr val="569CD6"/>
                </a:solidFill>
                <a:latin typeface="Fira Code"/>
                <a:ea typeface="Fira Code"/>
                <a:cs typeface="Fira Code"/>
              </a:rPr>
              <a:t>using</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StreamReader</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sr</a:t>
            </a:r>
            <a:r>
              <a:rPr lang="en-US" sz="2000" dirty="0">
                <a:solidFill>
                  <a:srgbClr val="E6E6E6"/>
                </a:solidFill>
                <a:latin typeface="Fira Code"/>
                <a:ea typeface="Fira Code"/>
                <a:cs typeface="Fira Code"/>
              </a:rPr>
              <a:t> = </a:t>
            </a:r>
            <a:r>
              <a:rPr lang="en-US" sz="2000" dirty="0">
                <a:solidFill>
                  <a:srgbClr val="569CD6"/>
                </a:solidFill>
                <a:latin typeface="Fira Code"/>
                <a:ea typeface="Fira Code"/>
                <a:cs typeface="Fira Code"/>
              </a:rPr>
              <a:t>new</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StreamReader</a:t>
            </a:r>
            <a:r>
              <a:rPr lang="en-US" sz="2000" dirty="0">
                <a:solidFill>
                  <a:srgbClr val="E6E6E6"/>
                </a:solidFill>
                <a:latin typeface="Fira Code"/>
                <a:ea typeface="Fira Code"/>
                <a:cs typeface="Fira Code"/>
              </a:rPr>
              <a:t>(</a:t>
            </a:r>
            <a:r>
              <a:rPr lang="en-US" sz="2000" dirty="0">
                <a:solidFill>
                  <a:srgbClr val="CE9178"/>
                </a:solidFill>
                <a:latin typeface="Fira Code"/>
                <a:ea typeface="Fira Code"/>
                <a:cs typeface="Fira Code"/>
              </a:rPr>
              <a:t>"TestFile.txt"</a:t>
            </a:r>
            <a:r>
              <a:rPr lang="en-US" sz="2000" dirty="0">
                <a:solidFill>
                  <a:srgbClr val="E6E6E6"/>
                </a:solidFill>
                <a:latin typeface="Fira Code"/>
                <a:ea typeface="Fira Code"/>
                <a:cs typeface="Fira Code"/>
              </a:rPr>
              <a:t>)) {</a:t>
            </a:r>
            <a:endParaRPr lang="en-US" dirty="0">
              <a:solidFill>
                <a:srgbClr val="000000"/>
              </a:solidFill>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1831922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C38D-AC30-43D0-B4FC-4EE723AD7A66}"/>
              </a:ext>
            </a:extLst>
          </p:cNvPr>
          <p:cNvSpPr>
            <a:spLocks noGrp="1"/>
          </p:cNvSpPr>
          <p:nvPr>
            <p:ph type="title"/>
          </p:nvPr>
        </p:nvSpPr>
        <p:spPr/>
        <p:txBody>
          <a:bodyPr/>
          <a:lstStyle/>
          <a:p>
            <a:r>
              <a:rPr lang="en-US"/>
              <a:t>Asynchronous File Operations</a:t>
            </a:r>
          </a:p>
        </p:txBody>
      </p:sp>
      <p:sp>
        <p:nvSpPr>
          <p:cNvPr id="3" name="Content Placeholder 2">
            <a:extLst>
              <a:ext uri="{FF2B5EF4-FFF2-40B4-BE49-F238E27FC236}">
                <a16:creationId xmlns:a16="http://schemas.microsoft.com/office/drawing/2014/main" id="{D0C15803-BE4F-408D-ABF5-EBF53D6F2216}"/>
              </a:ext>
            </a:extLst>
          </p:cNvPr>
          <p:cNvSpPr>
            <a:spLocks noGrp="1"/>
          </p:cNvSpPr>
          <p:nvPr>
            <p:ph idx="1"/>
          </p:nvPr>
        </p:nvSpPr>
        <p:spPr/>
        <p:txBody>
          <a:bodyPr>
            <a:normAutofit/>
          </a:bodyPr>
          <a:lstStyle/>
          <a:p>
            <a:r>
              <a:rPr lang="en-US" sz="2400" err="1"/>
              <a:t>StreamReader</a:t>
            </a:r>
            <a:r>
              <a:rPr lang="en-US" sz="2400"/>
              <a:t> contains </a:t>
            </a:r>
            <a:r>
              <a:rPr lang="en-US" sz="2400" err="1"/>
              <a:t>ReadToEndAsync</a:t>
            </a:r>
            <a:r>
              <a:rPr lang="en-US" sz="2400"/>
              <a:t>() using the TAP pattern</a:t>
            </a:r>
          </a:p>
          <a:p>
            <a:endParaRPr lang="en-US" sz="2400"/>
          </a:p>
          <a:p>
            <a:r>
              <a:rPr lang="en-US" sz="2400"/>
              <a:t>Your code can call </a:t>
            </a:r>
            <a:r>
              <a:rPr lang="en-US" sz="2400" err="1"/>
              <a:t>ReadToEndAsync</a:t>
            </a:r>
            <a:r>
              <a:rPr lang="en-US" sz="2400"/>
              <a:t>() and move on to other things until reading the file is completed.</a:t>
            </a:r>
          </a:p>
          <a:p>
            <a:endParaRPr lang="en-US" sz="2400"/>
          </a:p>
          <a:p>
            <a:r>
              <a:rPr lang="en-US" sz="2400" err="1"/>
              <a:t>ReadToEndAsync</a:t>
            </a:r>
            <a:r>
              <a:rPr lang="en-US" sz="2400"/>
              <a:t>() returns a reference to a Task that you can poll to see when it completes.</a:t>
            </a:r>
          </a:p>
          <a:p>
            <a:endParaRPr lang="en-US" sz="2400"/>
          </a:p>
          <a:p>
            <a:endParaRPr lang="en-US" sz="2400"/>
          </a:p>
        </p:txBody>
      </p:sp>
    </p:spTree>
    <p:extLst>
      <p:ext uri="{BB962C8B-B14F-4D97-AF65-F5344CB8AC3E}">
        <p14:creationId xmlns:p14="http://schemas.microsoft.com/office/powerpoint/2010/main" val="33820183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F31C5-465F-4718-8807-DDC748181499}"/>
              </a:ext>
            </a:extLst>
          </p:cNvPr>
          <p:cNvSpPr>
            <a:spLocks noGrp="1"/>
          </p:cNvSpPr>
          <p:nvPr>
            <p:ph type="title"/>
          </p:nvPr>
        </p:nvSpPr>
        <p:spPr/>
        <p:txBody>
          <a:bodyPr/>
          <a:lstStyle/>
          <a:p>
            <a:r>
              <a:rPr lang="en-US"/>
              <a:t>Synchronization</a:t>
            </a:r>
          </a:p>
        </p:txBody>
      </p:sp>
      <p:sp>
        <p:nvSpPr>
          <p:cNvPr id="3" name="Content Placeholder 2">
            <a:extLst>
              <a:ext uri="{FF2B5EF4-FFF2-40B4-BE49-F238E27FC236}">
                <a16:creationId xmlns:a16="http://schemas.microsoft.com/office/drawing/2014/main" id="{65DBF89E-A151-4600-A537-92C148577AF5}"/>
              </a:ext>
            </a:extLst>
          </p:cNvPr>
          <p:cNvSpPr>
            <a:spLocks noGrp="1"/>
          </p:cNvSpPr>
          <p:nvPr>
            <p:ph idx="1"/>
          </p:nvPr>
        </p:nvSpPr>
        <p:spPr/>
        <p:txBody>
          <a:bodyPr>
            <a:normAutofit fontScale="92500" lnSpcReduction="20000"/>
          </a:bodyPr>
          <a:lstStyle/>
          <a:p>
            <a:r>
              <a:rPr lang="en-US"/>
              <a:t>C# has a “lock” statement that will lock a critical section of code</a:t>
            </a:r>
          </a:p>
          <a:p>
            <a:pPr marL="0" indent="0">
              <a:buNone/>
            </a:pPr>
            <a:endParaRPr lang="en-US"/>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private</a:t>
            </a:r>
            <a:r>
              <a:rPr lang="en-US" sz="2200">
                <a:latin typeface="Fira Code" panose="020B0809050000020004" pitchFamily="49" charset="0"/>
                <a:ea typeface="Fira Code" panose="020B0809050000020004" pitchFamily="49" charset="0"/>
                <a:cs typeface="Fira Code" panose="020B0809050000020004" pitchFamily="49" charset="0"/>
              </a:rPr>
              <a:t> Object </a:t>
            </a:r>
            <a:r>
              <a:rPr lang="en-US" sz="2200" err="1">
                <a:latin typeface="Fira Code" panose="020B0809050000020004" pitchFamily="49" charset="0"/>
                <a:ea typeface="Fira Code" panose="020B0809050000020004" pitchFamily="49" charset="0"/>
                <a:cs typeface="Fira Code" panose="020B0809050000020004" pitchFamily="49" charset="0"/>
              </a:rPr>
              <a:t>i</a:t>
            </a:r>
            <a:r>
              <a:rPr lang="en-US" sz="2200">
                <a:latin typeface="Fira Code" panose="020B0809050000020004" pitchFamily="49" charset="0"/>
                <a:ea typeface="Fira Code" panose="020B0809050000020004" pitchFamily="49" charset="0"/>
                <a:cs typeface="Fira Code" panose="020B0809050000020004" pitchFamily="49" charset="0"/>
              </a:rPr>
              <a:t> = </a:t>
            </a: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new</a:t>
            </a:r>
            <a:r>
              <a:rPr lang="en-US" sz="2200">
                <a:latin typeface="Fira Code" panose="020B0809050000020004" pitchFamily="49" charset="0"/>
                <a:ea typeface="Fira Code" panose="020B0809050000020004" pitchFamily="49" charset="0"/>
                <a:cs typeface="Fira Code" panose="020B0809050000020004" pitchFamily="49" charset="0"/>
              </a:rPr>
              <a:t> Object();</a:t>
            </a:r>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public void </a:t>
            </a:r>
            <a:r>
              <a:rPr lang="en-US" sz="2200" err="1">
                <a:latin typeface="Fira Code" panose="020B0809050000020004" pitchFamily="49" charset="0"/>
                <a:ea typeface="Fira Code" panose="020B0809050000020004" pitchFamily="49" charset="0"/>
                <a:cs typeface="Fira Code" panose="020B0809050000020004" pitchFamily="49" charset="0"/>
              </a:rPr>
              <a:t>SomeFunction</a:t>
            </a:r>
            <a:r>
              <a:rPr lang="en-US" sz="22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a:solidFill>
                  <a:srgbClr val="0070C0"/>
                </a:solidFill>
                <a:latin typeface="Fira Code" panose="020B0809050000020004" pitchFamily="49" charset="0"/>
                <a:ea typeface="Fira Code" panose="020B0809050000020004" pitchFamily="49" charset="0"/>
                <a:cs typeface="Fira Code" panose="020B0809050000020004" pitchFamily="49" charset="0"/>
              </a:rPr>
              <a:t>  lock</a:t>
            </a:r>
            <a:r>
              <a:rPr lang="en-US" sz="2200">
                <a:latin typeface="Fira Code" panose="020B0809050000020004" pitchFamily="49" charset="0"/>
                <a:ea typeface="Fira Code" panose="020B0809050000020004" pitchFamily="49" charset="0"/>
                <a:cs typeface="Fira Code" panose="020B0809050000020004" pitchFamily="49" charset="0"/>
              </a:rPr>
              <a:t> (</a:t>
            </a:r>
            <a:r>
              <a:rPr lang="en-US" sz="2200" err="1">
                <a:latin typeface="Fira Code" panose="020B0809050000020004" pitchFamily="49" charset="0"/>
                <a:ea typeface="Fira Code" panose="020B0809050000020004" pitchFamily="49" charset="0"/>
                <a:cs typeface="Fira Code" panose="020B0809050000020004" pitchFamily="49" charset="0"/>
              </a:rPr>
              <a:t>i</a:t>
            </a:r>
            <a:r>
              <a:rPr lang="en-US" sz="22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 Execute code in here</a:t>
            </a:r>
          </a:p>
          <a:p>
            <a:pPr marL="0" indent="0">
              <a:buNone/>
            </a:pP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 If another thread tries to use </a:t>
            </a:r>
            <a:r>
              <a:rPr lang="en-US" sz="2200" err="1">
                <a:solidFill>
                  <a:srgbClr val="00B050"/>
                </a:solidFill>
                <a:latin typeface="Fira Code" panose="020B0809050000020004" pitchFamily="49" charset="0"/>
                <a:ea typeface="Fira Code" panose="020B0809050000020004" pitchFamily="49" charset="0"/>
                <a:cs typeface="Fira Code" panose="020B0809050000020004" pitchFamily="49" charset="0"/>
              </a:rPr>
              <a:t>i</a:t>
            </a: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the lock statement will</a:t>
            </a:r>
          </a:p>
          <a:p>
            <a:pPr marL="0" indent="0">
              <a:buNone/>
            </a:pPr>
            <a:r>
              <a:rPr lang="en-US" sz="2200">
                <a:solidFill>
                  <a:srgbClr val="00B050"/>
                </a:solidFill>
                <a:latin typeface="Fira Code" panose="020B0809050000020004" pitchFamily="49" charset="0"/>
                <a:ea typeface="Fira Code" panose="020B0809050000020004" pitchFamily="49" charset="0"/>
                <a:cs typeface="Fira Code" panose="020B0809050000020004" pitchFamily="49" charset="0"/>
              </a:rPr>
              <a:t>    // hang until the lock statement is released.</a:t>
            </a: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  }</a:t>
            </a:r>
          </a:p>
          <a:p>
            <a:pPr marL="0" indent="0">
              <a:buNone/>
            </a:pPr>
            <a:r>
              <a:rPr lang="en-US" sz="220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18739443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2456-1CD8-467B-876B-4F10508614F9}"/>
              </a:ext>
            </a:extLst>
          </p:cNvPr>
          <p:cNvSpPr>
            <a:spLocks noGrp="1"/>
          </p:cNvSpPr>
          <p:nvPr>
            <p:ph type="title"/>
          </p:nvPr>
        </p:nvSpPr>
        <p:spPr/>
        <p:txBody>
          <a:bodyPr/>
          <a:lstStyle/>
          <a:p>
            <a:r>
              <a:rPr lang="en-US"/>
              <a:t>Synchronization Types</a:t>
            </a:r>
          </a:p>
        </p:txBody>
      </p:sp>
      <p:sp>
        <p:nvSpPr>
          <p:cNvPr id="3" name="Content Placeholder 2">
            <a:extLst>
              <a:ext uri="{FF2B5EF4-FFF2-40B4-BE49-F238E27FC236}">
                <a16:creationId xmlns:a16="http://schemas.microsoft.com/office/drawing/2014/main" id="{16EB4462-0A6C-4C35-8B31-222C04A2F6D0}"/>
              </a:ext>
            </a:extLst>
          </p:cNvPr>
          <p:cNvSpPr>
            <a:spLocks noGrp="1"/>
          </p:cNvSpPr>
          <p:nvPr>
            <p:ph idx="1"/>
          </p:nvPr>
        </p:nvSpPr>
        <p:spPr/>
        <p:txBody>
          <a:bodyPr>
            <a:normAutofit/>
          </a:bodyPr>
          <a:lstStyle/>
          <a:p>
            <a:r>
              <a:rPr lang="en-US" sz="2400" dirty="0" err="1">
                <a:hlinkClick r:id="rId2"/>
              </a:rPr>
              <a:t>System.Threading</a:t>
            </a:r>
            <a:endParaRPr lang="en-US" sz="2400"/>
          </a:p>
          <a:p>
            <a:endParaRPr lang="en-US" sz="2400" dirty="0"/>
          </a:p>
          <a:p>
            <a:r>
              <a:rPr lang="en-US" sz="2000"/>
              <a:t>Semaphore</a:t>
            </a:r>
            <a:endParaRPr lang="en-US" sz="2000" dirty="0"/>
          </a:p>
          <a:p>
            <a:endParaRPr lang="en-US" sz="2000" dirty="0"/>
          </a:p>
          <a:p>
            <a:r>
              <a:rPr lang="en-US" sz="2000" dirty="0"/>
              <a:t>Mutex – Mutual exclusion</a:t>
            </a:r>
          </a:p>
          <a:p>
            <a:endParaRPr lang="en-US" sz="2000" dirty="0"/>
          </a:p>
          <a:p>
            <a:r>
              <a:rPr lang="en-US" sz="2000" dirty="0"/>
              <a:t>Monitor – Locks a single instance of an object</a:t>
            </a:r>
          </a:p>
          <a:p>
            <a:endParaRPr lang="en-US" sz="2000" dirty="0"/>
          </a:p>
          <a:p>
            <a:r>
              <a:rPr lang="en-US" sz="2000" dirty="0"/>
              <a:t>Barrier – a synchronization point that waits until all threads reach the barrier. Threads can be asynchronous before and after the barrier, but all threads will wait until ALL threads have reached the barrier.</a:t>
            </a:r>
          </a:p>
        </p:txBody>
      </p:sp>
    </p:spTree>
    <p:extLst>
      <p:ext uri="{BB962C8B-B14F-4D97-AF65-F5344CB8AC3E}">
        <p14:creationId xmlns:p14="http://schemas.microsoft.com/office/powerpoint/2010/main" val="3244633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E0E8-F1D8-DC34-2CB2-73C3C18B2CE3}"/>
              </a:ext>
            </a:extLst>
          </p:cNvPr>
          <p:cNvSpPr>
            <a:spLocks noGrp="1"/>
          </p:cNvSpPr>
          <p:nvPr>
            <p:ph type="title"/>
          </p:nvPr>
        </p:nvSpPr>
        <p:spPr/>
        <p:txBody>
          <a:bodyPr/>
          <a:lstStyle/>
          <a:p>
            <a:r>
              <a:rPr lang="en-US" dirty="0">
                <a:ea typeface="Calibri Light"/>
                <a:cs typeface="Calibri Light"/>
              </a:rPr>
              <a:t>Files</a:t>
            </a:r>
            <a:endParaRPr lang="en-US" dirty="0"/>
          </a:p>
        </p:txBody>
      </p:sp>
      <p:sp>
        <p:nvSpPr>
          <p:cNvPr id="3" name="Content Placeholder 2">
            <a:extLst>
              <a:ext uri="{FF2B5EF4-FFF2-40B4-BE49-F238E27FC236}">
                <a16:creationId xmlns:a16="http://schemas.microsoft.com/office/drawing/2014/main" id="{B89BE166-1139-21A7-5231-F74D528ED106}"/>
              </a:ext>
            </a:extLst>
          </p:cNvPr>
          <p:cNvSpPr>
            <a:spLocks noGrp="1"/>
          </p:cNvSpPr>
          <p:nvPr>
            <p:ph idx="1"/>
          </p:nvPr>
        </p:nvSpPr>
        <p:spPr/>
        <p:txBody>
          <a:bodyPr vert="horz" lIns="91440" tIns="45720" rIns="91440" bIns="45720" rtlCol="0" anchor="t">
            <a:normAutofit/>
          </a:bodyPr>
          <a:lstStyle/>
          <a:p>
            <a:r>
              <a:rPr lang="en-US" dirty="0">
                <a:ea typeface="Calibri"/>
                <a:cs typeface="Calibri"/>
              </a:rPr>
              <a:t>Files use a file stream object.</a:t>
            </a:r>
          </a:p>
          <a:p>
            <a:pPr lvl="1">
              <a:buFont typeface="Courier New" panose="020B0604020202020204" pitchFamily="34" charset="0"/>
              <a:buChar char="o"/>
            </a:pPr>
            <a:r>
              <a:rPr lang="en-US" dirty="0" err="1">
                <a:ea typeface="Calibri"/>
                <a:cs typeface="Calibri"/>
              </a:rPr>
              <a:t>StreamReader</a:t>
            </a:r>
            <a:r>
              <a:rPr lang="en-US" dirty="0">
                <a:ea typeface="Calibri"/>
                <a:cs typeface="Calibri"/>
              </a:rPr>
              <a:t>/</a:t>
            </a:r>
            <a:r>
              <a:rPr lang="en-US" dirty="0" err="1">
                <a:ea typeface="Calibri"/>
                <a:cs typeface="Calibri"/>
              </a:rPr>
              <a:t>StreamWriter</a:t>
            </a:r>
            <a:r>
              <a:rPr lang="en-US" dirty="0">
                <a:ea typeface="Calibri"/>
                <a:cs typeface="Calibri"/>
              </a:rPr>
              <a:t> for text files.</a:t>
            </a:r>
          </a:p>
          <a:p>
            <a:pPr lvl="1">
              <a:buFont typeface="Courier New" panose="020B0604020202020204" pitchFamily="34" charset="0"/>
              <a:buChar char="o"/>
            </a:pPr>
            <a:r>
              <a:rPr lang="en-US" dirty="0" err="1">
                <a:ea typeface="Calibri"/>
                <a:cs typeface="Calibri"/>
              </a:rPr>
              <a:t>BinaryReader</a:t>
            </a:r>
            <a:r>
              <a:rPr lang="en-US" dirty="0">
                <a:ea typeface="Calibri"/>
                <a:cs typeface="Calibri"/>
              </a:rPr>
              <a:t>/</a:t>
            </a:r>
            <a:r>
              <a:rPr lang="en-US" dirty="0" err="1">
                <a:ea typeface="Calibri"/>
                <a:cs typeface="Calibri"/>
              </a:rPr>
              <a:t>BinaryWriter</a:t>
            </a:r>
            <a:r>
              <a:rPr lang="en-US" dirty="0">
                <a:ea typeface="Calibri"/>
                <a:cs typeface="Calibri"/>
              </a:rPr>
              <a:t> for binary files.</a:t>
            </a:r>
          </a:p>
          <a:p>
            <a:pPr lvl="1">
              <a:buFont typeface="Courier New" panose="020B0604020202020204" pitchFamily="34" charset="0"/>
              <a:buChar char="o"/>
            </a:pPr>
            <a:r>
              <a:rPr lang="en-US" dirty="0">
                <a:ea typeface="Calibri"/>
                <a:cs typeface="Calibri"/>
              </a:rPr>
              <a:t>There are others, but these are the easiest to use for most cases.</a:t>
            </a:r>
          </a:p>
          <a:p>
            <a:pPr lvl="1">
              <a:buFont typeface="Courier New" panose="020B0604020202020204" pitchFamily="34" charset="0"/>
              <a:buChar char="o"/>
            </a:pPr>
            <a:endParaRPr lang="en-US" dirty="0">
              <a:ea typeface="Calibri"/>
              <a:cs typeface="Calibri"/>
            </a:endParaRPr>
          </a:p>
          <a:p>
            <a:r>
              <a:rPr lang="en-US" dirty="0">
                <a:ea typeface="Calibri"/>
                <a:cs typeface="Calibri"/>
              </a:rPr>
              <a:t>using System.IO;</a:t>
            </a:r>
          </a:p>
          <a:p>
            <a:pPr lvl="1">
              <a:buFont typeface="Courier New" panose="020B0604020202020204" pitchFamily="34" charset="0"/>
              <a:buChar char="o"/>
            </a:pPr>
            <a:r>
              <a:rPr lang="en-US" dirty="0">
                <a:ea typeface="Calibri"/>
                <a:cs typeface="Calibri"/>
              </a:rPr>
              <a:t>The System.IO library contains </a:t>
            </a:r>
            <a:r>
              <a:rPr lang="en-US">
                <a:ea typeface="Calibri"/>
                <a:cs typeface="Calibri"/>
              </a:rPr>
              <a:t>all</a:t>
            </a:r>
            <a:r>
              <a:rPr lang="en-US" dirty="0">
                <a:ea typeface="Calibri"/>
                <a:cs typeface="Calibri"/>
              </a:rPr>
              <a:t> the file streaming classes.</a:t>
            </a:r>
          </a:p>
          <a:p>
            <a:pPr lvl="1">
              <a:buFont typeface="Courier New" panose="020B0604020202020204" pitchFamily="34" charset="0"/>
              <a:buChar char="o"/>
            </a:pPr>
            <a:endParaRPr lang="en-US" dirty="0">
              <a:ea typeface="Calibri"/>
              <a:cs typeface="Calibri"/>
            </a:endParaRPr>
          </a:p>
          <a:p>
            <a:r>
              <a:rPr lang="en-US" dirty="0">
                <a:ea typeface="+mn-lt"/>
                <a:cs typeface="+mn-lt"/>
                <a:hlinkClick r:id="rId2"/>
              </a:rPr>
              <a:t>https://learn.microsoft.com/en-us/dotnet/api/system.io?view=net-9.0</a:t>
            </a:r>
            <a:endParaRPr lang="en-US" dirty="0">
              <a:ea typeface="+mn-lt"/>
              <a:cs typeface="+mn-lt"/>
            </a:endParaRPr>
          </a:p>
          <a:p>
            <a:endParaRPr lang="en-US" dirty="0">
              <a:ea typeface="+mn-lt"/>
              <a:cs typeface="+mn-lt"/>
            </a:endParaRPr>
          </a:p>
        </p:txBody>
      </p:sp>
    </p:spTree>
    <p:extLst>
      <p:ext uri="{BB962C8B-B14F-4D97-AF65-F5344CB8AC3E}">
        <p14:creationId xmlns:p14="http://schemas.microsoft.com/office/powerpoint/2010/main" val="34782886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EE700-9455-4B90-7AEE-E3A115A601BB}"/>
              </a:ext>
            </a:extLst>
          </p:cNvPr>
          <p:cNvSpPr>
            <a:spLocks noGrp="1"/>
          </p:cNvSpPr>
          <p:nvPr>
            <p:ph type="title"/>
          </p:nvPr>
        </p:nvSpPr>
        <p:spPr/>
        <p:txBody>
          <a:bodyPr/>
          <a:lstStyle/>
          <a:p>
            <a:r>
              <a:rPr lang="en-US" dirty="0" err="1">
                <a:ea typeface="Calibri Light"/>
                <a:cs typeface="Calibri Light"/>
              </a:rPr>
              <a:t>StreamReader</a:t>
            </a:r>
            <a:r>
              <a:rPr lang="en-US" dirty="0">
                <a:ea typeface="Calibri Light"/>
                <a:cs typeface="Calibri Light"/>
              </a:rPr>
              <a:t> Example</a:t>
            </a:r>
            <a:endParaRPr lang="en-US" dirty="0"/>
          </a:p>
        </p:txBody>
      </p:sp>
      <p:sp>
        <p:nvSpPr>
          <p:cNvPr id="3" name="Content Placeholder 2">
            <a:extLst>
              <a:ext uri="{FF2B5EF4-FFF2-40B4-BE49-F238E27FC236}">
                <a16:creationId xmlns:a16="http://schemas.microsoft.com/office/drawing/2014/main" id="{1957AC25-6075-8BD0-BAE0-2A1A8E543DE1}"/>
              </a:ext>
            </a:extLst>
          </p:cNvPr>
          <p:cNvSpPr>
            <a:spLocks noGrp="1"/>
          </p:cNvSpPr>
          <p:nvPr>
            <p:ph idx="1"/>
          </p:nvPr>
        </p:nvSpPr>
        <p:spPr>
          <a:solidFill>
            <a:schemeClr val="bg2">
              <a:lumMod val="25000"/>
            </a:schemeClr>
          </a:solidFill>
        </p:spPr>
        <p:txBody>
          <a:bodyPr vert="horz" lIns="91440" tIns="45720" rIns="91440" bIns="45720" rtlCol="0" anchor="t">
            <a:normAutofit/>
          </a:bodyPr>
          <a:lstStyle/>
          <a:p>
            <a:pPr>
              <a:buNone/>
            </a:pPr>
            <a:r>
              <a:rPr lang="en-US" sz="2000" dirty="0">
                <a:solidFill>
                  <a:srgbClr val="569CD6"/>
                </a:solidFill>
                <a:latin typeface="Fira Code"/>
                <a:ea typeface="Fira Code"/>
                <a:cs typeface="Fira Code"/>
              </a:rPr>
              <a:t>using</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StreamReader</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sr</a:t>
            </a:r>
            <a:r>
              <a:rPr lang="en-US" sz="2000" dirty="0">
                <a:solidFill>
                  <a:srgbClr val="E6E6E6"/>
                </a:solidFill>
                <a:latin typeface="Fira Code"/>
                <a:ea typeface="Fira Code"/>
                <a:cs typeface="Fira Code"/>
              </a:rPr>
              <a:t> = </a:t>
            </a:r>
            <a:r>
              <a:rPr lang="en-US" sz="2000" dirty="0">
                <a:solidFill>
                  <a:srgbClr val="569CD6"/>
                </a:solidFill>
                <a:latin typeface="Fira Code"/>
                <a:ea typeface="Fira Code"/>
                <a:cs typeface="Fira Code"/>
              </a:rPr>
              <a:t>new</a:t>
            </a: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StreamReader</a:t>
            </a:r>
            <a:r>
              <a:rPr lang="en-US" sz="2000" dirty="0">
                <a:solidFill>
                  <a:srgbClr val="E6E6E6"/>
                </a:solidFill>
                <a:latin typeface="Fira Code"/>
                <a:ea typeface="Fira Code"/>
                <a:cs typeface="Fira Code"/>
              </a:rPr>
              <a:t>(</a:t>
            </a:r>
            <a:r>
              <a:rPr lang="en-US" sz="2000" dirty="0">
                <a:solidFill>
                  <a:srgbClr val="CE9178"/>
                </a:solidFill>
                <a:latin typeface="Fira Code"/>
                <a:ea typeface="Fira Code"/>
                <a:cs typeface="Fira Code"/>
              </a:rPr>
              <a:t>"TestFile.txt"</a:t>
            </a:r>
            <a:r>
              <a:rPr lang="en-US" sz="2000" dirty="0">
                <a:solidFill>
                  <a:srgbClr val="E6E6E6"/>
                </a:solidFill>
                <a:latin typeface="Fira Code"/>
                <a:ea typeface="Fira Code"/>
                <a:cs typeface="Fira Code"/>
              </a:rPr>
              <a:t>)) {</a:t>
            </a:r>
            <a:endParaRPr lang="en-US" dirty="0">
              <a:solidFill>
                <a:srgbClr val="000000"/>
              </a:solidFill>
              <a:latin typeface="Calibri" panose="020F0502020204030204"/>
              <a:ea typeface="Calibri" panose="020F0502020204030204"/>
              <a:cs typeface="Calibri" panose="020F0502020204030204"/>
            </a:endParaRPr>
          </a:p>
          <a:p>
            <a:pPr>
              <a:buNone/>
            </a:pPr>
            <a:r>
              <a:rPr lang="en-US" sz="2000" dirty="0">
                <a:solidFill>
                  <a:srgbClr val="569CD6"/>
                </a:solidFill>
                <a:latin typeface="Fira Code"/>
                <a:ea typeface="Fira Code"/>
                <a:cs typeface="Fira Code"/>
              </a:rPr>
              <a:t>    string</a:t>
            </a:r>
            <a:r>
              <a:rPr lang="en-US" sz="2000" dirty="0">
                <a:solidFill>
                  <a:srgbClr val="E6E6E6"/>
                </a:solidFill>
                <a:latin typeface="Fira Code"/>
                <a:ea typeface="Fira Code"/>
                <a:cs typeface="Fira Code"/>
              </a:rPr>
              <a:t> line;</a:t>
            </a:r>
            <a:endParaRPr lang="en-US" dirty="0">
              <a:solidFill>
                <a:srgbClr val="000000"/>
              </a:solidFill>
              <a:latin typeface="Calibri" panose="020F0502020204030204"/>
              <a:ea typeface="Calibri"/>
              <a:cs typeface="Calibri"/>
            </a:endParaRPr>
          </a:p>
          <a:p>
            <a:pPr>
              <a:buNone/>
            </a:pPr>
            <a:r>
              <a:rPr lang="en-US" sz="2000" dirty="0">
                <a:solidFill>
                  <a:srgbClr val="63B456"/>
                </a:solidFill>
                <a:latin typeface="Fira Code"/>
                <a:ea typeface="Fira Code"/>
                <a:cs typeface="Fira Code"/>
              </a:rPr>
              <a:t>    // Read and display lines from the file until the end of</a:t>
            </a:r>
            <a:endParaRPr lang="en-US" dirty="0">
              <a:solidFill>
                <a:srgbClr val="000000"/>
              </a:solidFill>
              <a:latin typeface="Calibri" panose="020F0502020204030204"/>
              <a:ea typeface="Calibri"/>
              <a:cs typeface="Calibri"/>
            </a:endParaRPr>
          </a:p>
          <a:p>
            <a:pPr>
              <a:buNone/>
            </a:pPr>
            <a:r>
              <a:rPr lang="en-US" sz="2000" dirty="0">
                <a:solidFill>
                  <a:srgbClr val="63B456"/>
                </a:solidFill>
                <a:latin typeface="Fira Code"/>
                <a:ea typeface="Fira Code"/>
                <a:cs typeface="Fira Code"/>
              </a:rPr>
              <a:t>    // the file is reached.</a:t>
            </a:r>
            <a:r>
              <a:rPr lang="en-US" sz="2000" dirty="0">
                <a:solidFill>
                  <a:srgbClr val="E6E6E6"/>
                </a:solidFill>
                <a:latin typeface="Fira Code"/>
                <a:ea typeface="Fira Code"/>
                <a:cs typeface="Fira Code"/>
              </a:rPr>
              <a:t> </a:t>
            </a:r>
            <a:endParaRPr lang="en-US">
              <a:solidFill>
                <a:srgbClr val="000000"/>
              </a:solidFill>
              <a:latin typeface="Calibri" panose="020F0502020204030204"/>
              <a:ea typeface="Calibri"/>
              <a:cs typeface="Calibri"/>
            </a:endParaRPr>
          </a:p>
          <a:p>
            <a:pPr>
              <a:buNone/>
            </a:pPr>
            <a:r>
              <a:rPr lang="en-US" sz="2000" dirty="0">
                <a:solidFill>
                  <a:srgbClr val="569CD6"/>
                </a:solidFill>
                <a:latin typeface="Fira Code"/>
                <a:ea typeface="Fira Code"/>
                <a:cs typeface="Fira Code"/>
              </a:rPr>
              <a:t>    while</a:t>
            </a:r>
            <a:r>
              <a:rPr lang="en-US" sz="2000" dirty="0">
                <a:solidFill>
                  <a:srgbClr val="E6E6E6"/>
                </a:solidFill>
                <a:latin typeface="Fira Code"/>
                <a:ea typeface="Fira Code"/>
                <a:cs typeface="Fira Code"/>
              </a:rPr>
              <a:t> ((line = </a:t>
            </a:r>
            <a:r>
              <a:rPr lang="en-US" sz="2000" dirty="0" err="1">
                <a:solidFill>
                  <a:srgbClr val="E6E6E6"/>
                </a:solidFill>
                <a:latin typeface="Fira Code"/>
                <a:ea typeface="Fira Code"/>
                <a:cs typeface="Fira Code"/>
              </a:rPr>
              <a:t>sr.ReadLine</a:t>
            </a:r>
            <a:r>
              <a:rPr lang="en-US" sz="2000" dirty="0">
                <a:solidFill>
                  <a:srgbClr val="E6E6E6"/>
                </a:solidFill>
                <a:latin typeface="Fira Code"/>
                <a:ea typeface="Fira Code"/>
                <a:cs typeface="Fira Code"/>
              </a:rPr>
              <a:t>()) != </a:t>
            </a:r>
            <a:r>
              <a:rPr lang="en-US" sz="2000" dirty="0">
                <a:solidFill>
                  <a:srgbClr val="569CD6"/>
                </a:solidFill>
                <a:latin typeface="Fira Code"/>
                <a:ea typeface="Fira Code"/>
                <a:cs typeface="Fira Code"/>
              </a:rPr>
              <a:t>null</a:t>
            </a:r>
            <a:r>
              <a:rPr lang="en-US" sz="2000" dirty="0">
                <a:solidFill>
                  <a:srgbClr val="E6E6E6"/>
                </a:solidFill>
                <a:latin typeface="Fira Code"/>
                <a:ea typeface="Fira Code"/>
                <a:cs typeface="Fira Code"/>
              </a:rPr>
              <a:t>) {</a:t>
            </a:r>
            <a:endParaRPr lang="en-US" dirty="0">
              <a:solidFill>
                <a:srgbClr val="000000"/>
              </a:solidFill>
              <a:latin typeface="Calibri" panose="020F0502020204030204"/>
              <a:ea typeface="Calibri"/>
              <a:cs typeface="Calibri"/>
            </a:endParaRPr>
          </a:p>
          <a:p>
            <a:pPr>
              <a:buNone/>
            </a:pPr>
            <a:r>
              <a:rPr lang="en-US" sz="2000" dirty="0">
                <a:solidFill>
                  <a:srgbClr val="E6E6E6"/>
                </a:solidFill>
                <a:latin typeface="Fira Code"/>
                <a:ea typeface="Fira Code"/>
                <a:cs typeface="Fira Code"/>
              </a:rPr>
              <a:t>         </a:t>
            </a:r>
            <a:r>
              <a:rPr lang="en-US" sz="2000" dirty="0" err="1">
                <a:solidFill>
                  <a:srgbClr val="E6E6E6"/>
                </a:solidFill>
                <a:latin typeface="Fira Code"/>
                <a:ea typeface="Fira Code"/>
                <a:cs typeface="Fira Code"/>
              </a:rPr>
              <a:t>Console.WriteLine</a:t>
            </a:r>
            <a:r>
              <a:rPr lang="en-US" sz="2000" dirty="0">
                <a:solidFill>
                  <a:srgbClr val="E6E6E6"/>
                </a:solidFill>
                <a:latin typeface="Fira Code"/>
                <a:ea typeface="Fira Code"/>
                <a:cs typeface="Fira Code"/>
              </a:rPr>
              <a:t>(line); </a:t>
            </a:r>
            <a:endParaRPr lang="en-US" dirty="0">
              <a:solidFill>
                <a:srgbClr val="000000"/>
              </a:solidFill>
              <a:latin typeface="Calibri" panose="020F0502020204030204"/>
              <a:ea typeface="Calibri"/>
              <a:cs typeface="Calibri"/>
            </a:endParaRPr>
          </a:p>
          <a:p>
            <a:pPr>
              <a:buNone/>
            </a:pPr>
            <a:r>
              <a:rPr lang="en-US" sz="2000" dirty="0">
                <a:solidFill>
                  <a:srgbClr val="E6E6E6"/>
                </a:solidFill>
                <a:latin typeface="Fira Code"/>
                <a:ea typeface="Fira Code"/>
                <a:cs typeface="Fira Code"/>
              </a:rPr>
              <a:t>    } </a:t>
            </a:r>
            <a:endParaRPr lang="en-US" dirty="0">
              <a:solidFill>
                <a:srgbClr val="000000"/>
              </a:solidFill>
              <a:latin typeface="Calibri" panose="020F0502020204030204"/>
              <a:ea typeface="Calibri"/>
              <a:cs typeface="Calibri"/>
            </a:endParaRPr>
          </a:p>
          <a:p>
            <a:pPr>
              <a:buNone/>
            </a:pPr>
            <a:r>
              <a:rPr lang="en-US" sz="2000" dirty="0">
                <a:solidFill>
                  <a:srgbClr val="E6E6E6"/>
                </a:solidFill>
                <a:latin typeface="Fira Code"/>
                <a:ea typeface="Fira Code"/>
                <a:cs typeface="Fira Code"/>
              </a:rPr>
              <a:t>}</a:t>
            </a:r>
          </a:p>
          <a:p>
            <a:pPr>
              <a:buNone/>
            </a:pPr>
            <a:r>
              <a:rPr lang="en-US" sz="2000" dirty="0">
                <a:solidFill>
                  <a:srgbClr val="63B456"/>
                </a:solidFill>
                <a:latin typeface="Fira Code"/>
                <a:ea typeface="Fira Code"/>
                <a:cs typeface="Fira Code"/>
              </a:rPr>
              <a:t>// The </a:t>
            </a:r>
            <a:r>
              <a:rPr lang="en-US" sz="2000" dirty="0" err="1">
                <a:solidFill>
                  <a:srgbClr val="63B456"/>
                </a:solidFill>
                <a:latin typeface="Fira Code"/>
                <a:ea typeface="Fira Code"/>
                <a:cs typeface="Fira Code"/>
              </a:rPr>
              <a:t>sr</a:t>
            </a:r>
            <a:r>
              <a:rPr lang="en-US" sz="2000" dirty="0">
                <a:solidFill>
                  <a:srgbClr val="63B456"/>
                </a:solidFill>
                <a:latin typeface="Fira Code"/>
                <a:ea typeface="Fira Code"/>
                <a:cs typeface="Fira Code"/>
              </a:rPr>
              <a:t> reference goes out of scope after the using statement</a:t>
            </a:r>
          </a:p>
          <a:p>
            <a:pPr>
              <a:buNone/>
            </a:pPr>
            <a:r>
              <a:rPr lang="en-US" sz="2000" dirty="0">
                <a:solidFill>
                  <a:srgbClr val="63B456"/>
                </a:solidFill>
                <a:latin typeface="Fira Code"/>
                <a:ea typeface="Fira Code"/>
                <a:cs typeface="Fira Code"/>
              </a:rPr>
              <a:t>// and it is "finalized" (i.e., closed).</a:t>
            </a:r>
          </a:p>
        </p:txBody>
      </p:sp>
    </p:spTree>
    <p:extLst>
      <p:ext uri="{BB962C8B-B14F-4D97-AF65-F5344CB8AC3E}">
        <p14:creationId xmlns:p14="http://schemas.microsoft.com/office/powerpoint/2010/main" val="15062255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A561-A886-C750-3EA6-BC96FEDEEC0E}"/>
              </a:ext>
            </a:extLst>
          </p:cNvPr>
          <p:cNvSpPr>
            <a:spLocks noGrp="1"/>
          </p:cNvSpPr>
          <p:nvPr>
            <p:ph type="title"/>
          </p:nvPr>
        </p:nvSpPr>
        <p:spPr/>
        <p:txBody>
          <a:bodyPr/>
          <a:lstStyle/>
          <a:p>
            <a:r>
              <a:rPr lang="en-US" dirty="0">
                <a:ea typeface="Calibri Light"/>
                <a:cs typeface="Calibri Light"/>
              </a:rPr>
              <a:t>Splitting Lines</a:t>
            </a:r>
            <a:endParaRPr lang="en-US" dirty="0"/>
          </a:p>
        </p:txBody>
      </p:sp>
      <p:sp>
        <p:nvSpPr>
          <p:cNvPr id="3" name="Content Placeholder 2">
            <a:extLst>
              <a:ext uri="{FF2B5EF4-FFF2-40B4-BE49-F238E27FC236}">
                <a16:creationId xmlns:a16="http://schemas.microsoft.com/office/drawing/2014/main" id="{F776FEFC-D27F-5071-81C5-B9C936CE19E6}"/>
              </a:ext>
            </a:extLst>
          </p:cNvPr>
          <p:cNvSpPr>
            <a:spLocks noGrp="1"/>
          </p:cNvSpPr>
          <p:nvPr>
            <p:ph idx="1"/>
          </p:nvPr>
        </p:nvSpPr>
        <p:spPr>
          <a:xfrm>
            <a:off x="838200" y="1825625"/>
            <a:ext cx="10515600" cy="959209"/>
          </a:xfrm>
        </p:spPr>
        <p:txBody>
          <a:bodyPr vert="horz" lIns="91440" tIns="45720" rIns="91440" bIns="45720" rtlCol="0" anchor="t">
            <a:normAutofit/>
          </a:bodyPr>
          <a:lstStyle/>
          <a:p>
            <a:r>
              <a:rPr lang="en-US" dirty="0" err="1">
                <a:ea typeface="Calibri"/>
                <a:cs typeface="Calibri"/>
              </a:rPr>
              <a:t>ReadLine</a:t>
            </a:r>
            <a:r>
              <a:rPr lang="en-US" dirty="0">
                <a:ea typeface="Calibri"/>
                <a:cs typeface="Calibri"/>
              </a:rPr>
              <a:t>() gets you an entire line, but what if you need individual data?</a:t>
            </a:r>
          </a:p>
          <a:p>
            <a:pPr lvl="1">
              <a:buFont typeface="Courier New" panose="020B0604020202020204" pitchFamily="34" charset="0"/>
              <a:buChar char="o"/>
            </a:pPr>
            <a:r>
              <a:rPr lang="en-US" dirty="0">
                <a:ea typeface="Calibri"/>
                <a:cs typeface="Calibri"/>
              </a:rPr>
              <a:t>Split the line and convert the data.</a:t>
            </a:r>
          </a:p>
          <a:p>
            <a:pPr lvl="1">
              <a:buFont typeface="Courier New" panose="020B0604020202020204" pitchFamily="34" charset="0"/>
              <a:buChar char="o"/>
            </a:pPr>
            <a:endParaRPr lang="en-US" dirty="0">
              <a:ea typeface="Calibri"/>
              <a:cs typeface="Calibri"/>
            </a:endParaRPr>
          </a:p>
          <a:p>
            <a:pPr marL="0" indent="0">
              <a:buNone/>
            </a:pPr>
            <a:endParaRPr lang="en-US" dirty="0">
              <a:ea typeface="Calibri"/>
              <a:cs typeface="Calibri"/>
            </a:endParaRPr>
          </a:p>
        </p:txBody>
      </p:sp>
      <p:sp>
        <p:nvSpPr>
          <p:cNvPr id="6" name="Content Placeholder 2">
            <a:extLst>
              <a:ext uri="{FF2B5EF4-FFF2-40B4-BE49-F238E27FC236}">
                <a16:creationId xmlns:a16="http://schemas.microsoft.com/office/drawing/2014/main" id="{765EF575-E401-BB57-0A05-AB14FD09D8B6}"/>
              </a:ext>
            </a:extLst>
          </p:cNvPr>
          <p:cNvSpPr txBox="1">
            <a:spLocks/>
          </p:cNvSpPr>
          <p:nvPr/>
        </p:nvSpPr>
        <p:spPr>
          <a:xfrm>
            <a:off x="868877" y="3476152"/>
            <a:ext cx="10454245" cy="2845135"/>
          </a:xfrm>
          <a:prstGeom prst="rect">
            <a:avLst/>
          </a:prstGeom>
          <a:solidFill>
            <a:schemeClr val="bg2">
              <a:lumMod val="2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1800" dirty="0" err="1">
                <a:solidFill>
                  <a:srgbClr val="E6E6E6"/>
                </a:solidFill>
                <a:latin typeface="Fira Code"/>
                <a:ea typeface="Fira Code"/>
                <a:cs typeface="Fira Code"/>
              </a:rPr>
              <a:t>StreamReader</a:t>
            </a:r>
            <a:r>
              <a:rPr lang="en-US" sz="1800" dirty="0">
                <a:solidFill>
                  <a:srgbClr val="E6E6E6"/>
                </a:solidFill>
                <a:latin typeface="Fira Code"/>
                <a:ea typeface="Fira Code"/>
                <a:cs typeface="Fira Code"/>
              </a:rPr>
              <a:t> </a:t>
            </a:r>
            <a:r>
              <a:rPr lang="en-US" sz="1800" dirty="0" err="1">
                <a:solidFill>
                  <a:srgbClr val="E6E6E6"/>
                </a:solidFill>
                <a:latin typeface="Fira Code"/>
                <a:ea typeface="Fira Code"/>
                <a:cs typeface="Fira Code"/>
              </a:rPr>
              <a:t>sr</a:t>
            </a:r>
            <a:r>
              <a:rPr lang="en-US" sz="1800" dirty="0">
                <a:solidFill>
                  <a:srgbClr val="E6E6E6"/>
                </a:solidFill>
                <a:latin typeface="Fira Code"/>
                <a:ea typeface="Fira Code"/>
                <a:cs typeface="Fira Code"/>
              </a:rPr>
              <a:t> = </a:t>
            </a:r>
            <a:r>
              <a:rPr lang="en-US" sz="1800" dirty="0">
                <a:solidFill>
                  <a:srgbClr val="569CD6"/>
                </a:solidFill>
                <a:latin typeface="Fira Code"/>
                <a:ea typeface="Fira Code"/>
                <a:cs typeface="Fira Code"/>
              </a:rPr>
              <a:t>new</a:t>
            </a:r>
            <a:r>
              <a:rPr lang="en-US" sz="1800" dirty="0">
                <a:solidFill>
                  <a:srgbClr val="E6E6E6"/>
                </a:solidFill>
                <a:latin typeface="Fira Code"/>
                <a:ea typeface="Fira Code"/>
                <a:cs typeface="Fira Code"/>
              </a:rPr>
              <a:t> </a:t>
            </a:r>
            <a:r>
              <a:rPr lang="en-US" sz="1800" dirty="0" err="1">
                <a:solidFill>
                  <a:srgbClr val="E6E6E6"/>
                </a:solidFill>
                <a:latin typeface="Fira Code"/>
                <a:ea typeface="Fira Code"/>
                <a:cs typeface="Fira Code"/>
              </a:rPr>
              <a:t>StreamReader</a:t>
            </a:r>
            <a:r>
              <a:rPr lang="en-US" sz="1800" dirty="0">
                <a:solidFill>
                  <a:srgbClr val="E6E6E6"/>
                </a:solidFill>
                <a:latin typeface="Fira Code"/>
                <a:ea typeface="Fira Code"/>
                <a:cs typeface="Fira Code"/>
              </a:rPr>
              <a:t>(</a:t>
            </a:r>
            <a:r>
              <a:rPr lang="en-US" sz="1800" dirty="0">
                <a:solidFill>
                  <a:srgbClr val="CE9178"/>
                </a:solidFill>
                <a:latin typeface="Fira Code"/>
                <a:ea typeface="Fira Code"/>
                <a:cs typeface="Fira Code"/>
              </a:rPr>
              <a:t>"TestFile.txt"</a:t>
            </a:r>
            <a:r>
              <a:rPr lang="en-US" sz="1800" dirty="0">
                <a:solidFill>
                  <a:srgbClr val="E6E6E6"/>
                </a:solidFill>
                <a:latin typeface="Fira Code"/>
                <a:ea typeface="Fira Code"/>
                <a:cs typeface="Fira Code"/>
              </a:rPr>
              <a:t>);</a:t>
            </a:r>
            <a:endParaRPr lang="en-US" sz="2000" dirty="0">
              <a:solidFill>
                <a:srgbClr val="000000"/>
              </a:solidFill>
              <a:latin typeface="Calibri" panose="020F0502020204030204"/>
              <a:ea typeface="Calibri" panose="020F0502020204030204"/>
              <a:cs typeface="Calibri" panose="020F0502020204030204"/>
            </a:endParaRPr>
          </a:p>
          <a:p>
            <a:pPr>
              <a:buNone/>
            </a:pPr>
            <a:r>
              <a:rPr lang="en-US" sz="1800" dirty="0">
                <a:solidFill>
                  <a:srgbClr val="569CD6"/>
                </a:solidFill>
                <a:latin typeface="Fira Code"/>
                <a:ea typeface="Fira Code"/>
                <a:cs typeface="Fira Code"/>
              </a:rPr>
              <a:t>string</a:t>
            </a:r>
            <a:r>
              <a:rPr lang="en-US" sz="1800" dirty="0">
                <a:solidFill>
                  <a:srgbClr val="E6E6E6"/>
                </a:solidFill>
                <a:latin typeface="Fira Code"/>
                <a:ea typeface="Fira Code"/>
                <a:cs typeface="Fira Code"/>
              </a:rPr>
              <a:t> line = </a:t>
            </a:r>
            <a:r>
              <a:rPr lang="en-US" sz="1800" dirty="0" err="1">
                <a:solidFill>
                  <a:srgbClr val="E6E6E6"/>
                </a:solidFill>
                <a:latin typeface="Fira Code"/>
                <a:ea typeface="Fira Code"/>
                <a:cs typeface="Fira Code"/>
              </a:rPr>
              <a:t>sr.ReadLine</a:t>
            </a:r>
            <a:r>
              <a:rPr lang="en-US" sz="1800" dirty="0">
                <a:solidFill>
                  <a:srgbClr val="E6E6E6"/>
                </a:solidFill>
                <a:latin typeface="Fira Code"/>
                <a:ea typeface="Fira Code"/>
                <a:cs typeface="Fira Code"/>
              </a:rPr>
              <a:t>();</a:t>
            </a:r>
            <a:endParaRPr lang="en-US" sz="2000" dirty="0">
              <a:solidFill>
                <a:srgbClr val="000000"/>
              </a:solidFill>
              <a:latin typeface="Calibri" panose="020F0502020204030204"/>
              <a:ea typeface="Calibri"/>
              <a:cs typeface="Calibri"/>
            </a:endParaRPr>
          </a:p>
          <a:p>
            <a:pPr>
              <a:buNone/>
            </a:pPr>
            <a:r>
              <a:rPr lang="en-US" sz="1800" dirty="0">
                <a:solidFill>
                  <a:srgbClr val="569CD6"/>
                </a:solidFill>
                <a:latin typeface="Fira Code"/>
                <a:ea typeface="Fira Code"/>
                <a:cs typeface="Fira Code"/>
              </a:rPr>
              <a:t>string</a:t>
            </a:r>
            <a:r>
              <a:rPr lang="en-US" sz="1800" dirty="0">
                <a:solidFill>
                  <a:srgbClr val="E6E6E6"/>
                </a:solidFill>
                <a:latin typeface="Fira Code"/>
                <a:ea typeface="Fira Code"/>
                <a:cs typeface="Fira Code"/>
              </a:rPr>
              <a:t>[] data = </a:t>
            </a:r>
            <a:r>
              <a:rPr lang="en-US" sz="1800" dirty="0" err="1">
                <a:solidFill>
                  <a:srgbClr val="E6E6E6"/>
                </a:solidFill>
                <a:latin typeface="Fira Code"/>
                <a:ea typeface="Fira Code"/>
                <a:cs typeface="Fira Code"/>
              </a:rPr>
              <a:t>line.Split</a:t>
            </a:r>
            <a:r>
              <a:rPr lang="en-US" sz="1800" dirty="0">
                <a:solidFill>
                  <a:srgbClr val="E6E6E6"/>
                </a:solidFill>
                <a:latin typeface="Fira Code"/>
                <a:ea typeface="Fira Code"/>
                <a:cs typeface="Fira Code"/>
              </a:rPr>
              <a:t>(' ', </a:t>
            </a:r>
            <a:r>
              <a:rPr lang="en-US" sz="1800" dirty="0" err="1">
                <a:solidFill>
                  <a:srgbClr val="E6E6E6"/>
                </a:solidFill>
                <a:latin typeface="Fira Code"/>
                <a:ea typeface="Fira Code"/>
                <a:cs typeface="Fira Code"/>
              </a:rPr>
              <a:t>StringSplitOptions.RemoveEmptyEntries</a:t>
            </a:r>
            <a:r>
              <a:rPr lang="en-US" sz="1800" dirty="0">
                <a:solidFill>
                  <a:srgbClr val="E6E6E6"/>
                </a:solidFill>
                <a:latin typeface="Fira Code"/>
                <a:ea typeface="Fira Code"/>
                <a:cs typeface="Fira Code"/>
              </a:rPr>
              <a:t>);</a:t>
            </a:r>
          </a:p>
          <a:p>
            <a:pPr>
              <a:buNone/>
            </a:pPr>
            <a:r>
              <a:rPr lang="en-US" sz="1800" dirty="0">
                <a:solidFill>
                  <a:srgbClr val="569CD6"/>
                </a:solidFill>
                <a:latin typeface="Fira Code"/>
                <a:ea typeface="Fira Code"/>
                <a:cs typeface="Fira Code"/>
              </a:rPr>
              <a:t>if</a:t>
            </a:r>
            <a:r>
              <a:rPr lang="en-US" sz="1800" dirty="0">
                <a:solidFill>
                  <a:srgbClr val="E6E6E6"/>
                </a:solidFill>
                <a:latin typeface="Fira Code"/>
                <a:ea typeface="Fira Code"/>
                <a:cs typeface="Fira Code"/>
              </a:rPr>
              <a:t> (</a:t>
            </a:r>
            <a:r>
              <a:rPr lang="en-US" sz="1800" dirty="0" err="1">
                <a:solidFill>
                  <a:srgbClr val="E6E6E6"/>
                </a:solidFill>
                <a:latin typeface="Fira Code"/>
                <a:ea typeface="Fira Code"/>
                <a:cs typeface="Fira Code"/>
              </a:rPr>
              <a:t>data.Length</a:t>
            </a:r>
            <a:r>
              <a:rPr lang="en-US" sz="1800" dirty="0">
                <a:solidFill>
                  <a:srgbClr val="E6E6E6"/>
                </a:solidFill>
                <a:latin typeface="Fira Code"/>
                <a:ea typeface="Fira Code"/>
                <a:cs typeface="Fira Code"/>
              </a:rPr>
              <a:t> &gt;= 2) {</a:t>
            </a:r>
          </a:p>
          <a:p>
            <a:pPr>
              <a:buNone/>
            </a:pPr>
            <a:r>
              <a:rPr lang="en-US" sz="1800" dirty="0">
                <a:solidFill>
                  <a:srgbClr val="569CD6"/>
                </a:solidFill>
                <a:latin typeface="Fira Code"/>
                <a:ea typeface="Fira Code"/>
                <a:cs typeface="Fira Code"/>
              </a:rPr>
              <a:t>    int</a:t>
            </a:r>
            <a:r>
              <a:rPr lang="en-US" sz="1800" dirty="0">
                <a:solidFill>
                  <a:srgbClr val="E6E6E6"/>
                </a:solidFill>
                <a:latin typeface="Fira Code"/>
                <a:ea typeface="Fira Code"/>
                <a:cs typeface="Fira Code"/>
              </a:rPr>
              <a:t> left = </a:t>
            </a:r>
            <a:r>
              <a:rPr lang="en-US" sz="1800" dirty="0" err="1">
                <a:solidFill>
                  <a:srgbClr val="569CD6"/>
                </a:solidFill>
                <a:latin typeface="Fira Code"/>
                <a:ea typeface="Fira Code"/>
                <a:cs typeface="Fira Code"/>
              </a:rPr>
              <a:t>int</a:t>
            </a:r>
            <a:r>
              <a:rPr lang="en-US" sz="1800" dirty="0" err="1">
                <a:solidFill>
                  <a:srgbClr val="E6E6E6"/>
                </a:solidFill>
                <a:latin typeface="Fira Code"/>
                <a:ea typeface="Fira Code"/>
                <a:cs typeface="Fira Code"/>
              </a:rPr>
              <a:t>.Parse</a:t>
            </a:r>
            <a:r>
              <a:rPr lang="en-US" sz="1800" dirty="0">
                <a:solidFill>
                  <a:srgbClr val="E6E6E6"/>
                </a:solidFill>
                <a:latin typeface="Fira Code"/>
                <a:ea typeface="Fira Code"/>
                <a:cs typeface="Fira Code"/>
              </a:rPr>
              <a:t>(data[0]);</a:t>
            </a:r>
          </a:p>
          <a:p>
            <a:pPr>
              <a:buNone/>
            </a:pPr>
            <a:r>
              <a:rPr lang="en-US" sz="1800" dirty="0">
                <a:solidFill>
                  <a:srgbClr val="569CD6"/>
                </a:solidFill>
                <a:latin typeface="Fira Code"/>
                <a:ea typeface="Fira Code"/>
                <a:cs typeface="Fira Code"/>
              </a:rPr>
              <a:t>    int</a:t>
            </a:r>
            <a:r>
              <a:rPr lang="en-US" sz="1800" dirty="0">
                <a:solidFill>
                  <a:srgbClr val="E6E6E6"/>
                </a:solidFill>
                <a:latin typeface="Fira Code"/>
                <a:ea typeface="Fira Code"/>
                <a:cs typeface="Fira Code"/>
              </a:rPr>
              <a:t> right = </a:t>
            </a:r>
            <a:r>
              <a:rPr lang="en-US" sz="1800" dirty="0" err="1">
                <a:solidFill>
                  <a:srgbClr val="569CD6"/>
                </a:solidFill>
                <a:latin typeface="Fira Code"/>
                <a:ea typeface="Fira Code"/>
                <a:cs typeface="Fira Code"/>
              </a:rPr>
              <a:t>int</a:t>
            </a:r>
            <a:r>
              <a:rPr lang="en-US" sz="1800" dirty="0" err="1">
                <a:solidFill>
                  <a:srgbClr val="E6E6E6"/>
                </a:solidFill>
                <a:latin typeface="Fira Code"/>
                <a:ea typeface="Fira Code"/>
                <a:cs typeface="Fira Code"/>
              </a:rPr>
              <a:t>.Parse</a:t>
            </a:r>
            <a:r>
              <a:rPr lang="en-US" sz="1800" dirty="0">
                <a:solidFill>
                  <a:srgbClr val="E6E6E6"/>
                </a:solidFill>
                <a:latin typeface="Fira Code"/>
                <a:ea typeface="Fira Code"/>
                <a:cs typeface="Fira Code"/>
              </a:rPr>
              <a:t>(data[1])</a:t>
            </a:r>
          </a:p>
          <a:p>
            <a:pPr>
              <a:buNone/>
            </a:pPr>
            <a:r>
              <a:rPr lang="en-US" sz="2000" dirty="0">
                <a:solidFill>
                  <a:srgbClr val="E6E6E6"/>
                </a:solidFill>
                <a:latin typeface="Fira Code"/>
                <a:ea typeface="Fira Code"/>
                <a:cs typeface="Fira Code"/>
              </a:rPr>
              <a:t>}</a:t>
            </a:r>
            <a:endParaRPr lang="en-US" sz="2000" dirty="0"/>
          </a:p>
          <a:p>
            <a:pPr>
              <a:buNone/>
            </a:pPr>
            <a:r>
              <a:rPr lang="en-US" sz="1800" dirty="0" err="1">
                <a:solidFill>
                  <a:srgbClr val="E6E6E6"/>
                </a:solidFill>
                <a:latin typeface="Fira Code"/>
                <a:ea typeface="Fira Code"/>
                <a:cs typeface="Fira Code"/>
              </a:rPr>
              <a:t>sr.Close</a:t>
            </a:r>
            <a:r>
              <a:rPr lang="en-US" sz="1800" dirty="0">
                <a:solidFill>
                  <a:srgbClr val="E6E6E6"/>
                </a:solidFill>
                <a:latin typeface="Fira Code"/>
                <a:ea typeface="Fira Code"/>
                <a:cs typeface="Fira Code"/>
              </a:rPr>
              <a:t>();</a:t>
            </a:r>
            <a:endParaRPr lang="en-US" sz="2000" dirty="0"/>
          </a:p>
        </p:txBody>
      </p:sp>
    </p:spTree>
    <p:extLst>
      <p:ext uri="{BB962C8B-B14F-4D97-AF65-F5344CB8AC3E}">
        <p14:creationId xmlns:p14="http://schemas.microsoft.com/office/powerpoint/2010/main" val="22783787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2F55E-D058-D626-2C85-097BEE08FC0C}"/>
              </a:ext>
            </a:extLst>
          </p:cNvPr>
          <p:cNvSpPr>
            <a:spLocks noGrp="1"/>
          </p:cNvSpPr>
          <p:nvPr>
            <p:ph type="title"/>
          </p:nvPr>
        </p:nvSpPr>
        <p:spPr/>
        <p:txBody>
          <a:bodyPr/>
          <a:lstStyle/>
          <a:p>
            <a:r>
              <a:rPr lang="en-US" dirty="0" err="1"/>
              <a:t>IDisposable</a:t>
            </a:r>
            <a:endParaRPr lang="en-US" dirty="0"/>
          </a:p>
        </p:txBody>
      </p:sp>
      <p:sp>
        <p:nvSpPr>
          <p:cNvPr id="3" name="Content Placeholder 2">
            <a:extLst>
              <a:ext uri="{FF2B5EF4-FFF2-40B4-BE49-F238E27FC236}">
                <a16:creationId xmlns:a16="http://schemas.microsoft.com/office/drawing/2014/main" id="{496D2EB2-C08F-B155-276E-851B452736FF}"/>
              </a:ext>
            </a:extLst>
          </p:cNvPr>
          <p:cNvSpPr>
            <a:spLocks noGrp="1"/>
          </p:cNvSpPr>
          <p:nvPr>
            <p:ph idx="1"/>
          </p:nvPr>
        </p:nvSpPr>
        <p:spPr/>
        <p:txBody>
          <a:bodyPr/>
          <a:lstStyle/>
          <a:p>
            <a:r>
              <a:rPr lang="en-US" dirty="0"/>
              <a:t>The using () {} statement automatically runs an </a:t>
            </a:r>
            <a:r>
              <a:rPr lang="en-US" dirty="0" err="1"/>
              <a:t>IDisposable</a:t>
            </a:r>
            <a:r>
              <a:rPr lang="en-US" dirty="0"/>
              <a:t> interface.</a:t>
            </a:r>
          </a:p>
          <a:p>
            <a:pPr lvl="1"/>
            <a:r>
              <a:rPr lang="en-US" dirty="0">
                <a:hlinkClick r:id="rId2"/>
              </a:rPr>
              <a:t>https://learn.microsoft.com/en-us/dotnet/api/system.idisposable?view=net-9.0</a:t>
            </a:r>
            <a:endParaRPr lang="en-US" dirty="0"/>
          </a:p>
          <a:p>
            <a:pPr lvl="1"/>
            <a:endParaRPr lang="en-US" dirty="0"/>
          </a:p>
          <a:p>
            <a:r>
              <a:rPr lang="en-US" dirty="0"/>
              <a:t>This allows a "Dispose" method to be called after the using statement closes.</a:t>
            </a:r>
          </a:p>
        </p:txBody>
      </p:sp>
    </p:spTree>
    <p:extLst>
      <p:ext uri="{BB962C8B-B14F-4D97-AF65-F5344CB8AC3E}">
        <p14:creationId xmlns:p14="http://schemas.microsoft.com/office/powerpoint/2010/main" val="41212217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FB65B-4CC0-A9AF-8A2D-77B70A4E71B0}"/>
              </a:ext>
            </a:extLst>
          </p:cNvPr>
          <p:cNvSpPr>
            <a:spLocks noGrp="1"/>
          </p:cNvSpPr>
          <p:nvPr>
            <p:ph type="title"/>
          </p:nvPr>
        </p:nvSpPr>
        <p:spPr/>
        <p:txBody>
          <a:bodyPr/>
          <a:lstStyle/>
          <a:p>
            <a:r>
              <a:rPr lang="en-US" dirty="0"/>
              <a:t>Binary Files</a:t>
            </a:r>
          </a:p>
        </p:txBody>
      </p:sp>
      <p:sp>
        <p:nvSpPr>
          <p:cNvPr id="3" name="Content Placeholder 2">
            <a:extLst>
              <a:ext uri="{FF2B5EF4-FFF2-40B4-BE49-F238E27FC236}">
                <a16:creationId xmlns:a16="http://schemas.microsoft.com/office/drawing/2014/main" id="{A851D901-EA09-F838-5C73-9085FD222CBF}"/>
              </a:ext>
            </a:extLst>
          </p:cNvPr>
          <p:cNvSpPr>
            <a:spLocks noGrp="1"/>
          </p:cNvSpPr>
          <p:nvPr>
            <p:ph idx="1"/>
          </p:nvPr>
        </p:nvSpPr>
        <p:spPr/>
        <p:txBody>
          <a:bodyPr/>
          <a:lstStyle/>
          <a:p>
            <a:r>
              <a:rPr lang="en-US" dirty="0"/>
              <a:t>Binary files use the </a:t>
            </a:r>
            <a:r>
              <a:rPr lang="en-US" dirty="0" err="1"/>
              <a:t>BinaryReader</a:t>
            </a:r>
            <a:r>
              <a:rPr lang="en-US" dirty="0"/>
              <a:t>/</a:t>
            </a:r>
            <a:r>
              <a:rPr lang="en-US" dirty="0" err="1"/>
              <a:t>BinaryWriter</a:t>
            </a:r>
            <a:r>
              <a:rPr lang="en-US" dirty="0"/>
              <a:t> classes.</a:t>
            </a:r>
          </a:p>
          <a:p>
            <a:endParaRPr lang="en-US" dirty="0"/>
          </a:p>
          <a:p>
            <a:r>
              <a:rPr lang="en-US" dirty="0"/>
              <a:t>These classes have a Write that is overloaded (like crazy).</a:t>
            </a:r>
          </a:p>
          <a:p>
            <a:pPr lvl="1"/>
            <a:r>
              <a:rPr lang="en-US" dirty="0">
                <a:hlinkClick r:id="rId2"/>
              </a:rPr>
              <a:t>https://learn.microsoft.com/en-us/dotnet/api/system.io.binarywriter.write?view=net-9.0</a:t>
            </a:r>
            <a:endParaRPr lang="en-US" dirty="0"/>
          </a:p>
          <a:p>
            <a:pPr lvl="1"/>
            <a:endParaRPr lang="en-US" dirty="0"/>
          </a:p>
          <a:p>
            <a:r>
              <a:rPr lang="en-US" dirty="0"/>
              <a:t>The overloads allow any basic data types to be written.</a:t>
            </a:r>
          </a:p>
          <a:p>
            <a:endParaRPr lang="en-US" dirty="0"/>
          </a:p>
          <a:p>
            <a:r>
              <a:rPr lang="en-US" dirty="0"/>
              <a:t>The Read methods have </a:t>
            </a:r>
            <a:r>
              <a:rPr lang="en-US" dirty="0" err="1"/>
              <a:t>ReadXXX</a:t>
            </a:r>
            <a:r>
              <a:rPr lang="en-US" dirty="0"/>
              <a:t>(), where XXX is the data type to return.</a:t>
            </a:r>
          </a:p>
          <a:p>
            <a:pPr lvl="1"/>
            <a:r>
              <a:rPr lang="en-US" dirty="0" err="1"/>
              <a:t>ReadByte</a:t>
            </a:r>
            <a:r>
              <a:rPr lang="en-US" dirty="0"/>
              <a:t>()</a:t>
            </a:r>
          </a:p>
          <a:p>
            <a:pPr lvl="1"/>
            <a:r>
              <a:rPr lang="en-US" dirty="0"/>
              <a:t>ReadInt32()</a:t>
            </a:r>
          </a:p>
          <a:p>
            <a:pPr lvl="1"/>
            <a:r>
              <a:rPr lang="en-US" dirty="0" err="1"/>
              <a:t>ReadDouble</a:t>
            </a:r>
            <a:r>
              <a:rPr lang="en-US" dirty="0"/>
              <a:t>()</a:t>
            </a:r>
          </a:p>
        </p:txBody>
      </p:sp>
    </p:spTree>
    <p:extLst>
      <p:ext uri="{BB962C8B-B14F-4D97-AF65-F5344CB8AC3E}">
        <p14:creationId xmlns:p14="http://schemas.microsoft.com/office/powerpoint/2010/main" val="10161026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3BE31-6037-E68D-804F-3FF54C4791A6}"/>
              </a:ext>
            </a:extLst>
          </p:cNvPr>
          <p:cNvSpPr>
            <a:spLocks noGrp="1"/>
          </p:cNvSpPr>
          <p:nvPr>
            <p:ph type="title"/>
          </p:nvPr>
        </p:nvSpPr>
        <p:spPr/>
        <p:txBody>
          <a:bodyPr/>
          <a:lstStyle/>
          <a:p>
            <a:r>
              <a:rPr lang="en-US" dirty="0"/>
              <a:t>Opening Binary Files</a:t>
            </a:r>
          </a:p>
        </p:txBody>
      </p:sp>
      <p:sp>
        <p:nvSpPr>
          <p:cNvPr id="3" name="Content Placeholder 2">
            <a:extLst>
              <a:ext uri="{FF2B5EF4-FFF2-40B4-BE49-F238E27FC236}">
                <a16:creationId xmlns:a16="http://schemas.microsoft.com/office/drawing/2014/main" id="{A09DEF38-B681-C833-08DB-56FDA5303D09}"/>
              </a:ext>
            </a:extLst>
          </p:cNvPr>
          <p:cNvSpPr>
            <a:spLocks noGrp="1"/>
          </p:cNvSpPr>
          <p:nvPr>
            <p:ph idx="1"/>
          </p:nvPr>
        </p:nvSpPr>
        <p:spPr>
          <a:xfrm>
            <a:off x="838200" y="1825625"/>
            <a:ext cx="10515600" cy="1918114"/>
          </a:xfrm>
        </p:spPr>
        <p:txBody>
          <a:bodyPr/>
          <a:lstStyle/>
          <a:p>
            <a:r>
              <a:rPr lang="en-US" dirty="0" err="1"/>
              <a:t>BinaryReader</a:t>
            </a:r>
            <a:r>
              <a:rPr lang="en-US" dirty="0"/>
              <a:t>/</a:t>
            </a:r>
            <a:r>
              <a:rPr lang="en-US" dirty="0" err="1"/>
              <a:t>BinaryWriter</a:t>
            </a:r>
            <a:r>
              <a:rPr lang="en-US" dirty="0"/>
              <a:t> require a stream object to wrap.</a:t>
            </a:r>
          </a:p>
          <a:p>
            <a:pPr lvl="1"/>
            <a:r>
              <a:rPr lang="en-US" dirty="0" err="1"/>
              <a:t>File.Open</a:t>
            </a:r>
            <a:r>
              <a:rPr lang="en-US" dirty="0"/>
              <a:t>(filename, </a:t>
            </a:r>
            <a:r>
              <a:rPr lang="en-US" dirty="0" err="1"/>
              <a:t>FileMode.Create</a:t>
            </a:r>
            <a:r>
              <a:rPr lang="en-US" dirty="0"/>
              <a:t>) -- for writing</a:t>
            </a:r>
          </a:p>
          <a:p>
            <a:pPr lvl="1"/>
            <a:r>
              <a:rPr lang="en-US" dirty="0" err="1"/>
              <a:t>File.Open</a:t>
            </a:r>
            <a:r>
              <a:rPr lang="en-US" dirty="0"/>
              <a:t>(filename, </a:t>
            </a:r>
            <a:r>
              <a:rPr lang="en-US" dirty="0" err="1"/>
              <a:t>FileMode.Open</a:t>
            </a:r>
            <a:r>
              <a:rPr lang="en-US" dirty="0"/>
              <a:t>) -- for reading</a:t>
            </a:r>
          </a:p>
          <a:p>
            <a:pPr lvl="1"/>
            <a:endParaRPr lang="en-US" dirty="0"/>
          </a:p>
          <a:p>
            <a:r>
              <a:rPr lang="en-US" dirty="0"/>
              <a:t>Hand the </a:t>
            </a:r>
            <a:r>
              <a:rPr lang="en-US" dirty="0" err="1"/>
              <a:t>FileStream</a:t>
            </a:r>
            <a:r>
              <a:rPr lang="en-US" dirty="0"/>
              <a:t> object to the </a:t>
            </a:r>
            <a:r>
              <a:rPr lang="en-US" dirty="0" err="1"/>
              <a:t>BinaryReader</a:t>
            </a:r>
            <a:r>
              <a:rPr lang="en-US" dirty="0"/>
              <a:t>/</a:t>
            </a:r>
            <a:r>
              <a:rPr lang="en-US" dirty="0" err="1"/>
              <a:t>BinaryWriter</a:t>
            </a:r>
            <a:r>
              <a:rPr lang="en-US" dirty="0"/>
              <a:t>.</a:t>
            </a:r>
          </a:p>
        </p:txBody>
      </p:sp>
      <p:sp>
        <p:nvSpPr>
          <p:cNvPr id="4" name="Content Placeholder 2">
            <a:extLst>
              <a:ext uri="{FF2B5EF4-FFF2-40B4-BE49-F238E27FC236}">
                <a16:creationId xmlns:a16="http://schemas.microsoft.com/office/drawing/2014/main" id="{EF23469D-EF1F-C142-D50C-DAC9C43D8FF7}"/>
              </a:ext>
            </a:extLst>
          </p:cNvPr>
          <p:cNvSpPr txBox="1">
            <a:spLocks/>
          </p:cNvSpPr>
          <p:nvPr/>
        </p:nvSpPr>
        <p:spPr>
          <a:xfrm>
            <a:off x="868877" y="3855485"/>
            <a:ext cx="10454245" cy="2845135"/>
          </a:xfrm>
          <a:prstGeom prst="rect">
            <a:avLst/>
          </a:prstGeom>
          <a:solidFill>
            <a:schemeClr val="bg2">
              <a:lumMod val="2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using</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var</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stream =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File.Open</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fileName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FileMode.Create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 </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using</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var</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writer = </a:t>
            </a: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new</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BinaryWriter</a:t>
            </a:r>
            <a:r>
              <a:rPr lang="en-US" sz="1600" b="0" i="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(stream)) </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writer.Write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r>
              <a:rPr lang="en-US" sz="1600" b="0" i="0" dirty="0">
                <a:solidFill>
                  <a:srgbClr val="B5CEA8"/>
                </a:solidFill>
                <a:effectLst/>
                <a:latin typeface="Fira Code" panose="020B0809050000020004" pitchFamily="49" charset="0"/>
                <a:ea typeface="Fira Code" panose="020B0809050000020004" pitchFamily="49" charset="0"/>
                <a:cs typeface="Fira Code" panose="020B0809050000020004" pitchFamily="49" charset="0"/>
              </a:rPr>
              <a:t>1.250F</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writer.Write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r>
              <a:rPr lang="en-US" sz="1600" b="0" i="0" dirty="0">
                <a:solidFill>
                  <a:srgbClr val="CE9178"/>
                </a:solidFill>
                <a:effectLst/>
                <a:latin typeface="Fira Code" panose="020B0809050000020004" pitchFamily="49" charset="0"/>
                <a:ea typeface="Fira Code" panose="020B0809050000020004" pitchFamily="49" charset="0"/>
                <a:cs typeface="Fira Code" panose="020B0809050000020004" pitchFamily="49" charset="0"/>
              </a:rPr>
              <a:t>"String"</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writer.Write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r>
              <a:rPr lang="en-US" sz="1600" b="0" i="0" dirty="0">
                <a:solidFill>
                  <a:srgbClr val="B5CEA8"/>
                </a:solidFill>
                <a:effectLst/>
                <a:latin typeface="Fira Code" panose="020B0809050000020004" pitchFamily="49" charset="0"/>
                <a:ea typeface="Fira Code" panose="020B0809050000020004" pitchFamily="49" charset="0"/>
                <a:cs typeface="Fira Code" panose="020B0809050000020004" pitchFamily="49" charset="0"/>
              </a:rPr>
              <a:t>10</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err="1">
                <a:solidFill>
                  <a:srgbClr val="E6E6E6"/>
                </a:solidFill>
                <a:effectLst/>
                <a:latin typeface="Fira Code" panose="020B0809050000020004" pitchFamily="49" charset="0"/>
                <a:ea typeface="Fira Code" panose="020B0809050000020004" pitchFamily="49" charset="0"/>
                <a:cs typeface="Fira Code" panose="020B0809050000020004" pitchFamily="49" charset="0"/>
              </a:rPr>
              <a:t>writer.Write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r>
              <a:rPr lang="en-US" sz="1600" b="0" i="0" dirty="0">
                <a:solidFill>
                  <a:srgbClr val="569CD6"/>
                </a:solidFill>
                <a:effectLst/>
                <a:latin typeface="Fira Code" panose="020B0809050000020004" pitchFamily="49" charset="0"/>
                <a:ea typeface="Fira Code" panose="020B0809050000020004" pitchFamily="49" charset="0"/>
                <a:cs typeface="Fira Code" panose="020B0809050000020004" pitchFamily="49" charset="0"/>
              </a:rPr>
              <a:t>true</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p>
          <a:p>
            <a:pPr>
              <a:buFont typeface="Arial" panose="020B0604020202020204" pitchFamily="34" charset="0"/>
              <a:buNone/>
            </a:pPr>
            <a:r>
              <a:rPr lang="en-US" sz="1600" dirty="0">
                <a:solidFill>
                  <a:srgbClr val="E6E6E6"/>
                </a:solidFill>
                <a:latin typeface="Fira Code" panose="020B0809050000020004" pitchFamily="49" charset="0"/>
                <a:ea typeface="Fira Code" panose="020B0809050000020004" pitchFamily="49" charset="0"/>
                <a:cs typeface="Fira Code" panose="020B0809050000020004" pitchFamily="49" charset="0"/>
              </a:rPr>
              <a:t>    </a:t>
            </a: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 </a:t>
            </a:r>
          </a:p>
          <a:p>
            <a:pPr>
              <a:buFont typeface="Arial" panose="020B0604020202020204" pitchFamily="34" charset="0"/>
              <a:buNone/>
            </a:pPr>
            <a:r>
              <a:rPr lang="en-US" sz="1600" b="0" i="0" dirty="0">
                <a:solidFill>
                  <a:srgbClr val="E6E6E6"/>
                </a:solidFill>
                <a:effectLst/>
                <a:latin typeface="Fira Code" panose="020B0809050000020004" pitchFamily="49" charset="0"/>
                <a:ea typeface="Fira Code" panose="020B0809050000020004" pitchFamily="49" charset="0"/>
                <a:cs typeface="Fira Code" panose="020B0809050000020004" pitchFamily="49" charset="0"/>
              </a:rPr>
              <a:t>}</a:t>
            </a:r>
            <a:endParaRPr lang="en-US" dirty="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1325380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5171</Words>
  <Application>Microsoft Office PowerPoint</Application>
  <PresentationFormat>Widescreen</PresentationFormat>
  <Paragraphs>738</Paragraphs>
  <Slides>81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Calibri</vt:lpstr>
      <vt:lpstr>Calibri Light</vt:lpstr>
      <vt:lpstr>Courier New</vt:lpstr>
      <vt:lpstr>Fira Code</vt:lpstr>
      <vt:lpstr>Wingdings</vt:lpstr>
      <vt:lpstr>Office Theme</vt:lpstr>
      <vt:lpstr>C# Programming Language</vt:lpstr>
      <vt:lpstr>Quick Actions</vt:lpstr>
      <vt:lpstr>Development Plugin (VSCode)</vt:lpstr>
      <vt:lpstr>C#</vt:lpstr>
      <vt:lpstr>Imperative Programming</vt:lpstr>
      <vt:lpstr>Procedural Programming</vt:lpstr>
      <vt:lpstr>Compiled</vt:lpstr>
      <vt:lpstr>Object Oriented</vt:lpstr>
      <vt:lpstr>Polymorphic</vt:lpstr>
      <vt:lpstr>Modular</vt:lpstr>
      <vt:lpstr>Strongly Typed</vt:lpstr>
      <vt:lpstr>Statically Typed</vt:lpstr>
      <vt:lpstr>Garbage Collected</vt:lpstr>
      <vt:lpstr>Naming Conventions</vt:lpstr>
      <vt:lpstr>.NET</vt:lpstr>
      <vt:lpstr>C# Compiler</vt:lpstr>
      <vt:lpstr>Using `dotnet`</vt:lpstr>
      <vt:lpstr>C# Compiler and Runtime</vt:lpstr>
      <vt:lpstr>Libraries</vt:lpstr>
      <vt:lpstr>Entry Point</vt:lpstr>
      <vt:lpstr>Primitives</vt:lpstr>
      <vt:lpstr>Arrays</vt:lpstr>
      <vt:lpstr>Operators</vt:lpstr>
      <vt:lpstr>Overloading</vt:lpstr>
      <vt:lpstr>Flow Control</vt:lpstr>
      <vt:lpstr>Auto-Derived Data</vt:lpstr>
      <vt:lpstr>Converting and Casting</vt:lpstr>
      <vt:lpstr>Interpolated Strings</vt:lpstr>
      <vt:lpstr>Formatted Strings</vt:lpstr>
      <vt:lpstr>String Formats</vt:lpstr>
      <vt:lpstr>String Class</vt:lpstr>
      <vt:lpstr>Handling Null</vt:lpstr>
      <vt:lpstr>Nullable Value Types</vt:lpstr>
      <vt:lpstr>Data Conversions</vt:lpstr>
      <vt:lpstr>Built In String Parsing</vt:lpstr>
      <vt:lpstr>Console</vt:lpstr>
      <vt:lpstr>File I/O</vt:lpstr>
      <vt:lpstr>Exceptions</vt:lpstr>
      <vt:lpstr>Exception Handling</vt:lpstr>
      <vt:lpstr>Loops</vt:lpstr>
      <vt:lpstr>For Loop</vt:lpstr>
      <vt:lpstr>Foreach Loop</vt:lpstr>
      <vt:lpstr>While and Do-While Loops</vt:lpstr>
      <vt:lpstr>Classes</vt:lpstr>
      <vt:lpstr>Object Oriented Classes in C#</vt:lpstr>
      <vt:lpstr>Writing a Class</vt:lpstr>
      <vt:lpstr>Class Access Protection</vt:lpstr>
      <vt:lpstr>Class vs Struct</vt:lpstr>
      <vt:lpstr>Access Protection</vt:lpstr>
      <vt:lpstr>Default Access Protection / Restrictions</vt:lpstr>
      <vt:lpstr>Indexer</vt:lpstr>
      <vt:lpstr>Factory Pattern</vt:lpstr>
      <vt:lpstr>Collections Generics</vt:lpstr>
      <vt:lpstr>Example List</vt:lpstr>
      <vt:lpstr>Inheritance</vt:lpstr>
      <vt:lpstr>Interface</vt:lpstr>
      <vt:lpstr>Override</vt:lpstr>
      <vt:lpstr>New</vt:lpstr>
      <vt:lpstr>Accessing Base Classes</vt:lpstr>
      <vt:lpstr>Events</vt:lpstr>
      <vt:lpstr>Event Example</vt:lpstr>
      <vt:lpstr>Calling Event Handlers</vt:lpstr>
      <vt:lpstr>Lambda Functions</vt:lpstr>
      <vt:lpstr>Lambda Example</vt:lpstr>
      <vt:lpstr>Parallel Programming</vt:lpstr>
      <vt:lpstr>Easiest Invocation</vt:lpstr>
      <vt:lpstr>Parallel For Example</vt:lpstr>
      <vt:lpstr>Task Async Pattern (TAP)</vt:lpstr>
      <vt:lpstr>Other Patterns</vt:lpstr>
      <vt:lpstr>Task.Run</vt:lpstr>
      <vt:lpstr>Task and Task&lt;T&gt; structure</vt:lpstr>
      <vt:lpstr>Waiting on Tasks</vt:lpstr>
      <vt:lpstr>Asynchronous File Operations</vt:lpstr>
      <vt:lpstr>Synchronization</vt:lpstr>
      <vt:lpstr>Synchronization Types</vt:lpstr>
      <vt:lpstr>Files</vt:lpstr>
      <vt:lpstr>StreamReader Example</vt:lpstr>
      <vt:lpstr>Splitting Lines</vt:lpstr>
      <vt:lpstr>IDisposable</vt:lpstr>
      <vt:lpstr>Binary Files</vt:lpstr>
      <vt:lpstr>Opening Binary 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title>
  <dc:subject>COSC365</dc:subject>
  <dc:creator>Stephen Marz</dc:creator>
  <cp:lastModifiedBy>Marz, Stephen</cp:lastModifiedBy>
  <cp:revision>89</cp:revision>
  <dcterms:created xsi:type="dcterms:W3CDTF">2023-05-03T23:33:19Z</dcterms:created>
  <dcterms:modified xsi:type="dcterms:W3CDTF">2026-01-29T13:34:55Z</dcterms:modified>
  <cp:category>COSC365</cp:category>
</cp:coreProperties>
</file>